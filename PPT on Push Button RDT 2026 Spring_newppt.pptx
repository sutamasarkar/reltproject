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3"/>
  </p:notesMasterIdLst>
  <p:handoutMasterIdLst>
    <p:handoutMasterId r:id="rId34"/>
  </p:handoutMasterIdLst>
  <p:sldIdLst>
    <p:sldId id="256" r:id="rId5"/>
    <p:sldId id="261" r:id="rId6"/>
    <p:sldId id="3849" r:id="rId7"/>
    <p:sldId id="3862" r:id="rId8"/>
    <p:sldId id="3846" r:id="rId9"/>
    <p:sldId id="268" r:id="rId10"/>
    <p:sldId id="3853" r:id="rId11"/>
    <p:sldId id="265" r:id="rId12"/>
    <p:sldId id="3864" r:id="rId13"/>
    <p:sldId id="3868" r:id="rId14"/>
    <p:sldId id="3865" r:id="rId15"/>
    <p:sldId id="3851" r:id="rId16"/>
    <p:sldId id="267" r:id="rId17"/>
    <p:sldId id="3855" r:id="rId18"/>
    <p:sldId id="3867" r:id="rId19"/>
    <p:sldId id="3870" r:id="rId20"/>
    <p:sldId id="3871" r:id="rId21"/>
    <p:sldId id="3863" r:id="rId22"/>
    <p:sldId id="263" r:id="rId23"/>
    <p:sldId id="3848" r:id="rId24"/>
    <p:sldId id="3852" r:id="rId25"/>
    <p:sldId id="3856" r:id="rId26"/>
    <p:sldId id="3857" r:id="rId27"/>
    <p:sldId id="3858" r:id="rId28"/>
    <p:sldId id="3859" r:id="rId29"/>
    <p:sldId id="3860" r:id="rId30"/>
    <p:sldId id="3872" r:id="rId31"/>
    <p:sldId id="3861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24" autoAdjust="0"/>
    <p:restoredTop sz="94721" autoAdjust="0"/>
  </p:normalViewPr>
  <p:slideViewPr>
    <p:cSldViewPr snapToGrid="0">
      <p:cViewPr varScale="1">
        <p:scale>
          <a:sx n="108" d="100"/>
          <a:sy n="108" d="100"/>
        </p:scale>
        <p:origin x="504" y="200"/>
      </p:cViewPr>
      <p:guideLst/>
    </p:cSldViewPr>
  </p:slideViewPr>
  <p:outlineViewPr>
    <p:cViewPr>
      <p:scale>
        <a:sx n="33" d="100"/>
        <a:sy n="33" d="100"/>
      </p:scale>
      <p:origin x="0" y="-37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8/10/relationships/authors" Target="authors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Tarun\RDT%20LAB\RDT%20LAB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Tarun\RDT%20LAB\RDT%20LAB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defRPr>
            </a:pPr>
            <a:r>
              <a:rPr lang="en-US" sz="1600"/>
              <a:t>Ln(eta) vs Ln(S)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'Inverse Power Law'!$D$14</c:f>
              <c:strCache>
                <c:ptCount val="1"/>
                <c:pt idx="0">
                  <c:v>LN THETA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3"/>
                </a:solidFill>
                <a:prstDash val="sysDot"/>
              </a:ln>
              <a:effectLst/>
            </c:spPr>
            <c:trendlineType val="linear"/>
            <c:dispRSqr val="1"/>
            <c:dispEq val="1"/>
            <c:trendlineLbl>
              <c:layout>
                <c:manualLayout>
                  <c:x val="0.12098680767356654"/>
                  <c:y val="-0.68441011692165166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+mn-cs"/>
                    </a:defRPr>
                  </a:pPr>
                  <a:endParaRPr lang="en-US"/>
                </a:p>
              </c:txPr>
            </c:trendlineLbl>
          </c:trendline>
          <c:xVal>
            <c:numRef>
              <c:f>'Inverse Power Law'!$E$15:$E$17</c:f>
              <c:numCache>
                <c:formatCode>General</c:formatCode>
                <c:ptCount val="3"/>
                <c:pt idx="0">
                  <c:v>-0.22314355131420971</c:v>
                </c:pt>
                <c:pt idx="1">
                  <c:v>0</c:v>
                </c:pt>
                <c:pt idx="2">
                  <c:v>0.40546510810816438</c:v>
                </c:pt>
              </c:numCache>
            </c:numRef>
          </c:xVal>
          <c:yVal>
            <c:numRef>
              <c:f>'Inverse Power Law'!$D$15:$D$17</c:f>
              <c:numCache>
                <c:formatCode>General</c:formatCode>
                <c:ptCount val="3"/>
                <c:pt idx="0">
                  <c:v>9.7283757467024561</c:v>
                </c:pt>
                <c:pt idx="1">
                  <c:v>9.0484571423965434</c:v>
                </c:pt>
                <c:pt idx="2">
                  <c:v>8.5823438593285104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FB3-4D55-8B65-29544203DC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38550864"/>
        <c:axId val="638547504"/>
      </c:scatterChart>
      <c:valAx>
        <c:axId val="63855086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defRPr>
                </a:pPr>
                <a:r>
                  <a:rPr lang="en-IN"/>
                  <a:t>Ln (S)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defRPr>
            </a:pPr>
            <a:endParaRPr lang="en-US"/>
          </a:p>
        </c:txPr>
        <c:crossAx val="638547504"/>
        <c:crosses val="autoZero"/>
        <c:crossBetween val="midCat"/>
      </c:valAx>
      <c:valAx>
        <c:axId val="6385475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defRPr>
                </a:pPr>
                <a:r>
                  <a:rPr lang="en-IN"/>
                  <a:t>Ln (eta)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defRPr>
            </a:pPr>
            <a:endParaRPr lang="en-US"/>
          </a:p>
        </c:txPr>
        <c:crossAx val="638550864"/>
        <c:crosses val="autoZero"/>
        <c:crossBetween val="midCat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latin typeface="Cambria Math" panose="02040503050406030204" pitchFamily="18" charset="0"/>
          <a:ea typeface="Cambria Math" panose="02040503050406030204" pitchFamily="18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defRPr>
            </a:pPr>
            <a:r>
              <a:rPr lang="en-IN"/>
              <a:t>Sequential testing </a:t>
            </a:r>
          </a:p>
        </c:rich>
      </c:tx>
      <c:layout>
        <c:manualLayout>
          <c:xMode val="edge"/>
          <c:yMode val="edge"/>
          <c:x val="0.41542016802993903"/>
          <c:y val="1.525925565471067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2765333252082277E-2"/>
          <c:y val="7.692827579122094E-2"/>
          <c:w val="0.8511083324039751"/>
          <c:h val="0.83612851056748516"/>
        </c:manualLayout>
      </c:layout>
      <c:scatterChart>
        <c:scatterStyle val="smoothMarker"/>
        <c:varyColors val="0"/>
        <c:ser>
          <c:idx val="0"/>
          <c:order val="0"/>
          <c:tx>
            <c:v>Reject line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1"/>
            <c:dispEq val="1"/>
            <c:trendlineLbl>
              <c:layout>
                <c:manualLayout>
                  <c:x val="8.4853422924243846E-2"/>
                  <c:y val="9.9562861113599854E-2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400" b="0" i="0" u="none" strike="noStrike" kern="1200" baseline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defRPr>
                    </a:pPr>
                    <a:r>
                      <a:rPr lang="en-US" baseline="0" dirty="0"/>
                      <a:t>y = 0.025x + 0.8398</a:t>
                    </a:r>
                    <a:endParaRPr lang="en-US" dirty="0"/>
                  </a:p>
                </c:rich>
              </c:tx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+mn-cs"/>
                    </a:defRPr>
                  </a:pPr>
                  <a:endParaRPr lang="en-US"/>
                </a:p>
              </c:txPr>
            </c:trendlineLbl>
          </c:trendline>
          <c:xVal>
            <c:numRef>
              <c:f>'seq test'!$A$12:$A$131</c:f>
              <c:numCache>
                <c:formatCode>General</c:formatCode>
                <c:ptCount val="1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'seq test'!$B$12:$B$131</c:f>
              <c:numCache>
                <c:formatCode>General</c:formatCode>
                <c:ptCount val="120"/>
                <c:pt idx="0">
                  <c:v>0.86481726708123008</c:v>
                </c:pt>
                <c:pt idx="1">
                  <c:v>0.88980268931482009</c:v>
                </c:pt>
                <c:pt idx="2">
                  <c:v>0.91478811154841</c:v>
                </c:pt>
                <c:pt idx="3">
                  <c:v>0.9397735337819999</c:v>
                </c:pt>
                <c:pt idx="4">
                  <c:v>0.96475895601558992</c:v>
                </c:pt>
                <c:pt idx="5">
                  <c:v>0.98974437824917982</c:v>
                </c:pt>
                <c:pt idx="6">
                  <c:v>1.0147298004827698</c:v>
                </c:pt>
                <c:pt idx="7">
                  <c:v>1.0397152227163597</c:v>
                </c:pt>
                <c:pt idx="8">
                  <c:v>1.0647006449499496</c:v>
                </c:pt>
                <c:pt idx="9">
                  <c:v>1.0896860671835396</c:v>
                </c:pt>
                <c:pt idx="10">
                  <c:v>1.1146714894171295</c:v>
                </c:pt>
                <c:pt idx="11">
                  <c:v>1.1396569116507196</c:v>
                </c:pt>
                <c:pt idx="12">
                  <c:v>1.1646423338843095</c:v>
                </c:pt>
                <c:pt idx="13">
                  <c:v>1.1896277561178994</c:v>
                </c:pt>
                <c:pt idx="14">
                  <c:v>1.2146131783514893</c:v>
                </c:pt>
                <c:pt idx="15">
                  <c:v>1.2395986005850794</c:v>
                </c:pt>
                <c:pt idx="16">
                  <c:v>1.2645840228186693</c:v>
                </c:pt>
                <c:pt idx="17">
                  <c:v>1.2895694450522592</c:v>
                </c:pt>
                <c:pt idx="18">
                  <c:v>1.3145548672858491</c:v>
                </c:pt>
                <c:pt idx="19">
                  <c:v>1.339540289519439</c:v>
                </c:pt>
                <c:pt idx="20">
                  <c:v>1.3645257117530289</c:v>
                </c:pt>
                <c:pt idx="21">
                  <c:v>1.3895111339866189</c:v>
                </c:pt>
                <c:pt idx="22">
                  <c:v>1.414496556220209</c:v>
                </c:pt>
                <c:pt idx="23">
                  <c:v>1.4394819784537989</c:v>
                </c:pt>
                <c:pt idx="24">
                  <c:v>1.4644674006873888</c:v>
                </c:pt>
                <c:pt idx="25">
                  <c:v>1.4894528229209789</c:v>
                </c:pt>
                <c:pt idx="26">
                  <c:v>1.5144382451545688</c:v>
                </c:pt>
                <c:pt idx="27">
                  <c:v>1.5394236673881587</c:v>
                </c:pt>
                <c:pt idx="28">
                  <c:v>1.5644090896217486</c:v>
                </c:pt>
                <c:pt idx="29">
                  <c:v>1.5893945118553385</c:v>
                </c:pt>
                <c:pt idx="30">
                  <c:v>1.6143799340889284</c:v>
                </c:pt>
                <c:pt idx="31">
                  <c:v>1.6393653563225183</c:v>
                </c:pt>
                <c:pt idx="32">
                  <c:v>1.6643507785561082</c:v>
                </c:pt>
                <c:pt idx="33">
                  <c:v>1.6893362007896984</c:v>
                </c:pt>
                <c:pt idx="34">
                  <c:v>1.7143216230232883</c:v>
                </c:pt>
                <c:pt idx="35">
                  <c:v>1.7393070452568784</c:v>
                </c:pt>
                <c:pt idx="36">
                  <c:v>1.7642924674904683</c:v>
                </c:pt>
                <c:pt idx="37">
                  <c:v>1.7892778897240582</c:v>
                </c:pt>
                <c:pt idx="38">
                  <c:v>1.8142633119576481</c:v>
                </c:pt>
                <c:pt idx="39">
                  <c:v>1.839248734191238</c:v>
                </c:pt>
                <c:pt idx="40">
                  <c:v>1.8642341564248279</c:v>
                </c:pt>
                <c:pt idx="41">
                  <c:v>1.8892195786584178</c:v>
                </c:pt>
                <c:pt idx="42">
                  <c:v>1.9142050008920077</c:v>
                </c:pt>
                <c:pt idx="43">
                  <c:v>1.9391904231255976</c:v>
                </c:pt>
                <c:pt idx="44">
                  <c:v>1.9641758453591875</c:v>
                </c:pt>
                <c:pt idx="45">
                  <c:v>1.9891612675927779</c:v>
                </c:pt>
                <c:pt idx="46">
                  <c:v>2.0141466898263678</c:v>
                </c:pt>
                <c:pt idx="47">
                  <c:v>2.0391321120599577</c:v>
                </c:pt>
                <c:pt idx="48">
                  <c:v>2.0641175342935476</c:v>
                </c:pt>
                <c:pt idx="49">
                  <c:v>2.0891029565271375</c:v>
                </c:pt>
                <c:pt idx="50">
                  <c:v>2.1140883787607274</c:v>
                </c:pt>
                <c:pt idx="51">
                  <c:v>2.1390738009943173</c:v>
                </c:pt>
                <c:pt idx="52">
                  <c:v>2.1640592232279072</c:v>
                </c:pt>
                <c:pt idx="53">
                  <c:v>2.1890446454614971</c:v>
                </c:pt>
                <c:pt idx="54">
                  <c:v>2.214030067695087</c:v>
                </c:pt>
                <c:pt idx="55">
                  <c:v>2.2390154899286769</c:v>
                </c:pt>
                <c:pt idx="56">
                  <c:v>2.2640009121622673</c:v>
                </c:pt>
                <c:pt idx="57">
                  <c:v>2.2889863343958572</c:v>
                </c:pt>
                <c:pt idx="58">
                  <c:v>2.3139717566294471</c:v>
                </c:pt>
                <c:pt idx="59">
                  <c:v>2.338957178863037</c:v>
                </c:pt>
                <c:pt idx="60">
                  <c:v>2.3639426010966269</c:v>
                </c:pt>
                <c:pt idx="61">
                  <c:v>2.3889280233302168</c:v>
                </c:pt>
                <c:pt idx="62">
                  <c:v>2.4139134455638067</c:v>
                </c:pt>
                <c:pt idx="63">
                  <c:v>2.4388988677973966</c:v>
                </c:pt>
                <c:pt idx="64">
                  <c:v>2.4638842900309865</c:v>
                </c:pt>
                <c:pt idx="65">
                  <c:v>2.4888697122645764</c:v>
                </c:pt>
                <c:pt idx="66">
                  <c:v>2.5138551344981668</c:v>
                </c:pt>
                <c:pt idx="67">
                  <c:v>2.5388405567317567</c:v>
                </c:pt>
                <c:pt idx="68">
                  <c:v>2.5638259789653466</c:v>
                </c:pt>
                <c:pt idx="69">
                  <c:v>2.5888114011989365</c:v>
                </c:pt>
                <c:pt idx="70">
                  <c:v>2.6137968234325264</c:v>
                </c:pt>
                <c:pt idx="71">
                  <c:v>2.6387822456661163</c:v>
                </c:pt>
                <c:pt idx="72">
                  <c:v>2.6637676678997062</c:v>
                </c:pt>
                <c:pt idx="73">
                  <c:v>2.6887530901332961</c:v>
                </c:pt>
                <c:pt idx="74">
                  <c:v>2.713738512366886</c:v>
                </c:pt>
                <c:pt idx="75">
                  <c:v>2.7387239346004759</c:v>
                </c:pt>
                <c:pt idx="76">
                  <c:v>2.7637093568340658</c:v>
                </c:pt>
                <c:pt idx="77">
                  <c:v>2.7886947790676562</c:v>
                </c:pt>
                <c:pt idx="78">
                  <c:v>2.8136802013012461</c:v>
                </c:pt>
                <c:pt idx="79">
                  <c:v>2.838665623534836</c:v>
                </c:pt>
                <c:pt idx="80">
                  <c:v>2.8636510457684259</c:v>
                </c:pt>
                <c:pt idx="81">
                  <c:v>2.8886364680020158</c:v>
                </c:pt>
                <c:pt idx="82">
                  <c:v>2.9136218902356057</c:v>
                </c:pt>
                <c:pt idx="83">
                  <c:v>2.9386073124691956</c:v>
                </c:pt>
                <c:pt idx="84">
                  <c:v>2.9635927347027855</c:v>
                </c:pt>
                <c:pt idx="85">
                  <c:v>2.9885781569363754</c:v>
                </c:pt>
                <c:pt idx="86">
                  <c:v>3.0135635791699653</c:v>
                </c:pt>
                <c:pt idx="87">
                  <c:v>3.0385490014035552</c:v>
                </c:pt>
                <c:pt idx="88">
                  <c:v>3.0635344236371451</c:v>
                </c:pt>
                <c:pt idx="89">
                  <c:v>3.088519845870735</c:v>
                </c:pt>
                <c:pt idx="90">
                  <c:v>3.1135052681043254</c:v>
                </c:pt>
                <c:pt idx="91">
                  <c:v>3.1384906903379153</c:v>
                </c:pt>
                <c:pt idx="92">
                  <c:v>3.1634761125715052</c:v>
                </c:pt>
                <c:pt idx="93">
                  <c:v>3.1884615348050951</c:v>
                </c:pt>
                <c:pt idx="94">
                  <c:v>3.213446957038685</c:v>
                </c:pt>
                <c:pt idx="95">
                  <c:v>3.2384323792722749</c:v>
                </c:pt>
                <c:pt idx="96">
                  <c:v>3.2634178015058648</c:v>
                </c:pt>
                <c:pt idx="97">
                  <c:v>3.2884032237394547</c:v>
                </c:pt>
                <c:pt idx="98">
                  <c:v>3.3133886459730446</c:v>
                </c:pt>
                <c:pt idx="99">
                  <c:v>3.3383740682066345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3EF1-410C-B678-CAB00CC88B44}"/>
            </c:ext>
          </c:extLst>
        </c:ser>
        <c:ser>
          <c:idx val="1"/>
          <c:order val="1"/>
          <c:tx>
            <c:v>Accept line</c:v>
          </c:tx>
          <c:spPr>
            <a:ln w="3175" cap="rnd">
              <a:solidFill>
                <a:schemeClr val="tx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3175">
                <a:solidFill>
                  <a:schemeClr val="accent2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2"/>
                </a:solidFill>
                <a:prstDash val="sysDot"/>
              </a:ln>
              <a:effectLst/>
            </c:spPr>
            <c:trendlineType val="linear"/>
            <c:dispRSqr val="1"/>
            <c:dispEq val="1"/>
            <c:trendlineLbl>
              <c:layout>
                <c:manualLayout>
                  <c:x val="5.8501135296713004E-2"/>
                  <c:y val="0.11262993838800348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400" b="0" i="0" u="none" strike="noStrike" kern="1200" baseline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defRPr>
                    </a:pPr>
                    <a:r>
                      <a:rPr lang="en-US" baseline="0" dirty="0"/>
                      <a:t>y = 0.025x - 0.8398</a:t>
                    </a:r>
                    <a:endParaRPr lang="en-US" dirty="0"/>
                  </a:p>
                </c:rich>
              </c:tx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+mn-cs"/>
                    </a:defRPr>
                  </a:pPr>
                  <a:endParaRPr lang="en-US"/>
                </a:p>
              </c:txPr>
            </c:trendlineLbl>
          </c:trendline>
          <c:xVal>
            <c:strRef>
              <c:f>'seq test'!$A$11:$A$131</c:f>
              <c:strCache>
                <c:ptCount val="101"/>
                <c:pt idx="0">
                  <c:v>x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strCache>
            </c:strRef>
          </c:xVal>
          <c:yVal>
            <c:numRef>
              <c:f>'seq test'!$C$12:$C$131</c:f>
              <c:numCache>
                <c:formatCode>General</c:formatCode>
                <c:ptCount val="120"/>
                <c:pt idx="0">
                  <c:v>-0.81484642261405027</c:v>
                </c:pt>
                <c:pt idx="1">
                  <c:v>-0.78986100038046025</c:v>
                </c:pt>
                <c:pt idx="2">
                  <c:v>-0.76487557814687035</c:v>
                </c:pt>
                <c:pt idx="3">
                  <c:v>-0.73989015591328045</c:v>
                </c:pt>
                <c:pt idx="4">
                  <c:v>-0.71490473367969043</c:v>
                </c:pt>
                <c:pt idx="5">
                  <c:v>-0.68991931144610052</c:v>
                </c:pt>
                <c:pt idx="6">
                  <c:v>-0.66493388921251051</c:v>
                </c:pt>
                <c:pt idx="7">
                  <c:v>-0.6399484669789206</c:v>
                </c:pt>
                <c:pt idx="8">
                  <c:v>-0.6149630447453307</c:v>
                </c:pt>
                <c:pt idx="9">
                  <c:v>-0.58997762251174068</c:v>
                </c:pt>
                <c:pt idx="10">
                  <c:v>-0.56499220027815078</c:v>
                </c:pt>
                <c:pt idx="11">
                  <c:v>-0.54000677804456076</c:v>
                </c:pt>
                <c:pt idx="12">
                  <c:v>-0.51502135581097086</c:v>
                </c:pt>
                <c:pt idx="13">
                  <c:v>-0.49003593357738096</c:v>
                </c:pt>
                <c:pt idx="14">
                  <c:v>-0.465050511343791</c:v>
                </c:pt>
                <c:pt idx="15">
                  <c:v>-0.44006508911020104</c:v>
                </c:pt>
                <c:pt idx="16">
                  <c:v>-0.41507966687661108</c:v>
                </c:pt>
                <c:pt idx="17">
                  <c:v>-0.39009424464302112</c:v>
                </c:pt>
                <c:pt idx="18">
                  <c:v>-0.36510882240943121</c:v>
                </c:pt>
                <c:pt idx="19">
                  <c:v>-0.34012340017584125</c:v>
                </c:pt>
                <c:pt idx="20">
                  <c:v>-0.31513797794225129</c:v>
                </c:pt>
                <c:pt idx="21">
                  <c:v>-0.29015255570866139</c:v>
                </c:pt>
                <c:pt idx="22">
                  <c:v>-0.26516713347507137</c:v>
                </c:pt>
                <c:pt idx="23">
                  <c:v>-0.24018171124148147</c:v>
                </c:pt>
                <c:pt idx="24">
                  <c:v>-0.21519628900789156</c:v>
                </c:pt>
                <c:pt idx="25">
                  <c:v>-0.19021086677430155</c:v>
                </c:pt>
                <c:pt idx="26">
                  <c:v>-0.16522544454071164</c:v>
                </c:pt>
                <c:pt idx="27">
                  <c:v>-0.14024002230712174</c:v>
                </c:pt>
                <c:pt idx="28">
                  <c:v>-0.11525460007353172</c:v>
                </c:pt>
                <c:pt idx="29">
                  <c:v>-9.0269177839941817E-2</c:v>
                </c:pt>
                <c:pt idx="30">
                  <c:v>-6.5283755606351801E-2</c:v>
                </c:pt>
                <c:pt idx="31">
                  <c:v>-4.0298333372761896E-2</c:v>
                </c:pt>
                <c:pt idx="32">
                  <c:v>-1.5312911139171992E-2</c:v>
                </c:pt>
                <c:pt idx="33">
                  <c:v>9.6725110944180237E-3</c:v>
                </c:pt>
                <c:pt idx="34">
                  <c:v>3.4657933328007928E-2</c:v>
                </c:pt>
                <c:pt idx="35">
                  <c:v>5.9643355561597944E-2</c:v>
                </c:pt>
                <c:pt idx="36">
                  <c:v>8.4628777795187848E-2</c:v>
                </c:pt>
                <c:pt idx="37">
                  <c:v>0.10961420002877775</c:v>
                </c:pt>
                <c:pt idx="38">
                  <c:v>0.13459962226236777</c:v>
                </c:pt>
                <c:pt idx="39">
                  <c:v>0.15958504449595767</c:v>
                </c:pt>
                <c:pt idx="40">
                  <c:v>0.18457046672954769</c:v>
                </c:pt>
                <c:pt idx="41">
                  <c:v>0.20955588896313759</c:v>
                </c:pt>
                <c:pt idx="42">
                  <c:v>0.2345413111967275</c:v>
                </c:pt>
                <c:pt idx="43">
                  <c:v>0.2595267334303174</c:v>
                </c:pt>
                <c:pt idx="44">
                  <c:v>0.28451215566390731</c:v>
                </c:pt>
                <c:pt idx="45">
                  <c:v>0.30949757789749743</c:v>
                </c:pt>
                <c:pt idx="46">
                  <c:v>0.33448300013108734</c:v>
                </c:pt>
                <c:pt idx="47">
                  <c:v>0.35946842236467724</c:v>
                </c:pt>
                <c:pt idx="48">
                  <c:v>0.38445384459826715</c:v>
                </c:pt>
                <c:pt idx="49">
                  <c:v>0.40943926683185705</c:v>
                </c:pt>
                <c:pt idx="50">
                  <c:v>0.43442468906544718</c:v>
                </c:pt>
                <c:pt idx="51">
                  <c:v>0.45941011129903708</c:v>
                </c:pt>
                <c:pt idx="52">
                  <c:v>0.48439553353262699</c:v>
                </c:pt>
                <c:pt idx="53">
                  <c:v>0.50938095576621689</c:v>
                </c:pt>
                <c:pt idx="54">
                  <c:v>0.5343663779998068</c:v>
                </c:pt>
                <c:pt idx="55">
                  <c:v>0.5593518002333967</c:v>
                </c:pt>
                <c:pt idx="56">
                  <c:v>0.58433722246698683</c:v>
                </c:pt>
                <c:pt idx="57">
                  <c:v>0.60932264470057673</c:v>
                </c:pt>
                <c:pt idx="58">
                  <c:v>0.63430806693416664</c:v>
                </c:pt>
                <c:pt idx="59">
                  <c:v>0.65929348916775654</c:v>
                </c:pt>
                <c:pt idx="60">
                  <c:v>0.68427891140134645</c:v>
                </c:pt>
                <c:pt idx="61">
                  <c:v>0.70926433363493657</c:v>
                </c:pt>
                <c:pt idx="62">
                  <c:v>0.73424975586852648</c:v>
                </c:pt>
                <c:pt idx="63">
                  <c:v>0.75923517810211638</c:v>
                </c:pt>
                <c:pt idx="64">
                  <c:v>0.78422060033570629</c:v>
                </c:pt>
                <c:pt idx="65">
                  <c:v>0.80920602256929619</c:v>
                </c:pt>
                <c:pt idx="66">
                  <c:v>0.83419144480288632</c:v>
                </c:pt>
                <c:pt idx="67">
                  <c:v>0.85917686703647622</c:v>
                </c:pt>
                <c:pt idx="68">
                  <c:v>0.88416228927006613</c:v>
                </c:pt>
                <c:pt idx="69">
                  <c:v>0.90914771150365603</c:v>
                </c:pt>
                <c:pt idx="70">
                  <c:v>0.93413313373724594</c:v>
                </c:pt>
                <c:pt idx="71">
                  <c:v>0.95911855597083606</c:v>
                </c:pt>
                <c:pt idx="72">
                  <c:v>0.98410397820442597</c:v>
                </c:pt>
                <c:pt idx="73">
                  <c:v>1.009089400438016</c:v>
                </c:pt>
                <c:pt idx="74">
                  <c:v>1.0340748226716059</c:v>
                </c:pt>
                <c:pt idx="75">
                  <c:v>1.0590602449051958</c:v>
                </c:pt>
                <c:pt idx="76">
                  <c:v>1.0840456671387857</c:v>
                </c:pt>
                <c:pt idx="77">
                  <c:v>1.1090310893723756</c:v>
                </c:pt>
                <c:pt idx="78">
                  <c:v>1.1340165116059655</c:v>
                </c:pt>
                <c:pt idx="79">
                  <c:v>1.1590019338395554</c:v>
                </c:pt>
                <c:pt idx="80">
                  <c:v>1.1839873560731458</c:v>
                </c:pt>
                <c:pt idx="81">
                  <c:v>1.2089727783067357</c:v>
                </c:pt>
                <c:pt idx="82">
                  <c:v>1.2339582005403256</c:v>
                </c:pt>
                <c:pt idx="83">
                  <c:v>1.2589436227739155</c:v>
                </c:pt>
                <c:pt idx="84">
                  <c:v>1.2839290450075054</c:v>
                </c:pt>
                <c:pt idx="85">
                  <c:v>1.3089144672410953</c:v>
                </c:pt>
                <c:pt idx="86">
                  <c:v>1.3338998894746852</c:v>
                </c:pt>
                <c:pt idx="87">
                  <c:v>1.3588853117082751</c:v>
                </c:pt>
                <c:pt idx="88">
                  <c:v>1.383870733941865</c:v>
                </c:pt>
                <c:pt idx="89">
                  <c:v>1.4088561561754549</c:v>
                </c:pt>
                <c:pt idx="90">
                  <c:v>1.4338415784090452</c:v>
                </c:pt>
                <c:pt idx="91">
                  <c:v>1.4588270006426352</c:v>
                </c:pt>
                <c:pt idx="92">
                  <c:v>1.4838124228762251</c:v>
                </c:pt>
                <c:pt idx="93">
                  <c:v>1.508797845109815</c:v>
                </c:pt>
                <c:pt idx="94">
                  <c:v>1.5337832673434049</c:v>
                </c:pt>
                <c:pt idx="95">
                  <c:v>1.5587686895769948</c:v>
                </c:pt>
                <c:pt idx="96">
                  <c:v>1.5837541118105847</c:v>
                </c:pt>
                <c:pt idx="97">
                  <c:v>1.6087395340441746</c:v>
                </c:pt>
                <c:pt idx="98">
                  <c:v>1.6337249562777645</c:v>
                </c:pt>
                <c:pt idx="99">
                  <c:v>1.6587103785113544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3EF1-410C-B678-CAB00CC88B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47499344"/>
        <c:axId val="247500784"/>
      </c:scatterChart>
      <c:valAx>
        <c:axId val="247499344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0">
                    <a:schemeClr val="accent1">
                      <a:lumMod val="9000"/>
                      <a:lumOff val="91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defRPr>
                </a:pPr>
                <a:r>
                  <a:rPr lang="en-IN" dirty="0"/>
                  <a:t>No of trials or samples (N)</a:t>
                </a:r>
              </a:p>
            </c:rich>
          </c:tx>
          <c:layout>
            <c:manualLayout>
              <c:xMode val="edge"/>
              <c:yMode val="edge"/>
              <c:x val="0.44169492457999171"/>
              <c:y val="0.9302234489702555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defRPr>
            </a:pPr>
            <a:endParaRPr lang="en-US"/>
          </a:p>
        </c:txPr>
        <c:crossAx val="247500784"/>
        <c:crosses val="autoZero"/>
        <c:crossBetween val="midCat"/>
        <c:majorUnit val="10"/>
      </c:valAx>
      <c:valAx>
        <c:axId val="2475007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defRPr>
                </a:pPr>
                <a:r>
                  <a:rPr lang="en-IN"/>
                  <a:t>No of failures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defRPr>
            </a:pPr>
            <a:endParaRPr lang="en-US"/>
          </a:p>
        </c:txPr>
        <c:crossAx val="24749934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egendEntry>
        <c:idx val="2"/>
        <c:delete val="1"/>
      </c:legendEntry>
      <c:legendEntry>
        <c:idx val="3"/>
        <c:delete val="1"/>
      </c:legendEntry>
      <c:layout>
        <c:manualLayout>
          <c:xMode val="edge"/>
          <c:yMode val="edge"/>
          <c:x val="0.7461268381883247"/>
          <c:y val="0.7659395190450683"/>
          <c:w val="0.14444205570231383"/>
          <c:h val="0.1037956257616322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latin typeface="Cambria Math" panose="02040503050406030204" pitchFamily="18" charset="0"/>
          <a:ea typeface="Cambria Math" panose="02040503050406030204" pitchFamily="18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CE706A-52A3-4ED4-8D1D-0FA8A3943C14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67D039F0-3ABD-4684-A693-8F3DA3519CC2}">
      <dgm:prSet phldrT="[Text]" phldr="0" custT="1"/>
      <dgm:spPr/>
      <dgm:t>
        <a:bodyPr/>
        <a:lstStyle/>
        <a:p>
          <a:r>
            <a:rPr lang="en-US" sz="1800" dirty="0">
              <a:latin typeface="Cambria Math" panose="02040503050406030204" pitchFamily="18" charset="0"/>
              <a:ea typeface="Cambria Math" panose="02040503050406030204" pitchFamily="18" charset="0"/>
            </a:rPr>
            <a:t>Define</a:t>
          </a:r>
          <a:endParaRPr lang="en-IN" sz="1800" dirty="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9B5B127F-BA05-461B-A65D-922343F3CD37}" type="parTrans" cxnId="{25D4B76D-D9D5-4690-B053-3C1ED133D9EA}">
      <dgm:prSet/>
      <dgm:spPr/>
      <dgm:t>
        <a:bodyPr/>
        <a:lstStyle/>
        <a:p>
          <a:endParaRPr lang="en-IN" sz="180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19FB8FDB-A20C-48ED-927F-83B48C38E733}" type="sibTrans" cxnId="{25D4B76D-D9D5-4690-B053-3C1ED133D9EA}">
      <dgm:prSet/>
      <dgm:spPr/>
      <dgm:t>
        <a:bodyPr/>
        <a:lstStyle/>
        <a:p>
          <a:endParaRPr lang="en-IN" sz="180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735F751B-AC28-45F2-ABDC-3E65F2210342}">
      <dgm:prSet phldrT="[Text]" phldr="0" custT="1"/>
      <dgm:spPr/>
      <dgm:t>
        <a:bodyPr/>
        <a:lstStyle/>
        <a:p>
          <a:r>
            <a:rPr lang="en-US" sz="1800" dirty="0">
              <a:latin typeface="Cambria Math" panose="02040503050406030204" pitchFamily="18" charset="0"/>
              <a:ea typeface="Cambria Math" panose="02040503050406030204" pitchFamily="18" charset="0"/>
            </a:rPr>
            <a:t>Define R</a:t>
          </a:r>
          <a:r>
            <a:rPr lang="en-US" sz="1800" baseline="-25000" dirty="0">
              <a:latin typeface="Cambria Math" panose="02040503050406030204" pitchFamily="18" charset="0"/>
              <a:ea typeface="Cambria Math" panose="02040503050406030204" pitchFamily="18" charset="0"/>
            </a:rPr>
            <a:t>u</a:t>
          </a:r>
          <a:r>
            <a:rPr lang="en-US" sz="1800" dirty="0">
              <a:latin typeface="Cambria Math" panose="02040503050406030204" pitchFamily="18" charset="0"/>
              <a:ea typeface="Cambria Math" panose="02040503050406030204" pitchFamily="18" charset="0"/>
            </a:rPr>
            <a:t> </a:t>
          </a:r>
          <a:endParaRPr lang="en-IN" sz="1800" dirty="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A8B1BEC9-BB97-4AC2-8A1B-C085CDBA5EE5}" type="parTrans" cxnId="{0C7F5904-87BF-49E0-9955-FDD3F5EB3609}">
      <dgm:prSet/>
      <dgm:spPr/>
      <dgm:t>
        <a:bodyPr/>
        <a:lstStyle/>
        <a:p>
          <a:endParaRPr lang="en-IN" sz="180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9B3012DD-D539-4E98-9BDA-074057F4EFD2}" type="sibTrans" cxnId="{0C7F5904-87BF-49E0-9955-FDD3F5EB3609}">
      <dgm:prSet/>
      <dgm:spPr/>
      <dgm:t>
        <a:bodyPr/>
        <a:lstStyle/>
        <a:p>
          <a:endParaRPr lang="en-IN" sz="180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873522D4-0B13-41FB-9DC8-4F2339D59440}">
      <dgm:prSet phldrT="[Text]" phldr="0" custT="1"/>
      <dgm:spPr/>
      <dgm:t>
        <a:bodyPr/>
        <a:lstStyle/>
        <a:p>
          <a:r>
            <a:rPr lang="en-US" sz="1800" dirty="0">
              <a:latin typeface="Cambria Math" panose="02040503050406030204" pitchFamily="18" charset="0"/>
              <a:ea typeface="Cambria Math" panose="02040503050406030204" pitchFamily="18" charset="0"/>
            </a:rPr>
            <a:t>Define R</a:t>
          </a:r>
          <a:r>
            <a:rPr lang="en-US" sz="1800" baseline="-25000" dirty="0">
              <a:latin typeface="Cambria Math" panose="02040503050406030204" pitchFamily="18" charset="0"/>
              <a:ea typeface="Cambria Math" panose="02040503050406030204" pitchFamily="18" charset="0"/>
            </a:rPr>
            <a:t>L</a:t>
          </a:r>
          <a:endParaRPr lang="en-IN" sz="1800" dirty="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BCF905CA-172F-4603-83CF-61EE6719AA58}" type="parTrans" cxnId="{92E20B92-B923-4A15-995A-1BB9A470E593}">
      <dgm:prSet/>
      <dgm:spPr/>
      <dgm:t>
        <a:bodyPr/>
        <a:lstStyle/>
        <a:p>
          <a:endParaRPr lang="en-IN" sz="180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78B41D96-DD0D-4DA5-AB2C-AAD9CEF2A880}" type="sibTrans" cxnId="{92E20B92-B923-4A15-995A-1BB9A470E593}">
      <dgm:prSet/>
      <dgm:spPr/>
      <dgm:t>
        <a:bodyPr/>
        <a:lstStyle/>
        <a:p>
          <a:endParaRPr lang="en-IN" sz="180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A448D317-6314-4E3F-A796-ADCC3D04EADF}">
      <dgm:prSet phldrT="[Text]" phldr="0" custT="1"/>
      <dgm:spPr/>
      <dgm:t>
        <a:bodyPr/>
        <a:lstStyle/>
        <a:p>
          <a:r>
            <a:rPr lang="en-US" sz="1800" dirty="0">
              <a:latin typeface="Cambria Math" panose="02040503050406030204" pitchFamily="18" charset="0"/>
              <a:ea typeface="Cambria Math" panose="02040503050406030204" pitchFamily="18" charset="0"/>
            </a:rPr>
            <a:t>Risk</a:t>
          </a:r>
          <a:endParaRPr lang="en-IN" sz="1800" dirty="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E27332E0-BE21-4A41-BDD7-3799DC391D2B}" type="parTrans" cxnId="{E23DF854-9059-47B0-9981-6307BD072E9B}">
      <dgm:prSet/>
      <dgm:spPr/>
      <dgm:t>
        <a:bodyPr/>
        <a:lstStyle/>
        <a:p>
          <a:endParaRPr lang="en-IN" sz="180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2A4C814C-3E34-41BF-A777-568F24C45E43}" type="sibTrans" cxnId="{E23DF854-9059-47B0-9981-6307BD072E9B}">
      <dgm:prSet/>
      <dgm:spPr/>
      <dgm:t>
        <a:bodyPr/>
        <a:lstStyle/>
        <a:p>
          <a:endParaRPr lang="en-IN" sz="180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6FEFA798-1139-4084-A772-4E3EE8B2683D}">
      <dgm:prSet phldrT="[Text]" phldr="0" custT="1"/>
      <dgm:spPr/>
      <dgm:t>
        <a:bodyPr/>
        <a:lstStyle/>
        <a:p>
          <a:r>
            <a:rPr lang="en-US" sz="1800" dirty="0">
              <a:latin typeface="Cambria Math" panose="02040503050406030204" pitchFamily="18" charset="0"/>
              <a:ea typeface="Cambria Math" panose="02040503050406030204" pitchFamily="18" charset="0"/>
            </a:rPr>
            <a:t>Set Producer’s risk (</a:t>
          </a:r>
          <a:r>
            <a:rPr lang="el-GR" sz="1800" dirty="0">
              <a:latin typeface="Cambria Math" panose="02040503050406030204" pitchFamily="18" charset="0"/>
              <a:ea typeface="Cambria Math" panose="02040503050406030204" pitchFamily="18" charset="0"/>
            </a:rPr>
            <a:t>α</a:t>
          </a:r>
          <a:r>
            <a:rPr lang="en-US" sz="1800" dirty="0">
              <a:latin typeface="Cambria Math" panose="02040503050406030204" pitchFamily="18" charset="0"/>
              <a:ea typeface="Cambria Math" panose="02040503050406030204" pitchFamily="18" charset="0"/>
            </a:rPr>
            <a:t>)</a:t>
          </a:r>
          <a:endParaRPr lang="en-IN" sz="1800" dirty="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5EFCFD36-2F03-4CD7-887F-69B996FE40C0}" type="parTrans" cxnId="{C3275CAA-BBF5-46CA-804D-025A04C493AB}">
      <dgm:prSet/>
      <dgm:spPr/>
      <dgm:t>
        <a:bodyPr/>
        <a:lstStyle/>
        <a:p>
          <a:endParaRPr lang="en-IN" sz="180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CF19E08F-169D-4FED-9518-8D903B3D8EFF}" type="sibTrans" cxnId="{C3275CAA-BBF5-46CA-804D-025A04C493AB}">
      <dgm:prSet/>
      <dgm:spPr/>
      <dgm:t>
        <a:bodyPr/>
        <a:lstStyle/>
        <a:p>
          <a:endParaRPr lang="en-IN" sz="180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815D1BA3-5C0A-44BE-8DBB-A7C3426D5D34}">
      <dgm:prSet phldrT="[Text]" phldr="0" custT="1"/>
      <dgm:spPr/>
      <dgm:t>
        <a:bodyPr/>
        <a:lstStyle/>
        <a:p>
          <a:r>
            <a:rPr lang="en-US" sz="1800" dirty="0">
              <a:latin typeface="Cambria Math" panose="02040503050406030204" pitchFamily="18" charset="0"/>
              <a:ea typeface="Cambria Math" panose="02040503050406030204" pitchFamily="18" charset="0"/>
            </a:rPr>
            <a:t>Scale</a:t>
          </a:r>
          <a:endParaRPr lang="en-IN" sz="1800" dirty="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DDB6FA02-B61A-4CFA-B1B8-52D47E95BEDB}" type="parTrans" cxnId="{3E3B29FB-284A-4E9F-8455-FE1D0B717B19}">
      <dgm:prSet/>
      <dgm:spPr/>
      <dgm:t>
        <a:bodyPr/>
        <a:lstStyle/>
        <a:p>
          <a:endParaRPr lang="en-IN" sz="180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CB828635-B476-42CE-8BF4-F34FCA5AFD94}" type="sibTrans" cxnId="{3E3B29FB-284A-4E9F-8455-FE1D0B717B19}">
      <dgm:prSet/>
      <dgm:spPr/>
      <dgm:t>
        <a:bodyPr/>
        <a:lstStyle/>
        <a:p>
          <a:endParaRPr lang="en-IN" sz="180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4917FFAA-BEB0-4F35-AF14-3638EF85341A}">
      <dgm:prSet phldrT="[Text]" phldr="0" custT="1"/>
      <dgm:spPr/>
      <dgm:t>
        <a:bodyPr/>
        <a:lstStyle/>
        <a:p>
          <a:r>
            <a:rPr lang="en-US" sz="1800" dirty="0">
              <a:latin typeface="Cambria Math" panose="02040503050406030204" pitchFamily="18" charset="0"/>
              <a:ea typeface="Cambria Math" panose="02040503050406030204" pitchFamily="18" charset="0"/>
            </a:rPr>
            <a:t>Sample size</a:t>
          </a:r>
          <a:endParaRPr lang="en-IN" sz="1800" dirty="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6DA0DFA8-BF69-40F1-B654-7AEFCD6CD66C}" type="parTrans" cxnId="{903D9454-F2AD-4662-BEBC-D37DD32062EC}">
      <dgm:prSet/>
      <dgm:spPr/>
      <dgm:t>
        <a:bodyPr/>
        <a:lstStyle/>
        <a:p>
          <a:endParaRPr lang="en-IN" sz="180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3A919495-A545-4D5A-B58C-352A2A0FC295}" type="sibTrans" cxnId="{903D9454-F2AD-4662-BEBC-D37DD32062EC}">
      <dgm:prSet/>
      <dgm:spPr/>
      <dgm:t>
        <a:bodyPr/>
        <a:lstStyle/>
        <a:p>
          <a:endParaRPr lang="en-IN" sz="180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C3B1DB71-BAD6-4170-B6FD-80297D37E9EC}">
      <dgm:prSet phldrT="[Text]" phldr="0" custT="1"/>
      <dgm:spPr/>
      <dgm:t>
        <a:bodyPr/>
        <a:lstStyle/>
        <a:p>
          <a:r>
            <a:rPr lang="en-US" sz="1800" dirty="0">
              <a:latin typeface="Cambria Math" panose="02040503050406030204" pitchFamily="18" charset="0"/>
              <a:ea typeface="Cambria Math" panose="02040503050406030204" pitchFamily="18" charset="0"/>
            </a:rPr>
            <a:t>Total test time</a:t>
          </a:r>
          <a:endParaRPr lang="en-IN" sz="1800" dirty="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61409290-9BE1-49D4-BEE3-C4510EBB068A}" type="parTrans" cxnId="{63F23458-E214-42F8-B0B3-BCAA31D61691}">
      <dgm:prSet/>
      <dgm:spPr/>
      <dgm:t>
        <a:bodyPr/>
        <a:lstStyle/>
        <a:p>
          <a:endParaRPr lang="en-IN" sz="180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CBD01BAF-9C6A-4BA4-82B8-C39227751B86}" type="sibTrans" cxnId="{63F23458-E214-42F8-B0B3-BCAA31D61691}">
      <dgm:prSet/>
      <dgm:spPr/>
      <dgm:t>
        <a:bodyPr/>
        <a:lstStyle/>
        <a:p>
          <a:endParaRPr lang="en-IN" sz="180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3EE84DFA-A5B3-4DFE-A2BF-EC666B7719A7}">
      <dgm:prSet phldrT="[Text]" phldr="0" custT="1"/>
      <dgm:spPr/>
      <dgm:t>
        <a:bodyPr/>
        <a:lstStyle/>
        <a:p>
          <a:r>
            <a:rPr lang="en-US" sz="1800" dirty="0">
              <a:latin typeface="Cambria Math" panose="02040503050406030204" pitchFamily="18" charset="0"/>
              <a:ea typeface="Cambria Math" panose="02040503050406030204" pitchFamily="18" charset="0"/>
            </a:rPr>
            <a:t>Environment</a:t>
          </a:r>
          <a:endParaRPr lang="en-IN" sz="1800" dirty="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AD79EA1F-6671-429A-8B51-D7B0B6605B92}" type="parTrans" cxnId="{D289E932-F4EA-44BA-9A31-E329B6D23C89}">
      <dgm:prSet/>
      <dgm:spPr/>
      <dgm:t>
        <a:bodyPr/>
        <a:lstStyle/>
        <a:p>
          <a:endParaRPr lang="en-IN"/>
        </a:p>
      </dgm:t>
    </dgm:pt>
    <dgm:pt modelId="{626A7FB4-1BAE-40D4-935D-FC78B8B595E6}" type="sibTrans" cxnId="{D289E932-F4EA-44BA-9A31-E329B6D23C89}">
      <dgm:prSet/>
      <dgm:spPr/>
      <dgm:t>
        <a:bodyPr/>
        <a:lstStyle/>
        <a:p>
          <a:endParaRPr lang="en-IN"/>
        </a:p>
      </dgm:t>
    </dgm:pt>
    <dgm:pt modelId="{D9C2D0B5-BE4A-4696-9437-D5632C936620}">
      <dgm:prSet phldrT="[Text]" phldr="0" custT="1"/>
      <dgm:spPr/>
      <dgm:t>
        <a:bodyPr/>
        <a:lstStyle/>
        <a:p>
          <a:r>
            <a:rPr lang="en-US" sz="1800" dirty="0">
              <a:latin typeface="Cambria Math" panose="02040503050406030204" pitchFamily="18" charset="0"/>
              <a:ea typeface="Cambria Math" panose="02040503050406030204" pitchFamily="18" charset="0"/>
            </a:rPr>
            <a:t>Choose normal operating conditions or </a:t>
          </a:r>
          <a:endParaRPr lang="en-IN" sz="1800" dirty="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BE31F40A-B7E7-4C66-ACF6-98142DADB7F6}" type="parTrans" cxnId="{D3DE19B7-D5E5-4B95-9638-AAB36036F240}">
      <dgm:prSet/>
      <dgm:spPr/>
      <dgm:t>
        <a:bodyPr/>
        <a:lstStyle/>
        <a:p>
          <a:endParaRPr lang="en-IN"/>
        </a:p>
      </dgm:t>
    </dgm:pt>
    <dgm:pt modelId="{9D221F77-3C34-46A2-A753-4AE7D0F367CA}" type="sibTrans" cxnId="{D3DE19B7-D5E5-4B95-9638-AAB36036F240}">
      <dgm:prSet/>
      <dgm:spPr/>
      <dgm:t>
        <a:bodyPr/>
        <a:lstStyle/>
        <a:p>
          <a:endParaRPr lang="en-IN"/>
        </a:p>
      </dgm:t>
    </dgm:pt>
    <dgm:pt modelId="{85460CDA-AA6A-4D70-9DB0-F002F1615D9E}">
      <dgm:prSet custT="1"/>
      <dgm:spPr/>
      <dgm:t>
        <a:bodyPr/>
        <a:lstStyle/>
        <a:p>
          <a:r>
            <a:rPr lang="en-US" sz="1800" dirty="0">
              <a:latin typeface="Cambria Math" panose="02040503050406030204" pitchFamily="18" charset="0"/>
              <a:ea typeface="Cambria Math" panose="02040503050406030204" pitchFamily="18" charset="0"/>
            </a:rPr>
            <a:t>Accelerated testing</a:t>
          </a:r>
          <a:endParaRPr lang="en-IN" sz="1800" dirty="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5F41D6C6-E73D-4C77-9EA0-0D0DF2AA39B2}" type="parTrans" cxnId="{4E20570E-DC26-469B-9A5D-BAB7D4D49D22}">
      <dgm:prSet/>
      <dgm:spPr/>
      <dgm:t>
        <a:bodyPr/>
        <a:lstStyle/>
        <a:p>
          <a:endParaRPr lang="en-IN"/>
        </a:p>
      </dgm:t>
    </dgm:pt>
    <dgm:pt modelId="{CD6CF4B7-43F4-4B17-A09D-400EA3D8CC24}" type="sibTrans" cxnId="{4E20570E-DC26-469B-9A5D-BAB7D4D49D22}">
      <dgm:prSet/>
      <dgm:spPr/>
      <dgm:t>
        <a:bodyPr/>
        <a:lstStyle/>
        <a:p>
          <a:endParaRPr lang="en-IN"/>
        </a:p>
      </dgm:t>
    </dgm:pt>
    <dgm:pt modelId="{EC68D1D9-5D07-45F6-B446-59C4CDD884FC}">
      <dgm:prSet custT="1"/>
      <dgm:spPr/>
      <dgm:t>
        <a:bodyPr/>
        <a:lstStyle/>
        <a:p>
          <a:r>
            <a:rPr lang="en-US" sz="1800">
              <a:latin typeface="Cambria Math" panose="02040503050406030204" pitchFamily="18" charset="0"/>
              <a:ea typeface="Cambria Math" panose="02040503050406030204" pitchFamily="18" charset="0"/>
            </a:rPr>
            <a:t>Method</a:t>
          </a:r>
          <a:endParaRPr lang="en-IN" sz="1800" dirty="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306E046A-1580-4393-9266-08013B5C3F2D}" type="parTrans" cxnId="{F4F33A23-42F8-4B55-881B-1D8362CA2A2E}">
      <dgm:prSet/>
      <dgm:spPr/>
      <dgm:t>
        <a:bodyPr/>
        <a:lstStyle/>
        <a:p>
          <a:endParaRPr lang="en-IN"/>
        </a:p>
      </dgm:t>
    </dgm:pt>
    <dgm:pt modelId="{42348385-4217-48D6-8C66-358FF8694F69}" type="sibTrans" cxnId="{F4F33A23-42F8-4B55-881B-1D8362CA2A2E}">
      <dgm:prSet/>
      <dgm:spPr/>
      <dgm:t>
        <a:bodyPr/>
        <a:lstStyle/>
        <a:p>
          <a:endParaRPr lang="en-IN"/>
        </a:p>
      </dgm:t>
    </dgm:pt>
    <dgm:pt modelId="{825FF27F-DAE2-4808-8DD2-D0581D24B139}">
      <dgm:prSet custT="1"/>
      <dgm:spPr/>
      <dgm:t>
        <a:bodyPr/>
        <a:lstStyle/>
        <a:p>
          <a:r>
            <a:rPr lang="en-US" sz="1800" dirty="0">
              <a:latin typeface="Cambria Math" panose="02040503050406030204" pitchFamily="18" charset="0"/>
              <a:ea typeface="Cambria Math" panose="02040503050406030204" pitchFamily="18" charset="0"/>
            </a:rPr>
            <a:t>Pick test design</a:t>
          </a:r>
          <a:endParaRPr lang="en-IN" sz="1800" dirty="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6FBDB80E-9274-4801-9A18-E520B2A9B3DF}" type="parTrans" cxnId="{02C78494-4BAA-46BE-AB8D-EC148D6588A4}">
      <dgm:prSet/>
      <dgm:spPr/>
      <dgm:t>
        <a:bodyPr/>
        <a:lstStyle/>
        <a:p>
          <a:endParaRPr lang="en-IN"/>
        </a:p>
      </dgm:t>
    </dgm:pt>
    <dgm:pt modelId="{D02500C5-19BF-4FF1-B0EF-F7BBBD11D834}" type="sibTrans" cxnId="{02C78494-4BAA-46BE-AB8D-EC148D6588A4}">
      <dgm:prSet/>
      <dgm:spPr/>
      <dgm:t>
        <a:bodyPr/>
        <a:lstStyle/>
        <a:p>
          <a:endParaRPr lang="en-IN"/>
        </a:p>
      </dgm:t>
    </dgm:pt>
    <dgm:pt modelId="{9F268FA2-9B7E-49AB-BEA7-2B377B60EAFD}">
      <dgm:prSet phldrT="[Text]" phldr="0" custT="1"/>
      <dgm:spPr/>
      <dgm:t>
        <a:bodyPr/>
        <a:lstStyle/>
        <a:p>
          <a:r>
            <a:rPr lang="en-US" sz="1800" dirty="0">
              <a:latin typeface="Cambria Math" panose="02040503050406030204" pitchFamily="18" charset="0"/>
              <a:ea typeface="Cambria Math" panose="02040503050406030204" pitchFamily="18" charset="0"/>
            </a:rPr>
            <a:t>Set Consumer’s risk (</a:t>
          </a:r>
          <a:r>
            <a:rPr lang="el-GR" sz="1800" dirty="0">
              <a:latin typeface="Cambria Math" panose="02040503050406030204" pitchFamily="18" charset="0"/>
              <a:ea typeface="Cambria Math" panose="02040503050406030204" pitchFamily="18" charset="0"/>
            </a:rPr>
            <a:t>β</a:t>
          </a:r>
          <a:r>
            <a:rPr lang="en-US" sz="1800" dirty="0">
              <a:latin typeface="Cambria Math" panose="02040503050406030204" pitchFamily="18" charset="0"/>
              <a:ea typeface="Cambria Math" panose="02040503050406030204" pitchFamily="18" charset="0"/>
            </a:rPr>
            <a:t>)</a:t>
          </a:r>
          <a:endParaRPr lang="en-IN" sz="1800" dirty="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AA8BF5A2-07DE-49A7-839A-0CDEF1E89F5E}" type="parTrans" cxnId="{D69F2B4B-391E-4003-BBEA-388F9760CE6D}">
      <dgm:prSet/>
      <dgm:spPr/>
      <dgm:t>
        <a:bodyPr/>
        <a:lstStyle/>
        <a:p>
          <a:endParaRPr lang="en-IN"/>
        </a:p>
      </dgm:t>
    </dgm:pt>
    <dgm:pt modelId="{3E5147C2-B3B2-4877-80A3-470615FF2413}" type="sibTrans" cxnId="{D69F2B4B-391E-4003-BBEA-388F9760CE6D}">
      <dgm:prSet/>
      <dgm:spPr/>
      <dgm:t>
        <a:bodyPr/>
        <a:lstStyle/>
        <a:p>
          <a:endParaRPr lang="en-IN"/>
        </a:p>
      </dgm:t>
    </dgm:pt>
    <dgm:pt modelId="{E9B21733-7BB6-4A99-8E37-379C5930CE3A}" type="pres">
      <dgm:prSet presAssocID="{1ECE706A-52A3-4ED4-8D1D-0FA8A3943C14}" presName="Name0" presStyleCnt="0">
        <dgm:presLayoutVars>
          <dgm:dir/>
          <dgm:animLvl val="lvl"/>
          <dgm:resizeHandles val="exact"/>
        </dgm:presLayoutVars>
      </dgm:prSet>
      <dgm:spPr/>
    </dgm:pt>
    <dgm:pt modelId="{7BD8E4E1-CC5C-46C4-ACF0-712422D9EA41}" type="pres">
      <dgm:prSet presAssocID="{67D039F0-3ABD-4684-A693-8F3DA3519CC2}" presName="composite" presStyleCnt="0"/>
      <dgm:spPr/>
    </dgm:pt>
    <dgm:pt modelId="{972EE58A-9F5B-4E4B-B7C5-6895C042E8CF}" type="pres">
      <dgm:prSet presAssocID="{67D039F0-3ABD-4684-A693-8F3DA3519CC2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F422281E-14A4-4741-98A5-D1E254F68FD8}" type="pres">
      <dgm:prSet presAssocID="{67D039F0-3ABD-4684-A693-8F3DA3519CC2}" presName="desTx" presStyleLbl="alignAccFollowNode1" presStyleIdx="0" presStyleCnt="5" custScaleY="100000">
        <dgm:presLayoutVars>
          <dgm:bulletEnabled val="1"/>
        </dgm:presLayoutVars>
      </dgm:prSet>
      <dgm:spPr/>
    </dgm:pt>
    <dgm:pt modelId="{DBEC5BC1-8130-45D8-9E05-22A1B8B041E7}" type="pres">
      <dgm:prSet presAssocID="{19FB8FDB-A20C-48ED-927F-83B48C38E733}" presName="space" presStyleCnt="0"/>
      <dgm:spPr/>
    </dgm:pt>
    <dgm:pt modelId="{A9641FD8-06C4-4424-8CD2-21591DC22C1D}" type="pres">
      <dgm:prSet presAssocID="{A448D317-6314-4E3F-A796-ADCC3D04EADF}" presName="composite" presStyleCnt="0"/>
      <dgm:spPr/>
    </dgm:pt>
    <dgm:pt modelId="{0D1C13F4-3FC0-4355-A74A-3E566FEA1E26}" type="pres">
      <dgm:prSet presAssocID="{A448D317-6314-4E3F-A796-ADCC3D04EADF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29248756-94CC-49CB-AB72-7BE160DE3D83}" type="pres">
      <dgm:prSet presAssocID="{A448D317-6314-4E3F-A796-ADCC3D04EADF}" presName="desTx" presStyleLbl="alignAccFollowNode1" presStyleIdx="1" presStyleCnt="5">
        <dgm:presLayoutVars>
          <dgm:bulletEnabled val="1"/>
        </dgm:presLayoutVars>
      </dgm:prSet>
      <dgm:spPr/>
    </dgm:pt>
    <dgm:pt modelId="{CBC86A0E-D746-4D0D-A050-1ACE06D8D53C}" type="pres">
      <dgm:prSet presAssocID="{2A4C814C-3E34-41BF-A777-568F24C45E43}" presName="space" presStyleCnt="0"/>
      <dgm:spPr/>
    </dgm:pt>
    <dgm:pt modelId="{8B1BE94F-33BC-465C-9F17-987BD8352CE2}" type="pres">
      <dgm:prSet presAssocID="{815D1BA3-5C0A-44BE-8DBB-A7C3426D5D34}" presName="composite" presStyleCnt="0"/>
      <dgm:spPr/>
    </dgm:pt>
    <dgm:pt modelId="{6ED6AAB4-D8D6-4DBE-9992-D9F76D599C4A}" type="pres">
      <dgm:prSet presAssocID="{815D1BA3-5C0A-44BE-8DBB-A7C3426D5D34}" presName="parTx" presStyleLbl="alignNode1" presStyleIdx="2" presStyleCnt="5" custScaleY="100000">
        <dgm:presLayoutVars>
          <dgm:chMax val="0"/>
          <dgm:chPref val="0"/>
          <dgm:bulletEnabled val="1"/>
        </dgm:presLayoutVars>
      </dgm:prSet>
      <dgm:spPr/>
    </dgm:pt>
    <dgm:pt modelId="{82D12ED1-89F6-451D-B4C4-C797C8DCB78A}" type="pres">
      <dgm:prSet presAssocID="{815D1BA3-5C0A-44BE-8DBB-A7C3426D5D34}" presName="desTx" presStyleLbl="alignAccFollowNode1" presStyleIdx="2" presStyleCnt="5">
        <dgm:presLayoutVars>
          <dgm:bulletEnabled val="1"/>
        </dgm:presLayoutVars>
      </dgm:prSet>
      <dgm:spPr/>
    </dgm:pt>
    <dgm:pt modelId="{57E63356-42A4-4368-B07D-45A82186A4B9}" type="pres">
      <dgm:prSet presAssocID="{CB828635-B476-42CE-8BF4-F34FCA5AFD94}" presName="space" presStyleCnt="0"/>
      <dgm:spPr/>
    </dgm:pt>
    <dgm:pt modelId="{326CBDB0-752B-4723-A711-68B4B17A82AC}" type="pres">
      <dgm:prSet presAssocID="{3EE84DFA-A5B3-4DFE-A2BF-EC666B7719A7}" presName="composite" presStyleCnt="0"/>
      <dgm:spPr/>
    </dgm:pt>
    <dgm:pt modelId="{3FF9F6A2-6176-42E6-8FEC-48AD00B725D4}" type="pres">
      <dgm:prSet presAssocID="{3EE84DFA-A5B3-4DFE-A2BF-EC666B7719A7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69CEA116-4416-40CD-9724-308CED7B3577}" type="pres">
      <dgm:prSet presAssocID="{3EE84DFA-A5B3-4DFE-A2BF-EC666B7719A7}" presName="desTx" presStyleLbl="alignAccFollowNode1" presStyleIdx="3" presStyleCnt="5">
        <dgm:presLayoutVars>
          <dgm:bulletEnabled val="1"/>
        </dgm:presLayoutVars>
      </dgm:prSet>
      <dgm:spPr/>
    </dgm:pt>
    <dgm:pt modelId="{A9BCE34A-C868-42F9-928F-DD1EC53C2F80}" type="pres">
      <dgm:prSet presAssocID="{626A7FB4-1BAE-40D4-935D-FC78B8B595E6}" presName="space" presStyleCnt="0"/>
      <dgm:spPr/>
    </dgm:pt>
    <dgm:pt modelId="{8A4F6438-EEF9-468E-92CB-2DFC94A4B735}" type="pres">
      <dgm:prSet presAssocID="{EC68D1D9-5D07-45F6-B446-59C4CDD884FC}" presName="composite" presStyleCnt="0"/>
      <dgm:spPr/>
    </dgm:pt>
    <dgm:pt modelId="{3779BE41-0D64-4C2D-AE03-93E12D9C92E5}" type="pres">
      <dgm:prSet presAssocID="{EC68D1D9-5D07-45F6-B446-59C4CDD884FC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03506B63-4BB1-4B48-9704-242B0193500B}" type="pres">
      <dgm:prSet presAssocID="{EC68D1D9-5D07-45F6-B446-59C4CDD884FC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0C7F5904-87BF-49E0-9955-FDD3F5EB3609}" srcId="{67D039F0-3ABD-4684-A693-8F3DA3519CC2}" destId="{735F751B-AC28-45F2-ABDC-3E65F2210342}" srcOrd="0" destOrd="0" parTransId="{A8B1BEC9-BB97-4AC2-8A1B-C085CDBA5EE5}" sibTransId="{9B3012DD-D539-4E98-9BDA-074057F4EFD2}"/>
    <dgm:cxn modelId="{30667407-6C7E-4948-AFE4-87BF617D8C60}" type="presOf" srcId="{4917FFAA-BEB0-4F35-AF14-3638EF85341A}" destId="{82D12ED1-89F6-451D-B4C4-C797C8DCB78A}" srcOrd="0" destOrd="0" presId="urn:microsoft.com/office/officeart/2005/8/layout/hList1"/>
    <dgm:cxn modelId="{DB6F750D-C1AC-4BE2-A30A-8185AB9B4F50}" type="presOf" srcId="{67D039F0-3ABD-4684-A693-8F3DA3519CC2}" destId="{972EE58A-9F5B-4E4B-B7C5-6895C042E8CF}" srcOrd="0" destOrd="0" presId="urn:microsoft.com/office/officeart/2005/8/layout/hList1"/>
    <dgm:cxn modelId="{4E20570E-DC26-469B-9A5D-BAB7D4D49D22}" srcId="{3EE84DFA-A5B3-4DFE-A2BF-EC666B7719A7}" destId="{85460CDA-AA6A-4D70-9DB0-F002F1615D9E}" srcOrd="1" destOrd="0" parTransId="{5F41D6C6-E73D-4C77-9EA0-0D0DF2AA39B2}" sibTransId="{CD6CF4B7-43F4-4B17-A09D-400EA3D8CC24}"/>
    <dgm:cxn modelId="{21DF721A-70D0-4E27-A01A-F86F7C1C7FFA}" type="presOf" srcId="{EC68D1D9-5D07-45F6-B446-59C4CDD884FC}" destId="{3779BE41-0D64-4C2D-AE03-93E12D9C92E5}" srcOrd="0" destOrd="0" presId="urn:microsoft.com/office/officeart/2005/8/layout/hList1"/>
    <dgm:cxn modelId="{F4F33A23-42F8-4B55-881B-1D8362CA2A2E}" srcId="{1ECE706A-52A3-4ED4-8D1D-0FA8A3943C14}" destId="{EC68D1D9-5D07-45F6-B446-59C4CDD884FC}" srcOrd="4" destOrd="0" parTransId="{306E046A-1580-4393-9266-08013B5C3F2D}" sibTransId="{42348385-4217-48D6-8C66-358FF8694F69}"/>
    <dgm:cxn modelId="{D289E932-F4EA-44BA-9A31-E329B6D23C89}" srcId="{1ECE706A-52A3-4ED4-8D1D-0FA8A3943C14}" destId="{3EE84DFA-A5B3-4DFE-A2BF-EC666B7719A7}" srcOrd="3" destOrd="0" parTransId="{AD79EA1F-6671-429A-8B51-D7B0B6605B92}" sibTransId="{626A7FB4-1BAE-40D4-935D-FC78B8B595E6}"/>
    <dgm:cxn modelId="{36DE6840-8DD7-4898-8A45-4A73A612A95C}" type="presOf" srcId="{85460CDA-AA6A-4D70-9DB0-F002F1615D9E}" destId="{69CEA116-4416-40CD-9724-308CED7B3577}" srcOrd="0" destOrd="1" presId="urn:microsoft.com/office/officeart/2005/8/layout/hList1"/>
    <dgm:cxn modelId="{49A11D4B-E741-4FE3-808E-747517DA54E4}" type="presOf" srcId="{815D1BA3-5C0A-44BE-8DBB-A7C3426D5D34}" destId="{6ED6AAB4-D8D6-4DBE-9992-D9F76D599C4A}" srcOrd="0" destOrd="0" presId="urn:microsoft.com/office/officeart/2005/8/layout/hList1"/>
    <dgm:cxn modelId="{D69F2B4B-391E-4003-BBEA-388F9760CE6D}" srcId="{A448D317-6314-4E3F-A796-ADCC3D04EADF}" destId="{9F268FA2-9B7E-49AB-BEA7-2B377B60EAFD}" srcOrd="1" destOrd="0" parTransId="{AA8BF5A2-07DE-49A7-839A-0CDEF1E89F5E}" sibTransId="{3E5147C2-B3B2-4877-80A3-470615FF2413}"/>
    <dgm:cxn modelId="{903D9454-F2AD-4662-BEBC-D37DD32062EC}" srcId="{815D1BA3-5C0A-44BE-8DBB-A7C3426D5D34}" destId="{4917FFAA-BEB0-4F35-AF14-3638EF85341A}" srcOrd="0" destOrd="0" parTransId="{6DA0DFA8-BF69-40F1-B654-7AEFCD6CD66C}" sibTransId="{3A919495-A545-4D5A-B58C-352A2A0FC295}"/>
    <dgm:cxn modelId="{E23DF854-9059-47B0-9981-6307BD072E9B}" srcId="{1ECE706A-52A3-4ED4-8D1D-0FA8A3943C14}" destId="{A448D317-6314-4E3F-A796-ADCC3D04EADF}" srcOrd="1" destOrd="0" parTransId="{E27332E0-BE21-4A41-BDD7-3799DC391D2B}" sibTransId="{2A4C814C-3E34-41BF-A777-568F24C45E43}"/>
    <dgm:cxn modelId="{63F23458-E214-42F8-B0B3-BCAA31D61691}" srcId="{815D1BA3-5C0A-44BE-8DBB-A7C3426D5D34}" destId="{C3B1DB71-BAD6-4170-B6FD-80297D37E9EC}" srcOrd="1" destOrd="0" parTransId="{61409290-9BE1-49D4-BEE3-C4510EBB068A}" sibTransId="{CBD01BAF-9C6A-4BA4-82B8-C39227751B86}"/>
    <dgm:cxn modelId="{3E14716A-D6B9-4582-BE56-30CD0034187A}" type="presOf" srcId="{3EE84DFA-A5B3-4DFE-A2BF-EC666B7719A7}" destId="{3FF9F6A2-6176-42E6-8FEC-48AD00B725D4}" srcOrd="0" destOrd="0" presId="urn:microsoft.com/office/officeart/2005/8/layout/hList1"/>
    <dgm:cxn modelId="{931CED6B-4B91-40F4-B3C7-A8F42A8BE3A6}" type="presOf" srcId="{A448D317-6314-4E3F-A796-ADCC3D04EADF}" destId="{0D1C13F4-3FC0-4355-A74A-3E566FEA1E26}" srcOrd="0" destOrd="0" presId="urn:microsoft.com/office/officeart/2005/8/layout/hList1"/>
    <dgm:cxn modelId="{25D4B76D-D9D5-4690-B053-3C1ED133D9EA}" srcId="{1ECE706A-52A3-4ED4-8D1D-0FA8A3943C14}" destId="{67D039F0-3ABD-4684-A693-8F3DA3519CC2}" srcOrd="0" destOrd="0" parTransId="{9B5B127F-BA05-461B-A65D-922343F3CD37}" sibTransId="{19FB8FDB-A20C-48ED-927F-83B48C38E733}"/>
    <dgm:cxn modelId="{F35ACB7C-0595-4485-835A-79309CF1CBFF}" type="presOf" srcId="{D9C2D0B5-BE4A-4696-9437-D5632C936620}" destId="{69CEA116-4416-40CD-9724-308CED7B3577}" srcOrd="0" destOrd="0" presId="urn:microsoft.com/office/officeart/2005/8/layout/hList1"/>
    <dgm:cxn modelId="{92E20B92-B923-4A15-995A-1BB9A470E593}" srcId="{67D039F0-3ABD-4684-A693-8F3DA3519CC2}" destId="{873522D4-0B13-41FB-9DC8-4F2339D59440}" srcOrd="1" destOrd="0" parTransId="{BCF905CA-172F-4603-83CF-61EE6719AA58}" sibTransId="{78B41D96-DD0D-4DA5-AB2C-AAD9CEF2A880}"/>
    <dgm:cxn modelId="{02C78494-4BAA-46BE-AB8D-EC148D6588A4}" srcId="{EC68D1D9-5D07-45F6-B446-59C4CDD884FC}" destId="{825FF27F-DAE2-4808-8DD2-D0581D24B139}" srcOrd="0" destOrd="0" parTransId="{6FBDB80E-9274-4801-9A18-E520B2A9B3DF}" sibTransId="{D02500C5-19BF-4FF1-B0EF-F7BBBD11D834}"/>
    <dgm:cxn modelId="{100C519B-B4A8-42B9-B83A-58603C02785E}" type="presOf" srcId="{735F751B-AC28-45F2-ABDC-3E65F2210342}" destId="{F422281E-14A4-4741-98A5-D1E254F68FD8}" srcOrd="0" destOrd="0" presId="urn:microsoft.com/office/officeart/2005/8/layout/hList1"/>
    <dgm:cxn modelId="{0504899F-E4BC-400D-93CE-09018C12B38E}" type="presOf" srcId="{6FEFA798-1139-4084-A772-4E3EE8B2683D}" destId="{29248756-94CC-49CB-AB72-7BE160DE3D83}" srcOrd="0" destOrd="0" presId="urn:microsoft.com/office/officeart/2005/8/layout/hList1"/>
    <dgm:cxn modelId="{C3275CAA-BBF5-46CA-804D-025A04C493AB}" srcId="{A448D317-6314-4E3F-A796-ADCC3D04EADF}" destId="{6FEFA798-1139-4084-A772-4E3EE8B2683D}" srcOrd="0" destOrd="0" parTransId="{5EFCFD36-2F03-4CD7-887F-69B996FE40C0}" sibTransId="{CF19E08F-169D-4FED-9518-8D903B3D8EFF}"/>
    <dgm:cxn modelId="{D3DE19B7-D5E5-4B95-9638-AAB36036F240}" srcId="{3EE84DFA-A5B3-4DFE-A2BF-EC666B7719A7}" destId="{D9C2D0B5-BE4A-4696-9437-D5632C936620}" srcOrd="0" destOrd="0" parTransId="{BE31F40A-B7E7-4C66-ACF6-98142DADB7F6}" sibTransId="{9D221F77-3C34-46A2-A753-4AE7D0F367CA}"/>
    <dgm:cxn modelId="{D8EE2DBB-FC77-4921-9AF1-89E80AB3EC1E}" type="presOf" srcId="{873522D4-0B13-41FB-9DC8-4F2339D59440}" destId="{F422281E-14A4-4741-98A5-D1E254F68FD8}" srcOrd="0" destOrd="1" presId="urn:microsoft.com/office/officeart/2005/8/layout/hList1"/>
    <dgm:cxn modelId="{C1CCCFC7-A1B3-4ADB-A289-3BE3547BA011}" type="presOf" srcId="{C3B1DB71-BAD6-4170-B6FD-80297D37E9EC}" destId="{82D12ED1-89F6-451D-B4C4-C797C8DCB78A}" srcOrd="0" destOrd="1" presId="urn:microsoft.com/office/officeart/2005/8/layout/hList1"/>
    <dgm:cxn modelId="{8CB771E0-7028-49BE-BA8D-3EDC3D056026}" type="presOf" srcId="{9F268FA2-9B7E-49AB-BEA7-2B377B60EAFD}" destId="{29248756-94CC-49CB-AB72-7BE160DE3D83}" srcOrd="0" destOrd="1" presId="urn:microsoft.com/office/officeart/2005/8/layout/hList1"/>
    <dgm:cxn modelId="{81A940EF-714D-4177-935A-BDABA608F27D}" type="presOf" srcId="{1ECE706A-52A3-4ED4-8D1D-0FA8A3943C14}" destId="{E9B21733-7BB6-4A99-8E37-379C5930CE3A}" srcOrd="0" destOrd="0" presId="urn:microsoft.com/office/officeart/2005/8/layout/hList1"/>
    <dgm:cxn modelId="{79487FF3-FAB9-4B00-8135-0AC23919A024}" type="presOf" srcId="{825FF27F-DAE2-4808-8DD2-D0581D24B139}" destId="{03506B63-4BB1-4B48-9704-242B0193500B}" srcOrd="0" destOrd="0" presId="urn:microsoft.com/office/officeart/2005/8/layout/hList1"/>
    <dgm:cxn modelId="{3E3B29FB-284A-4E9F-8455-FE1D0B717B19}" srcId="{1ECE706A-52A3-4ED4-8D1D-0FA8A3943C14}" destId="{815D1BA3-5C0A-44BE-8DBB-A7C3426D5D34}" srcOrd="2" destOrd="0" parTransId="{DDB6FA02-B61A-4CFA-B1B8-52D47E95BEDB}" sibTransId="{CB828635-B476-42CE-8BF4-F34FCA5AFD94}"/>
    <dgm:cxn modelId="{9C1173DE-813F-448A-9CE5-1E08A14989C5}" type="presParOf" srcId="{E9B21733-7BB6-4A99-8E37-379C5930CE3A}" destId="{7BD8E4E1-CC5C-46C4-ACF0-712422D9EA41}" srcOrd="0" destOrd="0" presId="urn:microsoft.com/office/officeart/2005/8/layout/hList1"/>
    <dgm:cxn modelId="{03EAADBA-6826-40D8-9516-869781105F73}" type="presParOf" srcId="{7BD8E4E1-CC5C-46C4-ACF0-712422D9EA41}" destId="{972EE58A-9F5B-4E4B-B7C5-6895C042E8CF}" srcOrd="0" destOrd="0" presId="urn:microsoft.com/office/officeart/2005/8/layout/hList1"/>
    <dgm:cxn modelId="{E4581997-2E92-4A18-BBBF-AFBD1A6FF9F5}" type="presParOf" srcId="{7BD8E4E1-CC5C-46C4-ACF0-712422D9EA41}" destId="{F422281E-14A4-4741-98A5-D1E254F68FD8}" srcOrd="1" destOrd="0" presId="urn:microsoft.com/office/officeart/2005/8/layout/hList1"/>
    <dgm:cxn modelId="{7B321318-2117-4A8B-9D82-650B58AE4647}" type="presParOf" srcId="{E9B21733-7BB6-4A99-8E37-379C5930CE3A}" destId="{DBEC5BC1-8130-45D8-9E05-22A1B8B041E7}" srcOrd="1" destOrd="0" presId="urn:microsoft.com/office/officeart/2005/8/layout/hList1"/>
    <dgm:cxn modelId="{74F9B8C1-5D47-45F6-8C2C-0ADC577340A2}" type="presParOf" srcId="{E9B21733-7BB6-4A99-8E37-379C5930CE3A}" destId="{A9641FD8-06C4-4424-8CD2-21591DC22C1D}" srcOrd="2" destOrd="0" presId="urn:microsoft.com/office/officeart/2005/8/layout/hList1"/>
    <dgm:cxn modelId="{0F877F7A-C4BC-4A34-BAB0-8409F28967D2}" type="presParOf" srcId="{A9641FD8-06C4-4424-8CD2-21591DC22C1D}" destId="{0D1C13F4-3FC0-4355-A74A-3E566FEA1E26}" srcOrd="0" destOrd="0" presId="urn:microsoft.com/office/officeart/2005/8/layout/hList1"/>
    <dgm:cxn modelId="{8814E94B-9E26-4A9E-96A7-3350726B657B}" type="presParOf" srcId="{A9641FD8-06C4-4424-8CD2-21591DC22C1D}" destId="{29248756-94CC-49CB-AB72-7BE160DE3D83}" srcOrd="1" destOrd="0" presId="urn:microsoft.com/office/officeart/2005/8/layout/hList1"/>
    <dgm:cxn modelId="{C9C8ECB2-2590-4A7E-B5CF-C69EBA33EC03}" type="presParOf" srcId="{E9B21733-7BB6-4A99-8E37-379C5930CE3A}" destId="{CBC86A0E-D746-4D0D-A050-1ACE06D8D53C}" srcOrd="3" destOrd="0" presId="urn:microsoft.com/office/officeart/2005/8/layout/hList1"/>
    <dgm:cxn modelId="{E850AF27-FFD8-456E-8EE3-FDFB6066E5FD}" type="presParOf" srcId="{E9B21733-7BB6-4A99-8E37-379C5930CE3A}" destId="{8B1BE94F-33BC-465C-9F17-987BD8352CE2}" srcOrd="4" destOrd="0" presId="urn:microsoft.com/office/officeart/2005/8/layout/hList1"/>
    <dgm:cxn modelId="{4F5FF6E3-1167-4EF5-AD40-FCA85E6F15DE}" type="presParOf" srcId="{8B1BE94F-33BC-465C-9F17-987BD8352CE2}" destId="{6ED6AAB4-D8D6-4DBE-9992-D9F76D599C4A}" srcOrd="0" destOrd="0" presId="urn:microsoft.com/office/officeart/2005/8/layout/hList1"/>
    <dgm:cxn modelId="{7B883669-117B-41DD-9277-EF06C896A2C5}" type="presParOf" srcId="{8B1BE94F-33BC-465C-9F17-987BD8352CE2}" destId="{82D12ED1-89F6-451D-B4C4-C797C8DCB78A}" srcOrd="1" destOrd="0" presId="urn:microsoft.com/office/officeart/2005/8/layout/hList1"/>
    <dgm:cxn modelId="{3EFB37F5-71E0-42A4-829C-9B6A92209050}" type="presParOf" srcId="{E9B21733-7BB6-4A99-8E37-379C5930CE3A}" destId="{57E63356-42A4-4368-B07D-45A82186A4B9}" srcOrd="5" destOrd="0" presId="urn:microsoft.com/office/officeart/2005/8/layout/hList1"/>
    <dgm:cxn modelId="{2A26E75B-3006-4B95-8AAB-8C4610B4BFFE}" type="presParOf" srcId="{E9B21733-7BB6-4A99-8E37-379C5930CE3A}" destId="{326CBDB0-752B-4723-A711-68B4B17A82AC}" srcOrd="6" destOrd="0" presId="urn:microsoft.com/office/officeart/2005/8/layout/hList1"/>
    <dgm:cxn modelId="{73E5DB62-BC7C-486B-917B-E9B6842E48DD}" type="presParOf" srcId="{326CBDB0-752B-4723-A711-68B4B17A82AC}" destId="{3FF9F6A2-6176-42E6-8FEC-48AD00B725D4}" srcOrd="0" destOrd="0" presId="urn:microsoft.com/office/officeart/2005/8/layout/hList1"/>
    <dgm:cxn modelId="{34289292-7D7E-4DA2-B5EE-6A03789E302B}" type="presParOf" srcId="{326CBDB0-752B-4723-A711-68B4B17A82AC}" destId="{69CEA116-4416-40CD-9724-308CED7B3577}" srcOrd="1" destOrd="0" presId="urn:microsoft.com/office/officeart/2005/8/layout/hList1"/>
    <dgm:cxn modelId="{307E3A4A-DA58-4B29-9BD5-072A03F6F714}" type="presParOf" srcId="{E9B21733-7BB6-4A99-8E37-379C5930CE3A}" destId="{A9BCE34A-C868-42F9-928F-DD1EC53C2F80}" srcOrd="7" destOrd="0" presId="urn:microsoft.com/office/officeart/2005/8/layout/hList1"/>
    <dgm:cxn modelId="{5CCC8D0C-1A88-4280-80AA-D40526083117}" type="presParOf" srcId="{E9B21733-7BB6-4A99-8E37-379C5930CE3A}" destId="{8A4F6438-EEF9-468E-92CB-2DFC94A4B735}" srcOrd="8" destOrd="0" presId="urn:microsoft.com/office/officeart/2005/8/layout/hList1"/>
    <dgm:cxn modelId="{A9AC19A8-35B1-401C-8C1B-08E80BF707AF}" type="presParOf" srcId="{8A4F6438-EEF9-468E-92CB-2DFC94A4B735}" destId="{3779BE41-0D64-4C2D-AE03-93E12D9C92E5}" srcOrd="0" destOrd="0" presId="urn:microsoft.com/office/officeart/2005/8/layout/hList1"/>
    <dgm:cxn modelId="{F8F12608-0E9C-46F8-8F43-48363E2BF3F9}" type="presParOf" srcId="{8A4F6438-EEF9-468E-92CB-2DFC94A4B735}" destId="{03506B63-4BB1-4B48-9704-242B0193500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429D3C9-1FCE-42C5-BB34-F18CCCEEA367}" type="doc">
      <dgm:prSet loTypeId="urn:microsoft.com/office/officeart/2008/layout/NameandTitleOrganizationalChart" loCatId="hierarchy" qsTypeId="urn:microsoft.com/office/officeart/2005/8/quickstyle/simple2" qsCatId="simple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53639930-9446-41CC-A6D8-A90FE99736B5}">
      <dgm:prSet phldrT="[Text]" phldr="0" custT="1"/>
      <dgm:spPr/>
      <dgm:t>
        <a:bodyPr/>
        <a:lstStyle/>
        <a:p>
          <a:r>
            <a:rPr lang="en-US" sz="1800" dirty="0">
              <a:latin typeface="Cambria Math" panose="02040503050406030204" pitchFamily="18" charset="0"/>
              <a:ea typeface="Cambria Math" panose="02040503050406030204" pitchFamily="18" charset="0"/>
            </a:rPr>
            <a:t>Push button</a:t>
          </a:r>
          <a:endParaRPr lang="en-IN" sz="1800" dirty="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F4863093-57D2-44D9-9F8D-2D4327581EB0}" type="parTrans" cxnId="{1A055615-3A76-4408-B26D-0F721ADE74B4}">
      <dgm:prSet/>
      <dgm:spPr/>
      <dgm:t>
        <a:bodyPr/>
        <a:lstStyle/>
        <a:p>
          <a:endParaRPr lang="en-IN" sz="180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7B01FAA2-9E75-48F3-BFF5-ABBB95B2C9C9}" type="sibTrans" cxnId="{1A055615-3A76-4408-B26D-0F721ADE74B4}">
      <dgm:prSet custT="1"/>
      <dgm:spPr/>
      <dgm:t>
        <a:bodyPr/>
        <a:lstStyle/>
        <a:p>
          <a:pPr algn="ctr"/>
          <a:r>
            <a:rPr lang="en-US" sz="1600" dirty="0">
              <a:latin typeface="Cambria Math" panose="02040503050406030204" pitchFamily="18" charset="0"/>
              <a:ea typeface="Cambria Math" panose="02040503050406030204" pitchFamily="18" charset="0"/>
            </a:rPr>
            <a:t>Switch that operates when pressed</a:t>
          </a:r>
          <a:endParaRPr lang="en-IN" sz="1600" dirty="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98CB38B0-5E28-479B-B32C-8720E4152840}">
      <dgm:prSet phldrT="[Text]" phldr="0" custT="1"/>
      <dgm:spPr/>
      <dgm:t>
        <a:bodyPr/>
        <a:lstStyle/>
        <a:p>
          <a:r>
            <a:rPr lang="en-US" sz="1800" dirty="0">
              <a:latin typeface="Cambria Math" panose="02040503050406030204" pitchFamily="18" charset="0"/>
              <a:ea typeface="Cambria Math" panose="02040503050406030204" pitchFamily="18" charset="0"/>
            </a:rPr>
            <a:t>Momentary Push button</a:t>
          </a:r>
          <a:endParaRPr lang="en-IN" sz="1800" dirty="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FB3DC615-AEDD-4BA8-B8FE-2F54B103E88A}" type="parTrans" cxnId="{F44DF917-D17E-4064-BA9B-DD0C447093C5}">
      <dgm:prSet/>
      <dgm:spPr/>
      <dgm:t>
        <a:bodyPr/>
        <a:lstStyle/>
        <a:p>
          <a:endParaRPr lang="en-IN" sz="180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0181726A-D071-4575-B1A0-7D133EF89FDD}" type="sibTrans" cxnId="{F44DF917-D17E-4064-BA9B-DD0C447093C5}">
      <dgm:prSet/>
      <dgm:spPr/>
      <dgm:t>
        <a:bodyPr/>
        <a:lstStyle/>
        <a:p>
          <a:pPr algn="ctr"/>
          <a:r>
            <a:rPr lang="en-US" sz="1800" dirty="0">
              <a:latin typeface="Cambria Math" panose="02040503050406030204" pitchFamily="18" charset="0"/>
              <a:ea typeface="Cambria Math" panose="02040503050406030204" pitchFamily="18" charset="0"/>
            </a:rPr>
            <a:t>Works only when pressed</a:t>
          </a:r>
          <a:endParaRPr lang="en-IN" sz="1800" dirty="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643F78CF-A809-4366-B612-2FD03CD0AA7B}">
      <dgm:prSet phldrT="[Text]" phldr="0" custT="1"/>
      <dgm:spPr/>
      <dgm:t>
        <a:bodyPr/>
        <a:lstStyle/>
        <a:p>
          <a:r>
            <a:rPr lang="en-US" sz="1800" dirty="0">
              <a:latin typeface="Cambria Math" panose="02040503050406030204" pitchFamily="18" charset="0"/>
              <a:ea typeface="Cambria Math" panose="02040503050406030204" pitchFamily="18" charset="0"/>
            </a:rPr>
            <a:t>Latching Push button </a:t>
          </a:r>
          <a:endParaRPr lang="en-IN" sz="1800" dirty="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CE475462-81FF-4A6E-9115-807DD5971C03}" type="parTrans" cxnId="{E6D0AD44-487E-4394-9D3F-387C2940CD3C}">
      <dgm:prSet/>
      <dgm:spPr/>
      <dgm:t>
        <a:bodyPr/>
        <a:lstStyle/>
        <a:p>
          <a:endParaRPr lang="en-IN" sz="180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6A66A752-F9E4-4C59-8FF9-317E15507AEA}" type="sibTrans" cxnId="{E6D0AD44-487E-4394-9D3F-387C2940CD3C}">
      <dgm:prSet/>
      <dgm:spPr/>
      <dgm:t>
        <a:bodyPr/>
        <a:lstStyle/>
        <a:p>
          <a:pPr algn="ctr"/>
          <a:r>
            <a:rPr lang="en-US" sz="1800" dirty="0">
              <a:latin typeface="Cambria Math" panose="02040503050406030204" pitchFamily="18" charset="0"/>
              <a:ea typeface="Cambria Math" panose="02040503050406030204" pitchFamily="18" charset="0"/>
            </a:rPr>
            <a:t>Stays ON or OFF after pressing</a:t>
          </a:r>
          <a:endParaRPr lang="en-IN" sz="1800" dirty="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ED1770E2-1E0C-421F-8F44-B99737BF6D82}">
      <dgm:prSet phldrT="[Text]" phldr="0" custT="1"/>
      <dgm:spPr/>
      <dgm:t>
        <a:bodyPr/>
        <a:lstStyle/>
        <a:p>
          <a:r>
            <a:rPr lang="en-US" sz="1800" dirty="0">
              <a:latin typeface="Cambria Math" panose="02040503050406030204" pitchFamily="18" charset="0"/>
              <a:ea typeface="Cambria Math" panose="02040503050406030204" pitchFamily="18" charset="0"/>
            </a:rPr>
            <a:t>Based on Operation</a:t>
          </a:r>
          <a:endParaRPr lang="en-IN" sz="1800" dirty="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9CF7212E-F217-410C-9FBE-995F85529E5E}" type="parTrans" cxnId="{84D32CF7-BCFB-414F-800A-65657CA01661}">
      <dgm:prSet/>
      <dgm:spPr/>
      <dgm:t>
        <a:bodyPr/>
        <a:lstStyle/>
        <a:p>
          <a:endParaRPr lang="en-IN" sz="180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5D8F447A-D022-4768-925B-CD50E4BB5AE3}" type="sibTrans" cxnId="{84D32CF7-BCFB-414F-800A-65657CA01661}">
      <dgm:prSet/>
      <dgm:spPr>
        <a:ln>
          <a:solidFill>
            <a:schemeClr val="bg1"/>
          </a:solidFill>
        </a:ln>
      </dgm:spPr>
      <dgm:t>
        <a:bodyPr/>
        <a:lstStyle/>
        <a:p>
          <a:endParaRPr lang="en-IN" sz="180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34442D7B-6401-4D59-ADB8-57AF4A5D19AF}">
      <dgm:prSet phldrT="[Text]" phldr="0" custT="1"/>
      <dgm:spPr/>
      <dgm:t>
        <a:bodyPr/>
        <a:lstStyle/>
        <a:p>
          <a:r>
            <a:rPr lang="en-US" sz="1800">
              <a:latin typeface="Cambria Math" panose="02040503050406030204" pitchFamily="18" charset="0"/>
              <a:ea typeface="Cambria Math" panose="02040503050406030204" pitchFamily="18" charset="0"/>
            </a:rPr>
            <a:t>Based on Contact type</a:t>
          </a:r>
          <a:endParaRPr lang="en-IN" sz="1800" dirty="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89ED18ED-8C19-4CEC-93C1-5C129B7E9BB9}" type="parTrans" cxnId="{98982534-7810-42A4-8083-0C722EB6D4A6}">
      <dgm:prSet/>
      <dgm:spPr/>
      <dgm:t>
        <a:bodyPr/>
        <a:lstStyle/>
        <a:p>
          <a:endParaRPr lang="en-IN" sz="180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63B0E404-DC84-4B25-9728-9B036914398A}" type="sibTrans" cxnId="{98982534-7810-42A4-8083-0C722EB6D4A6}">
      <dgm:prSet/>
      <dgm:spPr>
        <a:ln>
          <a:solidFill>
            <a:schemeClr val="bg1"/>
          </a:solidFill>
        </a:ln>
      </dgm:spPr>
      <dgm:t>
        <a:bodyPr/>
        <a:lstStyle/>
        <a:p>
          <a:endParaRPr lang="en-IN" sz="180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96A7A6F0-4C56-4FF7-92C5-684AB733272B}">
      <dgm:prSet phldrT="[Text]" phldr="0" custT="1"/>
      <dgm:spPr/>
      <dgm:t>
        <a:bodyPr/>
        <a:lstStyle/>
        <a:p>
          <a:r>
            <a:rPr lang="en-US" sz="1800">
              <a:latin typeface="Cambria Math" panose="02040503050406030204" pitchFamily="18" charset="0"/>
              <a:ea typeface="Cambria Math" panose="02040503050406030204" pitchFamily="18" charset="0"/>
            </a:rPr>
            <a:t>Normally Open (NO)</a:t>
          </a:r>
          <a:endParaRPr lang="en-IN" sz="1800" dirty="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C906BE7B-55FC-44A1-B4A8-0D55FFA105E0}" type="parTrans" cxnId="{21208840-63AE-4C05-A608-453DD1EE5135}">
      <dgm:prSet/>
      <dgm:spPr/>
      <dgm:t>
        <a:bodyPr/>
        <a:lstStyle/>
        <a:p>
          <a:endParaRPr lang="en-IN" sz="180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15834CC4-CE46-4A5B-B7C0-162FE22EB33E}" type="sibTrans" cxnId="{21208840-63AE-4C05-A608-453DD1EE5135}">
      <dgm:prSet/>
      <dgm:spPr/>
      <dgm:t>
        <a:bodyPr/>
        <a:lstStyle/>
        <a:p>
          <a:pPr algn="ctr"/>
          <a:r>
            <a:rPr lang="en-US" sz="1800" dirty="0">
              <a:latin typeface="Cambria Math" panose="02040503050406030204" pitchFamily="18" charset="0"/>
              <a:ea typeface="Cambria Math" panose="02040503050406030204" pitchFamily="18" charset="0"/>
            </a:rPr>
            <a:t>Circuit closes when pressed</a:t>
          </a:r>
          <a:endParaRPr lang="en-IN" sz="1800" dirty="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365F496E-FFB6-49BA-A34E-3C48BB2D47B2}">
      <dgm:prSet phldrT="[Text]" phldr="0" custT="1"/>
      <dgm:spPr/>
      <dgm:t>
        <a:bodyPr/>
        <a:lstStyle/>
        <a:p>
          <a:r>
            <a:rPr lang="en-US" sz="1800" dirty="0">
              <a:latin typeface="Cambria Math" panose="02040503050406030204" pitchFamily="18" charset="0"/>
              <a:ea typeface="Cambria Math" panose="02040503050406030204" pitchFamily="18" charset="0"/>
            </a:rPr>
            <a:t>Normally Closed (NC)</a:t>
          </a:r>
          <a:endParaRPr lang="en-IN" sz="1800" dirty="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2C6985D8-A087-41D8-A75B-0052DE4F74E6}" type="parTrans" cxnId="{DDAC9D09-E711-4E7C-B510-2905FC9902C9}">
      <dgm:prSet/>
      <dgm:spPr/>
      <dgm:t>
        <a:bodyPr/>
        <a:lstStyle/>
        <a:p>
          <a:endParaRPr lang="en-IN" sz="180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7AEADEEA-2631-4F31-98CF-08A2961D60CE}" type="sibTrans" cxnId="{DDAC9D09-E711-4E7C-B510-2905FC9902C9}">
      <dgm:prSet/>
      <dgm:spPr/>
      <dgm:t>
        <a:bodyPr/>
        <a:lstStyle/>
        <a:p>
          <a:pPr algn="ctr"/>
          <a:r>
            <a:rPr lang="en-US" sz="1800" dirty="0">
              <a:latin typeface="Cambria Math" panose="02040503050406030204" pitchFamily="18" charset="0"/>
              <a:ea typeface="Cambria Math" panose="02040503050406030204" pitchFamily="18" charset="0"/>
            </a:rPr>
            <a:t>Circuit opens when pressed</a:t>
          </a:r>
          <a:endParaRPr lang="en-IN" sz="1800" dirty="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AE80C0E3-524C-4460-B3E6-A2EE96FB6F4E}" type="pres">
      <dgm:prSet presAssocID="{0429D3C9-1FCE-42C5-BB34-F18CCCEEA36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E13F6E4-F296-40C9-88E1-F5E8C790F363}" type="pres">
      <dgm:prSet presAssocID="{53639930-9446-41CC-A6D8-A90FE99736B5}" presName="hierRoot1" presStyleCnt="0">
        <dgm:presLayoutVars>
          <dgm:hierBranch val="init"/>
        </dgm:presLayoutVars>
      </dgm:prSet>
      <dgm:spPr/>
    </dgm:pt>
    <dgm:pt modelId="{973B031E-DCAD-4BCD-84FA-C0D9F42BDF88}" type="pres">
      <dgm:prSet presAssocID="{53639930-9446-41CC-A6D8-A90FE99736B5}" presName="rootComposite1" presStyleCnt="0"/>
      <dgm:spPr/>
    </dgm:pt>
    <dgm:pt modelId="{691F3073-C169-40C2-B6E6-397038B2543D}" type="pres">
      <dgm:prSet presAssocID="{53639930-9446-41CC-A6D8-A90FE99736B5}" presName="rootText1" presStyleLbl="node0" presStyleIdx="0" presStyleCnt="1">
        <dgm:presLayoutVars>
          <dgm:chMax/>
          <dgm:chPref val="3"/>
        </dgm:presLayoutVars>
      </dgm:prSet>
      <dgm:spPr/>
    </dgm:pt>
    <dgm:pt modelId="{55A68517-89D7-4125-8B6C-22F5168F34F8}" type="pres">
      <dgm:prSet presAssocID="{53639930-9446-41CC-A6D8-A90FE99736B5}" presName="titleText1" presStyleLbl="fgAcc0" presStyleIdx="0" presStyleCnt="1" custScaleX="190937">
        <dgm:presLayoutVars>
          <dgm:chMax val="0"/>
          <dgm:chPref val="0"/>
        </dgm:presLayoutVars>
      </dgm:prSet>
      <dgm:spPr/>
    </dgm:pt>
    <dgm:pt modelId="{92134F33-A86A-4988-9589-143EEC593024}" type="pres">
      <dgm:prSet presAssocID="{53639930-9446-41CC-A6D8-A90FE99736B5}" presName="rootConnector1" presStyleLbl="node1" presStyleIdx="0" presStyleCnt="6"/>
      <dgm:spPr/>
    </dgm:pt>
    <dgm:pt modelId="{2F82EA15-6A4C-4B10-9626-B5BFB5A4BEDA}" type="pres">
      <dgm:prSet presAssocID="{53639930-9446-41CC-A6D8-A90FE99736B5}" presName="hierChild2" presStyleCnt="0"/>
      <dgm:spPr/>
    </dgm:pt>
    <dgm:pt modelId="{B1DCBB11-9360-4C00-8378-B676A518D5F7}" type="pres">
      <dgm:prSet presAssocID="{9CF7212E-F217-410C-9FBE-995F85529E5E}" presName="Name37" presStyleLbl="parChTrans1D2" presStyleIdx="0" presStyleCnt="2"/>
      <dgm:spPr/>
    </dgm:pt>
    <dgm:pt modelId="{D916E9B3-5625-4E1D-B9E1-2C29B3DED59E}" type="pres">
      <dgm:prSet presAssocID="{ED1770E2-1E0C-421F-8F44-B99737BF6D82}" presName="hierRoot2" presStyleCnt="0">
        <dgm:presLayoutVars>
          <dgm:hierBranch val="init"/>
        </dgm:presLayoutVars>
      </dgm:prSet>
      <dgm:spPr/>
    </dgm:pt>
    <dgm:pt modelId="{D78D24EF-80C7-4234-A8CB-DF9CCCC83192}" type="pres">
      <dgm:prSet presAssocID="{ED1770E2-1E0C-421F-8F44-B99737BF6D82}" presName="rootComposite" presStyleCnt="0"/>
      <dgm:spPr/>
    </dgm:pt>
    <dgm:pt modelId="{9A90C9F4-F221-4F93-8FCE-D5751B3010F6}" type="pres">
      <dgm:prSet presAssocID="{ED1770E2-1E0C-421F-8F44-B99737BF6D82}" presName="rootText" presStyleLbl="node1" presStyleIdx="0" presStyleCnt="6">
        <dgm:presLayoutVars>
          <dgm:chMax/>
          <dgm:chPref val="3"/>
        </dgm:presLayoutVars>
      </dgm:prSet>
      <dgm:spPr/>
    </dgm:pt>
    <dgm:pt modelId="{1C5F48BA-AD74-4F0E-A126-71B28B391BD6}" type="pres">
      <dgm:prSet presAssocID="{ED1770E2-1E0C-421F-8F44-B99737BF6D82}" presName="titleText2" presStyleLbl="fgAcc1" presStyleIdx="0" presStyleCnt="6" custLinFactY="-321881" custLinFactNeighborX="-29895" custLinFactNeighborY="-400000">
        <dgm:presLayoutVars>
          <dgm:chMax val="0"/>
          <dgm:chPref val="0"/>
        </dgm:presLayoutVars>
      </dgm:prSet>
      <dgm:spPr/>
    </dgm:pt>
    <dgm:pt modelId="{3126D953-EC53-4ECE-9A63-3F2ACB2310EF}" type="pres">
      <dgm:prSet presAssocID="{ED1770E2-1E0C-421F-8F44-B99737BF6D82}" presName="rootConnector" presStyleLbl="node2" presStyleIdx="0" presStyleCnt="0"/>
      <dgm:spPr/>
    </dgm:pt>
    <dgm:pt modelId="{A5469869-962B-4904-9062-6F37017A5A27}" type="pres">
      <dgm:prSet presAssocID="{ED1770E2-1E0C-421F-8F44-B99737BF6D82}" presName="hierChild4" presStyleCnt="0"/>
      <dgm:spPr/>
    </dgm:pt>
    <dgm:pt modelId="{C8E10717-676C-42E6-B601-7591D6B53B76}" type="pres">
      <dgm:prSet presAssocID="{FB3DC615-AEDD-4BA8-B8FE-2F54B103E88A}" presName="Name37" presStyleLbl="parChTrans1D3" presStyleIdx="0" presStyleCnt="4"/>
      <dgm:spPr/>
    </dgm:pt>
    <dgm:pt modelId="{C8C456AC-DF56-4345-8720-28FA6E2866E9}" type="pres">
      <dgm:prSet presAssocID="{98CB38B0-5E28-479B-B32C-8720E4152840}" presName="hierRoot2" presStyleCnt="0">
        <dgm:presLayoutVars>
          <dgm:hierBranch val="init"/>
        </dgm:presLayoutVars>
      </dgm:prSet>
      <dgm:spPr/>
    </dgm:pt>
    <dgm:pt modelId="{93FB67D3-FE4B-4699-A2ED-B317617B3D9D}" type="pres">
      <dgm:prSet presAssocID="{98CB38B0-5E28-479B-B32C-8720E4152840}" presName="rootComposite" presStyleCnt="0"/>
      <dgm:spPr/>
    </dgm:pt>
    <dgm:pt modelId="{D7B58526-515A-45A6-BC16-339AA9BFD774}" type="pres">
      <dgm:prSet presAssocID="{98CB38B0-5E28-479B-B32C-8720E4152840}" presName="rootText" presStyleLbl="node1" presStyleIdx="1" presStyleCnt="6">
        <dgm:presLayoutVars>
          <dgm:chMax/>
          <dgm:chPref val="3"/>
        </dgm:presLayoutVars>
      </dgm:prSet>
      <dgm:spPr/>
    </dgm:pt>
    <dgm:pt modelId="{A4208209-02CC-4903-BF14-D5BA899C5254}" type="pres">
      <dgm:prSet presAssocID="{98CB38B0-5E28-479B-B32C-8720E4152840}" presName="titleText2" presStyleLbl="fgAcc1" presStyleIdx="1" presStyleCnt="6">
        <dgm:presLayoutVars>
          <dgm:chMax val="0"/>
          <dgm:chPref val="0"/>
        </dgm:presLayoutVars>
      </dgm:prSet>
      <dgm:spPr/>
    </dgm:pt>
    <dgm:pt modelId="{53B08518-C57B-4CDC-BAAF-82C791DB35EC}" type="pres">
      <dgm:prSet presAssocID="{98CB38B0-5E28-479B-B32C-8720E4152840}" presName="rootConnector" presStyleLbl="node3" presStyleIdx="0" presStyleCnt="0"/>
      <dgm:spPr/>
    </dgm:pt>
    <dgm:pt modelId="{C4477B03-162D-4F38-BEAD-E6A0475FABCB}" type="pres">
      <dgm:prSet presAssocID="{98CB38B0-5E28-479B-B32C-8720E4152840}" presName="hierChild4" presStyleCnt="0"/>
      <dgm:spPr/>
    </dgm:pt>
    <dgm:pt modelId="{A96E6C57-5E4B-4DE2-BCDE-3285E02D7106}" type="pres">
      <dgm:prSet presAssocID="{98CB38B0-5E28-479B-B32C-8720E4152840}" presName="hierChild5" presStyleCnt="0"/>
      <dgm:spPr/>
    </dgm:pt>
    <dgm:pt modelId="{5EDE1FC5-757E-4082-A4F8-DA3D88C9F098}" type="pres">
      <dgm:prSet presAssocID="{CE475462-81FF-4A6E-9115-807DD5971C03}" presName="Name37" presStyleLbl="parChTrans1D3" presStyleIdx="1" presStyleCnt="4"/>
      <dgm:spPr/>
    </dgm:pt>
    <dgm:pt modelId="{0C9EC3E0-977B-42E6-82FE-B5E5C6333F84}" type="pres">
      <dgm:prSet presAssocID="{643F78CF-A809-4366-B612-2FD03CD0AA7B}" presName="hierRoot2" presStyleCnt="0">
        <dgm:presLayoutVars>
          <dgm:hierBranch val="init"/>
        </dgm:presLayoutVars>
      </dgm:prSet>
      <dgm:spPr/>
    </dgm:pt>
    <dgm:pt modelId="{C7B07104-50BB-4DFA-A9F4-2FAA19D66366}" type="pres">
      <dgm:prSet presAssocID="{643F78CF-A809-4366-B612-2FD03CD0AA7B}" presName="rootComposite" presStyleCnt="0"/>
      <dgm:spPr/>
    </dgm:pt>
    <dgm:pt modelId="{9F891F23-E595-463F-85F4-4D49F409855B}" type="pres">
      <dgm:prSet presAssocID="{643F78CF-A809-4366-B612-2FD03CD0AA7B}" presName="rootText" presStyleLbl="node1" presStyleIdx="2" presStyleCnt="6">
        <dgm:presLayoutVars>
          <dgm:chMax/>
          <dgm:chPref val="3"/>
        </dgm:presLayoutVars>
      </dgm:prSet>
      <dgm:spPr/>
    </dgm:pt>
    <dgm:pt modelId="{A567E479-C32C-4CDD-82C3-24DA60363193}" type="pres">
      <dgm:prSet presAssocID="{643F78CF-A809-4366-B612-2FD03CD0AA7B}" presName="titleText2" presStyleLbl="fgAcc1" presStyleIdx="2" presStyleCnt="6">
        <dgm:presLayoutVars>
          <dgm:chMax val="0"/>
          <dgm:chPref val="0"/>
        </dgm:presLayoutVars>
      </dgm:prSet>
      <dgm:spPr/>
    </dgm:pt>
    <dgm:pt modelId="{8A837ECC-E9C7-4978-ADF0-9A9A8FE66CB1}" type="pres">
      <dgm:prSet presAssocID="{643F78CF-A809-4366-B612-2FD03CD0AA7B}" presName="rootConnector" presStyleLbl="node3" presStyleIdx="0" presStyleCnt="0"/>
      <dgm:spPr/>
    </dgm:pt>
    <dgm:pt modelId="{80CE7BBC-CD00-44E9-BB09-B8C2292AEE6D}" type="pres">
      <dgm:prSet presAssocID="{643F78CF-A809-4366-B612-2FD03CD0AA7B}" presName="hierChild4" presStyleCnt="0"/>
      <dgm:spPr/>
    </dgm:pt>
    <dgm:pt modelId="{02E91138-D8D5-4D67-9AEE-3E86A1F2E752}" type="pres">
      <dgm:prSet presAssocID="{643F78CF-A809-4366-B612-2FD03CD0AA7B}" presName="hierChild5" presStyleCnt="0"/>
      <dgm:spPr/>
    </dgm:pt>
    <dgm:pt modelId="{BDFE78B1-6A54-488A-92D7-28C3804FAC7B}" type="pres">
      <dgm:prSet presAssocID="{ED1770E2-1E0C-421F-8F44-B99737BF6D82}" presName="hierChild5" presStyleCnt="0"/>
      <dgm:spPr/>
    </dgm:pt>
    <dgm:pt modelId="{808323AB-D145-499E-9C27-A91BED624731}" type="pres">
      <dgm:prSet presAssocID="{89ED18ED-8C19-4CEC-93C1-5C129B7E9BB9}" presName="Name37" presStyleLbl="parChTrans1D2" presStyleIdx="1" presStyleCnt="2"/>
      <dgm:spPr/>
    </dgm:pt>
    <dgm:pt modelId="{1E3F53AA-F00D-4C60-AEE1-FF356A59352D}" type="pres">
      <dgm:prSet presAssocID="{34442D7B-6401-4D59-ADB8-57AF4A5D19AF}" presName="hierRoot2" presStyleCnt="0">
        <dgm:presLayoutVars>
          <dgm:hierBranch val="init"/>
        </dgm:presLayoutVars>
      </dgm:prSet>
      <dgm:spPr/>
    </dgm:pt>
    <dgm:pt modelId="{DF58ABA9-ED6E-4EF4-998F-2F91514B5D2A}" type="pres">
      <dgm:prSet presAssocID="{34442D7B-6401-4D59-ADB8-57AF4A5D19AF}" presName="rootComposite" presStyleCnt="0"/>
      <dgm:spPr/>
    </dgm:pt>
    <dgm:pt modelId="{505F4E83-621A-4669-882E-F81BAAF361C9}" type="pres">
      <dgm:prSet presAssocID="{34442D7B-6401-4D59-ADB8-57AF4A5D19AF}" presName="rootText" presStyleLbl="node1" presStyleIdx="3" presStyleCnt="6">
        <dgm:presLayoutVars>
          <dgm:chMax/>
          <dgm:chPref val="3"/>
        </dgm:presLayoutVars>
      </dgm:prSet>
      <dgm:spPr/>
    </dgm:pt>
    <dgm:pt modelId="{C0A5BB05-11E6-473A-A6BE-D815161A0327}" type="pres">
      <dgm:prSet presAssocID="{34442D7B-6401-4D59-ADB8-57AF4A5D19AF}" presName="titleText2" presStyleLbl="fgAcc1" presStyleIdx="3" presStyleCnt="6" custLinFactY="-311713" custLinFactNeighborX="5199" custLinFactNeighborY="-400000">
        <dgm:presLayoutVars>
          <dgm:chMax val="0"/>
          <dgm:chPref val="0"/>
        </dgm:presLayoutVars>
      </dgm:prSet>
      <dgm:spPr/>
    </dgm:pt>
    <dgm:pt modelId="{0C483BEC-F455-40DD-9C1A-9478B8FC5E6A}" type="pres">
      <dgm:prSet presAssocID="{34442D7B-6401-4D59-ADB8-57AF4A5D19AF}" presName="rootConnector" presStyleLbl="node2" presStyleIdx="0" presStyleCnt="0"/>
      <dgm:spPr/>
    </dgm:pt>
    <dgm:pt modelId="{C129D337-1085-4F09-8C8E-2A910316D948}" type="pres">
      <dgm:prSet presAssocID="{34442D7B-6401-4D59-ADB8-57AF4A5D19AF}" presName="hierChild4" presStyleCnt="0"/>
      <dgm:spPr/>
    </dgm:pt>
    <dgm:pt modelId="{AB01452D-FE44-4549-9B1C-09407547B3C6}" type="pres">
      <dgm:prSet presAssocID="{C906BE7B-55FC-44A1-B4A8-0D55FFA105E0}" presName="Name37" presStyleLbl="parChTrans1D3" presStyleIdx="2" presStyleCnt="4"/>
      <dgm:spPr/>
    </dgm:pt>
    <dgm:pt modelId="{E5811778-6A16-4295-A0AC-FC16781FD1F0}" type="pres">
      <dgm:prSet presAssocID="{96A7A6F0-4C56-4FF7-92C5-684AB733272B}" presName="hierRoot2" presStyleCnt="0">
        <dgm:presLayoutVars>
          <dgm:hierBranch val="init"/>
        </dgm:presLayoutVars>
      </dgm:prSet>
      <dgm:spPr/>
    </dgm:pt>
    <dgm:pt modelId="{C80DB2B7-08AC-40F2-BC77-490779B10FBA}" type="pres">
      <dgm:prSet presAssocID="{96A7A6F0-4C56-4FF7-92C5-684AB733272B}" presName="rootComposite" presStyleCnt="0"/>
      <dgm:spPr/>
    </dgm:pt>
    <dgm:pt modelId="{19DBB5F4-027A-4942-9933-BAA6F6C82E60}" type="pres">
      <dgm:prSet presAssocID="{96A7A6F0-4C56-4FF7-92C5-684AB733272B}" presName="rootText" presStyleLbl="node1" presStyleIdx="4" presStyleCnt="6">
        <dgm:presLayoutVars>
          <dgm:chMax/>
          <dgm:chPref val="3"/>
        </dgm:presLayoutVars>
      </dgm:prSet>
      <dgm:spPr/>
    </dgm:pt>
    <dgm:pt modelId="{54D48F25-350A-4586-8816-65F02C77205D}" type="pres">
      <dgm:prSet presAssocID="{96A7A6F0-4C56-4FF7-92C5-684AB733272B}" presName="titleText2" presStyleLbl="fgAcc1" presStyleIdx="4" presStyleCnt="6">
        <dgm:presLayoutVars>
          <dgm:chMax val="0"/>
          <dgm:chPref val="0"/>
        </dgm:presLayoutVars>
      </dgm:prSet>
      <dgm:spPr/>
    </dgm:pt>
    <dgm:pt modelId="{7322A9A6-D140-48F8-AC34-6D44E7916CBC}" type="pres">
      <dgm:prSet presAssocID="{96A7A6F0-4C56-4FF7-92C5-684AB733272B}" presName="rootConnector" presStyleLbl="node3" presStyleIdx="0" presStyleCnt="0"/>
      <dgm:spPr/>
    </dgm:pt>
    <dgm:pt modelId="{016121F9-0DAD-40FA-9E76-2BB3860024CB}" type="pres">
      <dgm:prSet presAssocID="{96A7A6F0-4C56-4FF7-92C5-684AB733272B}" presName="hierChild4" presStyleCnt="0"/>
      <dgm:spPr/>
    </dgm:pt>
    <dgm:pt modelId="{80334AFB-5BC6-4FBC-B479-793EE681113B}" type="pres">
      <dgm:prSet presAssocID="{96A7A6F0-4C56-4FF7-92C5-684AB733272B}" presName="hierChild5" presStyleCnt="0"/>
      <dgm:spPr/>
    </dgm:pt>
    <dgm:pt modelId="{48FF5814-842F-4242-ABF6-C35CE056C721}" type="pres">
      <dgm:prSet presAssocID="{2C6985D8-A087-41D8-A75B-0052DE4F74E6}" presName="Name37" presStyleLbl="parChTrans1D3" presStyleIdx="3" presStyleCnt="4"/>
      <dgm:spPr/>
    </dgm:pt>
    <dgm:pt modelId="{6A33F4F5-AEDD-44D3-A40C-6227CECC9264}" type="pres">
      <dgm:prSet presAssocID="{365F496E-FFB6-49BA-A34E-3C48BB2D47B2}" presName="hierRoot2" presStyleCnt="0">
        <dgm:presLayoutVars>
          <dgm:hierBranch val="init"/>
        </dgm:presLayoutVars>
      </dgm:prSet>
      <dgm:spPr/>
    </dgm:pt>
    <dgm:pt modelId="{B0413D29-7D12-4B8E-B6A9-0EA3AF4DF82C}" type="pres">
      <dgm:prSet presAssocID="{365F496E-FFB6-49BA-A34E-3C48BB2D47B2}" presName="rootComposite" presStyleCnt="0"/>
      <dgm:spPr/>
    </dgm:pt>
    <dgm:pt modelId="{9207E898-C10F-488A-95E3-DD2753537A57}" type="pres">
      <dgm:prSet presAssocID="{365F496E-FFB6-49BA-A34E-3C48BB2D47B2}" presName="rootText" presStyleLbl="node1" presStyleIdx="5" presStyleCnt="6">
        <dgm:presLayoutVars>
          <dgm:chMax/>
          <dgm:chPref val="3"/>
        </dgm:presLayoutVars>
      </dgm:prSet>
      <dgm:spPr/>
    </dgm:pt>
    <dgm:pt modelId="{F86986EA-2EDF-4E61-B37B-B33D3790F6CE}" type="pres">
      <dgm:prSet presAssocID="{365F496E-FFB6-49BA-A34E-3C48BB2D47B2}" presName="titleText2" presStyleLbl="fgAcc1" presStyleIdx="5" presStyleCnt="6">
        <dgm:presLayoutVars>
          <dgm:chMax val="0"/>
          <dgm:chPref val="0"/>
        </dgm:presLayoutVars>
      </dgm:prSet>
      <dgm:spPr/>
    </dgm:pt>
    <dgm:pt modelId="{A87102D9-8133-4F44-8116-309446D4DC75}" type="pres">
      <dgm:prSet presAssocID="{365F496E-FFB6-49BA-A34E-3C48BB2D47B2}" presName="rootConnector" presStyleLbl="node3" presStyleIdx="0" presStyleCnt="0"/>
      <dgm:spPr/>
    </dgm:pt>
    <dgm:pt modelId="{C221EDE2-3D40-4598-86BF-A648886597AA}" type="pres">
      <dgm:prSet presAssocID="{365F496E-FFB6-49BA-A34E-3C48BB2D47B2}" presName="hierChild4" presStyleCnt="0"/>
      <dgm:spPr/>
    </dgm:pt>
    <dgm:pt modelId="{014D3E2F-CAF0-4E62-BF20-286DE750DF12}" type="pres">
      <dgm:prSet presAssocID="{365F496E-FFB6-49BA-A34E-3C48BB2D47B2}" presName="hierChild5" presStyleCnt="0"/>
      <dgm:spPr/>
    </dgm:pt>
    <dgm:pt modelId="{49541701-A913-4A1E-9A92-03970F774B8D}" type="pres">
      <dgm:prSet presAssocID="{34442D7B-6401-4D59-ADB8-57AF4A5D19AF}" presName="hierChild5" presStyleCnt="0"/>
      <dgm:spPr/>
    </dgm:pt>
    <dgm:pt modelId="{774B8B0F-C923-43E4-BF49-84AD9987DB83}" type="pres">
      <dgm:prSet presAssocID="{53639930-9446-41CC-A6D8-A90FE99736B5}" presName="hierChild3" presStyleCnt="0"/>
      <dgm:spPr/>
    </dgm:pt>
  </dgm:ptLst>
  <dgm:cxnLst>
    <dgm:cxn modelId="{66CEFD00-692C-486E-8F0E-6894978E5457}" type="presOf" srcId="{CE475462-81FF-4A6E-9115-807DD5971C03}" destId="{5EDE1FC5-757E-4082-A4F8-DA3D88C9F098}" srcOrd="0" destOrd="0" presId="urn:microsoft.com/office/officeart/2008/layout/NameandTitleOrganizationalChart"/>
    <dgm:cxn modelId="{C44E7302-49E9-46B9-A151-28B740706562}" type="presOf" srcId="{7AEADEEA-2631-4F31-98CF-08A2961D60CE}" destId="{F86986EA-2EDF-4E61-B37B-B33D3790F6CE}" srcOrd="0" destOrd="0" presId="urn:microsoft.com/office/officeart/2008/layout/NameandTitleOrganizationalChart"/>
    <dgm:cxn modelId="{94A54807-B42E-4FF9-ABD7-85640490969D}" type="presOf" srcId="{98CB38B0-5E28-479B-B32C-8720E4152840}" destId="{D7B58526-515A-45A6-BC16-339AA9BFD774}" srcOrd="0" destOrd="0" presId="urn:microsoft.com/office/officeart/2008/layout/NameandTitleOrganizationalChart"/>
    <dgm:cxn modelId="{9521B307-A092-4748-9FFC-F68AA2295CE5}" type="presOf" srcId="{ED1770E2-1E0C-421F-8F44-B99737BF6D82}" destId="{9A90C9F4-F221-4F93-8FCE-D5751B3010F6}" srcOrd="0" destOrd="0" presId="urn:microsoft.com/office/officeart/2008/layout/NameandTitleOrganizationalChart"/>
    <dgm:cxn modelId="{DDAC9D09-E711-4E7C-B510-2905FC9902C9}" srcId="{34442D7B-6401-4D59-ADB8-57AF4A5D19AF}" destId="{365F496E-FFB6-49BA-A34E-3C48BB2D47B2}" srcOrd="1" destOrd="0" parTransId="{2C6985D8-A087-41D8-A75B-0052DE4F74E6}" sibTransId="{7AEADEEA-2631-4F31-98CF-08A2961D60CE}"/>
    <dgm:cxn modelId="{1A055615-3A76-4408-B26D-0F721ADE74B4}" srcId="{0429D3C9-1FCE-42C5-BB34-F18CCCEEA367}" destId="{53639930-9446-41CC-A6D8-A90FE99736B5}" srcOrd="0" destOrd="0" parTransId="{F4863093-57D2-44D9-9F8D-2D4327581EB0}" sibTransId="{7B01FAA2-9E75-48F3-BFF5-ABBB95B2C9C9}"/>
    <dgm:cxn modelId="{F44DF917-D17E-4064-BA9B-DD0C447093C5}" srcId="{ED1770E2-1E0C-421F-8F44-B99737BF6D82}" destId="{98CB38B0-5E28-479B-B32C-8720E4152840}" srcOrd="0" destOrd="0" parTransId="{FB3DC615-AEDD-4BA8-B8FE-2F54B103E88A}" sibTransId="{0181726A-D071-4575-B1A0-7D133EF89FDD}"/>
    <dgm:cxn modelId="{92166227-87DF-480F-9F15-237DD727BBB7}" type="presOf" srcId="{5D8F447A-D022-4768-925B-CD50E4BB5AE3}" destId="{1C5F48BA-AD74-4F0E-A126-71B28B391BD6}" srcOrd="0" destOrd="0" presId="urn:microsoft.com/office/officeart/2008/layout/NameandTitleOrganizationalChart"/>
    <dgm:cxn modelId="{0F232E2A-7B2D-4E02-87C6-927ABB7D9B94}" type="presOf" srcId="{53639930-9446-41CC-A6D8-A90FE99736B5}" destId="{92134F33-A86A-4988-9589-143EEC593024}" srcOrd="1" destOrd="0" presId="urn:microsoft.com/office/officeart/2008/layout/NameandTitleOrganizationalChart"/>
    <dgm:cxn modelId="{AAB9192E-865B-4EE9-BCE4-4155375EA0EB}" type="presOf" srcId="{34442D7B-6401-4D59-ADB8-57AF4A5D19AF}" destId="{505F4E83-621A-4669-882E-F81BAAF361C9}" srcOrd="0" destOrd="0" presId="urn:microsoft.com/office/officeart/2008/layout/NameandTitleOrganizationalChart"/>
    <dgm:cxn modelId="{62BBCF2F-1343-4F9B-9DCF-8962A037D5B4}" type="presOf" srcId="{2C6985D8-A087-41D8-A75B-0052DE4F74E6}" destId="{48FF5814-842F-4242-ABF6-C35CE056C721}" srcOrd="0" destOrd="0" presId="urn:microsoft.com/office/officeart/2008/layout/NameandTitleOrganizationalChart"/>
    <dgm:cxn modelId="{D54ED630-74DD-4C1E-9E16-A0F3A2818889}" type="presOf" srcId="{6A66A752-F9E4-4C59-8FF9-317E15507AEA}" destId="{A567E479-C32C-4CDD-82C3-24DA60363193}" srcOrd="0" destOrd="0" presId="urn:microsoft.com/office/officeart/2008/layout/NameandTitleOrganizationalChart"/>
    <dgm:cxn modelId="{FE8F0734-6EC8-4A6E-8F93-3A19496C4C33}" type="presOf" srcId="{34442D7B-6401-4D59-ADB8-57AF4A5D19AF}" destId="{0C483BEC-F455-40DD-9C1A-9478B8FC5E6A}" srcOrd="1" destOrd="0" presId="urn:microsoft.com/office/officeart/2008/layout/NameandTitleOrganizationalChart"/>
    <dgm:cxn modelId="{98982534-7810-42A4-8083-0C722EB6D4A6}" srcId="{53639930-9446-41CC-A6D8-A90FE99736B5}" destId="{34442D7B-6401-4D59-ADB8-57AF4A5D19AF}" srcOrd="1" destOrd="0" parTransId="{89ED18ED-8C19-4CEC-93C1-5C129B7E9BB9}" sibTransId="{63B0E404-DC84-4B25-9728-9B036914398A}"/>
    <dgm:cxn modelId="{8851F435-21A2-4E78-8C6A-CBD538AD593F}" type="presOf" srcId="{89ED18ED-8C19-4CEC-93C1-5C129B7E9BB9}" destId="{808323AB-D145-499E-9C27-A91BED624731}" srcOrd="0" destOrd="0" presId="urn:microsoft.com/office/officeart/2008/layout/NameandTitleOrganizationalChart"/>
    <dgm:cxn modelId="{67B9F93D-9AD4-49D6-AF53-1CFEA380B24D}" type="presOf" srcId="{ED1770E2-1E0C-421F-8F44-B99737BF6D82}" destId="{3126D953-EC53-4ECE-9A63-3F2ACB2310EF}" srcOrd="1" destOrd="0" presId="urn:microsoft.com/office/officeart/2008/layout/NameandTitleOrganizationalChart"/>
    <dgm:cxn modelId="{21208840-63AE-4C05-A608-453DD1EE5135}" srcId="{34442D7B-6401-4D59-ADB8-57AF4A5D19AF}" destId="{96A7A6F0-4C56-4FF7-92C5-684AB733272B}" srcOrd="0" destOrd="0" parTransId="{C906BE7B-55FC-44A1-B4A8-0D55FFA105E0}" sibTransId="{15834CC4-CE46-4A5B-B7C0-162FE22EB33E}"/>
    <dgm:cxn modelId="{E6D0AD44-487E-4394-9D3F-387C2940CD3C}" srcId="{ED1770E2-1E0C-421F-8F44-B99737BF6D82}" destId="{643F78CF-A809-4366-B612-2FD03CD0AA7B}" srcOrd="1" destOrd="0" parTransId="{CE475462-81FF-4A6E-9115-807DD5971C03}" sibTransId="{6A66A752-F9E4-4C59-8FF9-317E15507AEA}"/>
    <dgm:cxn modelId="{88CD1F49-68DC-4521-A26A-18E8D94F1E1B}" type="presOf" srcId="{0181726A-D071-4575-B1A0-7D133EF89FDD}" destId="{A4208209-02CC-4903-BF14-D5BA899C5254}" srcOrd="0" destOrd="0" presId="urn:microsoft.com/office/officeart/2008/layout/NameandTitleOrganizationalChart"/>
    <dgm:cxn modelId="{25E47A4F-61B5-4BA7-8CD1-0D75F0B5DAAD}" type="presOf" srcId="{96A7A6F0-4C56-4FF7-92C5-684AB733272B}" destId="{7322A9A6-D140-48F8-AC34-6D44E7916CBC}" srcOrd="1" destOrd="0" presId="urn:microsoft.com/office/officeart/2008/layout/NameandTitleOrganizationalChart"/>
    <dgm:cxn modelId="{6A26265F-8DAD-428C-A1FA-89BD82C9D44E}" type="presOf" srcId="{53639930-9446-41CC-A6D8-A90FE99736B5}" destId="{691F3073-C169-40C2-B6E6-397038B2543D}" srcOrd="0" destOrd="0" presId="urn:microsoft.com/office/officeart/2008/layout/NameandTitleOrganizationalChart"/>
    <dgm:cxn modelId="{EC1E916A-8464-4718-94E5-92360BE0EAB8}" type="presOf" srcId="{643F78CF-A809-4366-B612-2FD03CD0AA7B}" destId="{8A837ECC-E9C7-4978-ADF0-9A9A8FE66CB1}" srcOrd="1" destOrd="0" presId="urn:microsoft.com/office/officeart/2008/layout/NameandTitleOrganizationalChart"/>
    <dgm:cxn modelId="{7B6D906C-E15B-4547-8C72-87E29730FADA}" type="presOf" srcId="{365F496E-FFB6-49BA-A34E-3C48BB2D47B2}" destId="{A87102D9-8133-4F44-8116-309446D4DC75}" srcOrd="1" destOrd="0" presId="urn:microsoft.com/office/officeart/2008/layout/NameandTitleOrganizationalChart"/>
    <dgm:cxn modelId="{56B5367C-9FE5-46C2-A177-50D289D9C03E}" type="presOf" srcId="{365F496E-FFB6-49BA-A34E-3C48BB2D47B2}" destId="{9207E898-C10F-488A-95E3-DD2753537A57}" srcOrd="0" destOrd="0" presId="urn:microsoft.com/office/officeart/2008/layout/NameandTitleOrganizationalChart"/>
    <dgm:cxn modelId="{5166EEA2-1B59-4CFC-A0A8-2B5AF622C9B6}" type="presOf" srcId="{98CB38B0-5E28-479B-B32C-8720E4152840}" destId="{53B08518-C57B-4CDC-BAAF-82C791DB35EC}" srcOrd="1" destOrd="0" presId="urn:microsoft.com/office/officeart/2008/layout/NameandTitleOrganizationalChart"/>
    <dgm:cxn modelId="{223FBCA9-4C02-4F12-956E-758C71E74BA5}" type="presOf" srcId="{7B01FAA2-9E75-48F3-BFF5-ABBB95B2C9C9}" destId="{55A68517-89D7-4125-8B6C-22F5168F34F8}" srcOrd="0" destOrd="0" presId="urn:microsoft.com/office/officeart/2008/layout/NameandTitleOrganizationalChart"/>
    <dgm:cxn modelId="{9DA464AC-4238-4B0D-9702-4A099539C720}" type="presOf" srcId="{C906BE7B-55FC-44A1-B4A8-0D55FFA105E0}" destId="{AB01452D-FE44-4549-9B1C-09407547B3C6}" srcOrd="0" destOrd="0" presId="urn:microsoft.com/office/officeart/2008/layout/NameandTitleOrganizationalChart"/>
    <dgm:cxn modelId="{4C8924B0-7B4F-4F44-8AE1-E85F4212C914}" type="presOf" srcId="{643F78CF-A809-4366-B612-2FD03CD0AA7B}" destId="{9F891F23-E595-463F-85F4-4D49F409855B}" srcOrd="0" destOrd="0" presId="urn:microsoft.com/office/officeart/2008/layout/NameandTitleOrganizationalChart"/>
    <dgm:cxn modelId="{E6E7BBBB-D119-441F-9548-2D688585C0E0}" type="presOf" srcId="{96A7A6F0-4C56-4FF7-92C5-684AB733272B}" destId="{19DBB5F4-027A-4942-9933-BAA6F6C82E60}" srcOrd="0" destOrd="0" presId="urn:microsoft.com/office/officeart/2008/layout/NameandTitleOrganizationalChart"/>
    <dgm:cxn modelId="{8DBEF5D8-0ADB-4BDC-87B4-E5D72B7275AD}" type="presOf" srcId="{15834CC4-CE46-4A5B-B7C0-162FE22EB33E}" destId="{54D48F25-350A-4586-8816-65F02C77205D}" srcOrd="0" destOrd="0" presId="urn:microsoft.com/office/officeart/2008/layout/NameandTitleOrganizationalChart"/>
    <dgm:cxn modelId="{37380BE8-A3B6-418C-B135-97831588DDA0}" type="presOf" srcId="{FB3DC615-AEDD-4BA8-B8FE-2F54B103E88A}" destId="{C8E10717-676C-42E6-B601-7591D6B53B76}" srcOrd="0" destOrd="0" presId="urn:microsoft.com/office/officeart/2008/layout/NameandTitleOrganizationalChart"/>
    <dgm:cxn modelId="{CE9FBBF3-73EA-46D8-BC1A-3AA185872D34}" type="presOf" srcId="{9CF7212E-F217-410C-9FBE-995F85529E5E}" destId="{B1DCBB11-9360-4C00-8378-B676A518D5F7}" srcOrd="0" destOrd="0" presId="urn:microsoft.com/office/officeart/2008/layout/NameandTitleOrganizationalChart"/>
    <dgm:cxn modelId="{8A49E0F5-FE5C-4293-B7C7-2D74D530EC38}" type="presOf" srcId="{63B0E404-DC84-4B25-9728-9B036914398A}" destId="{C0A5BB05-11E6-473A-A6BE-D815161A0327}" srcOrd="0" destOrd="0" presId="urn:microsoft.com/office/officeart/2008/layout/NameandTitleOrganizationalChart"/>
    <dgm:cxn modelId="{84D32CF7-BCFB-414F-800A-65657CA01661}" srcId="{53639930-9446-41CC-A6D8-A90FE99736B5}" destId="{ED1770E2-1E0C-421F-8F44-B99737BF6D82}" srcOrd="0" destOrd="0" parTransId="{9CF7212E-F217-410C-9FBE-995F85529E5E}" sibTransId="{5D8F447A-D022-4768-925B-CD50E4BB5AE3}"/>
    <dgm:cxn modelId="{5B91C2F7-32FA-4CDB-9115-3E6591EA8C09}" type="presOf" srcId="{0429D3C9-1FCE-42C5-BB34-F18CCCEEA367}" destId="{AE80C0E3-524C-4460-B3E6-A2EE96FB6F4E}" srcOrd="0" destOrd="0" presId="urn:microsoft.com/office/officeart/2008/layout/NameandTitleOrganizationalChart"/>
    <dgm:cxn modelId="{09DFEE2D-AA02-4027-9398-E0399160F4B5}" type="presParOf" srcId="{AE80C0E3-524C-4460-B3E6-A2EE96FB6F4E}" destId="{3E13F6E4-F296-40C9-88E1-F5E8C790F363}" srcOrd="0" destOrd="0" presId="urn:microsoft.com/office/officeart/2008/layout/NameandTitleOrganizationalChart"/>
    <dgm:cxn modelId="{46D37985-2BC5-4FD3-859E-F09246C81A17}" type="presParOf" srcId="{3E13F6E4-F296-40C9-88E1-F5E8C790F363}" destId="{973B031E-DCAD-4BCD-84FA-C0D9F42BDF88}" srcOrd="0" destOrd="0" presId="urn:microsoft.com/office/officeart/2008/layout/NameandTitleOrganizationalChart"/>
    <dgm:cxn modelId="{99C198AD-3700-4397-A61C-595586A1454F}" type="presParOf" srcId="{973B031E-DCAD-4BCD-84FA-C0D9F42BDF88}" destId="{691F3073-C169-40C2-B6E6-397038B2543D}" srcOrd="0" destOrd="0" presId="urn:microsoft.com/office/officeart/2008/layout/NameandTitleOrganizationalChart"/>
    <dgm:cxn modelId="{40BE543A-14DC-40E5-B0FB-6D4418950A2F}" type="presParOf" srcId="{973B031E-DCAD-4BCD-84FA-C0D9F42BDF88}" destId="{55A68517-89D7-4125-8B6C-22F5168F34F8}" srcOrd="1" destOrd="0" presId="urn:microsoft.com/office/officeart/2008/layout/NameandTitleOrganizationalChart"/>
    <dgm:cxn modelId="{E413E12E-9A88-4330-A66A-0C82F42E88B0}" type="presParOf" srcId="{973B031E-DCAD-4BCD-84FA-C0D9F42BDF88}" destId="{92134F33-A86A-4988-9589-143EEC593024}" srcOrd="2" destOrd="0" presId="urn:microsoft.com/office/officeart/2008/layout/NameandTitleOrganizationalChart"/>
    <dgm:cxn modelId="{8EA57F3B-87E6-4608-A02E-B6DC50E1F14B}" type="presParOf" srcId="{3E13F6E4-F296-40C9-88E1-F5E8C790F363}" destId="{2F82EA15-6A4C-4B10-9626-B5BFB5A4BEDA}" srcOrd="1" destOrd="0" presId="urn:microsoft.com/office/officeart/2008/layout/NameandTitleOrganizationalChart"/>
    <dgm:cxn modelId="{9D9E0D32-C7D8-4F7B-91C7-E6402FD582F5}" type="presParOf" srcId="{2F82EA15-6A4C-4B10-9626-B5BFB5A4BEDA}" destId="{B1DCBB11-9360-4C00-8378-B676A518D5F7}" srcOrd="0" destOrd="0" presId="urn:microsoft.com/office/officeart/2008/layout/NameandTitleOrganizationalChart"/>
    <dgm:cxn modelId="{689D4061-9D21-4B33-BF83-D2449376D755}" type="presParOf" srcId="{2F82EA15-6A4C-4B10-9626-B5BFB5A4BEDA}" destId="{D916E9B3-5625-4E1D-B9E1-2C29B3DED59E}" srcOrd="1" destOrd="0" presId="urn:microsoft.com/office/officeart/2008/layout/NameandTitleOrganizationalChart"/>
    <dgm:cxn modelId="{5AA126F9-4FC1-462F-9BA4-DCBB4D2BD286}" type="presParOf" srcId="{D916E9B3-5625-4E1D-B9E1-2C29B3DED59E}" destId="{D78D24EF-80C7-4234-A8CB-DF9CCCC83192}" srcOrd="0" destOrd="0" presId="urn:microsoft.com/office/officeart/2008/layout/NameandTitleOrganizationalChart"/>
    <dgm:cxn modelId="{F75EAB7D-4205-418C-B4A3-35E4F936FA73}" type="presParOf" srcId="{D78D24EF-80C7-4234-A8CB-DF9CCCC83192}" destId="{9A90C9F4-F221-4F93-8FCE-D5751B3010F6}" srcOrd="0" destOrd="0" presId="urn:microsoft.com/office/officeart/2008/layout/NameandTitleOrganizationalChart"/>
    <dgm:cxn modelId="{43E07CEE-F7D9-4247-B957-66856680D0A1}" type="presParOf" srcId="{D78D24EF-80C7-4234-A8CB-DF9CCCC83192}" destId="{1C5F48BA-AD74-4F0E-A126-71B28B391BD6}" srcOrd="1" destOrd="0" presId="urn:microsoft.com/office/officeart/2008/layout/NameandTitleOrganizationalChart"/>
    <dgm:cxn modelId="{15915498-4741-42FA-8923-6472138865C2}" type="presParOf" srcId="{D78D24EF-80C7-4234-A8CB-DF9CCCC83192}" destId="{3126D953-EC53-4ECE-9A63-3F2ACB2310EF}" srcOrd="2" destOrd="0" presId="urn:microsoft.com/office/officeart/2008/layout/NameandTitleOrganizationalChart"/>
    <dgm:cxn modelId="{5615684C-8336-4E8A-99BF-85158017A280}" type="presParOf" srcId="{D916E9B3-5625-4E1D-B9E1-2C29B3DED59E}" destId="{A5469869-962B-4904-9062-6F37017A5A27}" srcOrd="1" destOrd="0" presId="urn:microsoft.com/office/officeart/2008/layout/NameandTitleOrganizationalChart"/>
    <dgm:cxn modelId="{EE9DCA13-5970-4211-8E2A-10EAD53CCCFC}" type="presParOf" srcId="{A5469869-962B-4904-9062-6F37017A5A27}" destId="{C8E10717-676C-42E6-B601-7591D6B53B76}" srcOrd="0" destOrd="0" presId="urn:microsoft.com/office/officeart/2008/layout/NameandTitleOrganizationalChart"/>
    <dgm:cxn modelId="{1DC927B6-9E2A-49F7-AFAA-0241313C295D}" type="presParOf" srcId="{A5469869-962B-4904-9062-6F37017A5A27}" destId="{C8C456AC-DF56-4345-8720-28FA6E2866E9}" srcOrd="1" destOrd="0" presId="urn:microsoft.com/office/officeart/2008/layout/NameandTitleOrganizationalChart"/>
    <dgm:cxn modelId="{5CBE0828-BF53-475B-B2A4-9C927FD68819}" type="presParOf" srcId="{C8C456AC-DF56-4345-8720-28FA6E2866E9}" destId="{93FB67D3-FE4B-4699-A2ED-B317617B3D9D}" srcOrd="0" destOrd="0" presId="urn:microsoft.com/office/officeart/2008/layout/NameandTitleOrganizationalChart"/>
    <dgm:cxn modelId="{DC88A86F-2B0A-420B-8E12-48D6C7F006BA}" type="presParOf" srcId="{93FB67D3-FE4B-4699-A2ED-B317617B3D9D}" destId="{D7B58526-515A-45A6-BC16-339AA9BFD774}" srcOrd="0" destOrd="0" presId="urn:microsoft.com/office/officeart/2008/layout/NameandTitleOrganizationalChart"/>
    <dgm:cxn modelId="{993BBAED-C0A9-4EA0-A0CF-257CF100250D}" type="presParOf" srcId="{93FB67D3-FE4B-4699-A2ED-B317617B3D9D}" destId="{A4208209-02CC-4903-BF14-D5BA899C5254}" srcOrd="1" destOrd="0" presId="urn:microsoft.com/office/officeart/2008/layout/NameandTitleOrganizationalChart"/>
    <dgm:cxn modelId="{BFA1CB11-82F3-4F32-9CF6-88D3C584FED6}" type="presParOf" srcId="{93FB67D3-FE4B-4699-A2ED-B317617B3D9D}" destId="{53B08518-C57B-4CDC-BAAF-82C791DB35EC}" srcOrd="2" destOrd="0" presId="urn:microsoft.com/office/officeart/2008/layout/NameandTitleOrganizationalChart"/>
    <dgm:cxn modelId="{49555363-EE3E-4E56-A855-2A3DCA5152BF}" type="presParOf" srcId="{C8C456AC-DF56-4345-8720-28FA6E2866E9}" destId="{C4477B03-162D-4F38-BEAD-E6A0475FABCB}" srcOrd="1" destOrd="0" presId="urn:microsoft.com/office/officeart/2008/layout/NameandTitleOrganizationalChart"/>
    <dgm:cxn modelId="{7F70A0D7-8FAE-48A3-9AAA-91F869A58A13}" type="presParOf" srcId="{C8C456AC-DF56-4345-8720-28FA6E2866E9}" destId="{A96E6C57-5E4B-4DE2-BCDE-3285E02D7106}" srcOrd="2" destOrd="0" presId="urn:microsoft.com/office/officeart/2008/layout/NameandTitleOrganizationalChart"/>
    <dgm:cxn modelId="{A5003416-D6A7-4FBC-B192-11762743C8B6}" type="presParOf" srcId="{A5469869-962B-4904-9062-6F37017A5A27}" destId="{5EDE1FC5-757E-4082-A4F8-DA3D88C9F098}" srcOrd="2" destOrd="0" presId="urn:microsoft.com/office/officeart/2008/layout/NameandTitleOrganizationalChart"/>
    <dgm:cxn modelId="{1CC97901-4056-48D9-A675-B9A87EDCE5B8}" type="presParOf" srcId="{A5469869-962B-4904-9062-6F37017A5A27}" destId="{0C9EC3E0-977B-42E6-82FE-B5E5C6333F84}" srcOrd="3" destOrd="0" presId="urn:microsoft.com/office/officeart/2008/layout/NameandTitleOrganizationalChart"/>
    <dgm:cxn modelId="{8FA23AF9-054A-440E-8FC7-3F7C21BC3EC8}" type="presParOf" srcId="{0C9EC3E0-977B-42E6-82FE-B5E5C6333F84}" destId="{C7B07104-50BB-4DFA-A9F4-2FAA19D66366}" srcOrd="0" destOrd="0" presId="urn:microsoft.com/office/officeart/2008/layout/NameandTitleOrganizationalChart"/>
    <dgm:cxn modelId="{2160CE2E-6B1E-4883-B809-ACCE39E5EC00}" type="presParOf" srcId="{C7B07104-50BB-4DFA-A9F4-2FAA19D66366}" destId="{9F891F23-E595-463F-85F4-4D49F409855B}" srcOrd="0" destOrd="0" presId="urn:microsoft.com/office/officeart/2008/layout/NameandTitleOrganizationalChart"/>
    <dgm:cxn modelId="{D0AA7915-B75A-4947-914B-4664BD36F72A}" type="presParOf" srcId="{C7B07104-50BB-4DFA-A9F4-2FAA19D66366}" destId="{A567E479-C32C-4CDD-82C3-24DA60363193}" srcOrd="1" destOrd="0" presId="urn:microsoft.com/office/officeart/2008/layout/NameandTitleOrganizationalChart"/>
    <dgm:cxn modelId="{334A15CB-CB3A-4C36-8918-2506B968A53D}" type="presParOf" srcId="{C7B07104-50BB-4DFA-A9F4-2FAA19D66366}" destId="{8A837ECC-E9C7-4978-ADF0-9A9A8FE66CB1}" srcOrd="2" destOrd="0" presId="urn:microsoft.com/office/officeart/2008/layout/NameandTitleOrganizationalChart"/>
    <dgm:cxn modelId="{A5F1959B-BDAD-4BD7-A5CD-E8557D61BECB}" type="presParOf" srcId="{0C9EC3E0-977B-42E6-82FE-B5E5C6333F84}" destId="{80CE7BBC-CD00-44E9-BB09-B8C2292AEE6D}" srcOrd="1" destOrd="0" presId="urn:microsoft.com/office/officeart/2008/layout/NameandTitleOrganizationalChart"/>
    <dgm:cxn modelId="{B45407DD-49D0-4A4E-B3F9-07C32374FD97}" type="presParOf" srcId="{0C9EC3E0-977B-42E6-82FE-B5E5C6333F84}" destId="{02E91138-D8D5-4D67-9AEE-3E86A1F2E752}" srcOrd="2" destOrd="0" presId="urn:microsoft.com/office/officeart/2008/layout/NameandTitleOrganizationalChart"/>
    <dgm:cxn modelId="{887A9C79-8715-4458-8C5B-8FCC60D30280}" type="presParOf" srcId="{D916E9B3-5625-4E1D-B9E1-2C29B3DED59E}" destId="{BDFE78B1-6A54-488A-92D7-28C3804FAC7B}" srcOrd="2" destOrd="0" presId="urn:microsoft.com/office/officeart/2008/layout/NameandTitleOrganizationalChart"/>
    <dgm:cxn modelId="{C343CF3C-FC1D-4A83-989E-B937A0F81C8B}" type="presParOf" srcId="{2F82EA15-6A4C-4B10-9626-B5BFB5A4BEDA}" destId="{808323AB-D145-499E-9C27-A91BED624731}" srcOrd="2" destOrd="0" presId="urn:microsoft.com/office/officeart/2008/layout/NameandTitleOrganizationalChart"/>
    <dgm:cxn modelId="{34FC2FD9-83EA-4AA3-8D4E-501125DC40D9}" type="presParOf" srcId="{2F82EA15-6A4C-4B10-9626-B5BFB5A4BEDA}" destId="{1E3F53AA-F00D-4C60-AEE1-FF356A59352D}" srcOrd="3" destOrd="0" presId="urn:microsoft.com/office/officeart/2008/layout/NameandTitleOrganizationalChart"/>
    <dgm:cxn modelId="{6C5D7E41-9F69-4D51-97DD-5AAA07209FDA}" type="presParOf" srcId="{1E3F53AA-F00D-4C60-AEE1-FF356A59352D}" destId="{DF58ABA9-ED6E-4EF4-998F-2F91514B5D2A}" srcOrd="0" destOrd="0" presId="urn:microsoft.com/office/officeart/2008/layout/NameandTitleOrganizationalChart"/>
    <dgm:cxn modelId="{6869E598-C35C-4330-99D0-234A8801A8B8}" type="presParOf" srcId="{DF58ABA9-ED6E-4EF4-998F-2F91514B5D2A}" destId="{505F4E83-621A-4669-882E-F81BAAF361C9}" srcOrd="0" destOrd="0" presId="urn:microsoft.com/office/officeart/2008/layout/NameandTitleOrganizationalChart"/>
    <dgm:cxn modelId="{EFC17DD9-9FFE-43D4-A511-A87815B64676}" type="presParOf" srcId="{DF58ABA9-ED6E-4EF4-998F-2F91514B5D2A}" destId="{C0A5BB05-11E6-473A-A6BE-D815161A0327}" srcOrd="1" destOrd="0" presId="urn:microsoft.com/office/officeart/2008/layout/NameandTitleOrganizationalChart"/>
    <dgm:cxn modelId="{88F6D114-DE05-43B1-8160-1C136F34BAF7}" type="presParOf" srcId="{DF58ABA9-ED6E-4EF4-998F-2F91514B5D2A}" destId="{0C483BEC-F455-40DD-9C1A-9478B8FC5E6A}" srcOrd="2" destOrd="0" presId="urn:microsoft.com/office/officeart/2008/layout/NameandTitleOrganizationalChart"/>
    <dgm:cxn modelId="{9CD117EF-3BD8-4D6B-BC07-9C11E52E3F34}" type="presParOf" srcId="{1E3F53AA-F00D-4C60-AEE1-FF356A59352D}" destId="{C129D337-1085-4F09-8C8E-2A910316D948}" srcOrd="1" destOrd="0" presId="urn:microsoft.com/office/officeart/2008/layout/NameandTitleOrganizationalChart"/>
    <dgm:cxn modelId="{B2E2F530-C55F-435E-8CBC-DEF6EC40B26D}" type="presParOf" srcId="{C129D337-1085-4F09-8C8E-2A910316D948}" destId="{AB01452D-FE44-4549-9B1C-09407547B3C6}" srcOrd="0" destOrd="0" presId="urn:microsoft.com/office/officeart/2008/layout/NameandTitleOrganizationalChart"/>
    <dgm:cxn modelId="{B3996CFD-525A-47C3-A9D4-9CB7B9089703}" type="presParOf" srcId="{C129D337-1085-4F09-8C8E-2A910316D948}" destId="{E5811778-6A16-4295-A0AC-FC16781FD1F0}" srcOrd="1" destOrd="0" presId="urn:microsoft.com/office/officeart/2008/layout/NameandTitleOrganizationalChart"/>
    <dgm:cxn modelId="{82F0D0E6-1289-4EAF-852C-6FD814244C4C}" type="presParOf" srcId="{E5811778-6A16-4295-A0AC-FC16781FD1F0}" destId="{C80DB2B7-08AC-40F2-BC77-490779B10FBA}" srcOrd="0" destOrd="0" presId="urn:microsoft.com/office/officeart/2008/layout/NameandTitleOrganizationalChart"/>
    <dgm:cxn modelId="{5AE75F18-4CAA-4210-9049-0223889CBBA8}" type="presParOf" srcId="{C80DB2B7-08AC-40F2-BC77-490779B10FBA}" destId="{19DBB5F4-027A-4942-9933-BAA6F6C82E60}" srcOrd="0" destOrd="0" presId="urn:microsoft.com/office/officeart/2008/layout/NameandTitleOrganizationalChart"/>
    <dgm:cxn modelId="{D931B56B-1626-413D-941C-29031FE5EFE2}" type="presParOf" srcId="{C80DB2B7-08AC-40F2-BC77-490779B10FBA}" destId="{54D48F25-350A-4586-8816-65F02C77205D}" srcOrd="1" destOrd="0" presId="urn:microsoft.com/office/officeart/2008/layout/NameandTitleOrganizationalChart"/>
    <dgm:cxn modelId="{5C4AC269-3BA0-48C0-84C6-B5222171C7C7}" type="presParOf" srcId="{C80DB2B7-08AC-40F2-BC77-490779B10FBA}" destId="{7322A9A6-D140-48F8-AC34-6D44E7916CBC}" srcOrd="2" destOrd="0" presId="urn:microsoft.com/office/officeart/2008/layout/NameandTitleOrganizationalChart"/>
    <dgm:cxn modelId="{46762D24-9179-4CC6-B749-3181CE588997}" type="presParOf" srcId="{E5811778-6A16-4295-A0AC-FC16781FD1F0}" destId="{016121F9-0DAD-40FA-9E76-2BB3860024CB}" srcOrd="1" destOrd="0" presId="urn:microsoft.com/office/officeart/2008/layout/NameandTitleOrganizationalChart"/>
    <dgm:cxn modelId="{7271288D-DA0A-463D-A6DA-24A5462B2076}" type="presParOf" srcId="{E5811778-6A16-4295-A0AC-FC16781FD1F0}" destId="{80334AFB-5BC6-4FBC-B479-793EE681113B}" srcOrd="2" destOrd="0" presId="urn:microsoft.com/office/officeart/2008/layout/NameandTitleOrganizationalChart"/>
    <dgm:cxn modelId="{962EB7F3-EEFC-4DB2-B2B5-84ACA9A47DD5}" type="presParOf" srcId="{C129D337-1085-4F09-8C8E-2A910316D948}" destId="{48FF5814-842F-4242-ABF6-C35CE056C721}" srcOrd="2" destOrd="0" presId="urn:microsoft.com/office/officeart/2008/layout/NameandTitleOrganizationalChart"/>
    <dgm:cxn modelId="{0D1E8C0B-4148-4D78-9D8E-91681BED38AD}" type="presParOf" srcId="{C129D337-1085-4F09-8C8E-2A910316D948}" destId="{6A33F4F5-AEDD-44D3-A40C-6227CECC9264}" srcOrd="3" destOrd="0" presId="urn:microsoft.com/office/officeart/2008/layout/NameandTitleOrganizationalChart"/>
    <dgm:cxn modelId="{29995486-359F-48B6-999B-1787570362AF}" type="presParOf" srcId="{6A33F4F5-AEDD-44D3-A40C-6227CECC9264}" destId="{B0413D29-7D12-4B8E-B6A9-0EA3AF4DF82C}" srcOrd="0" destOrd="0" presId="urn:microsoft.com/office/officeart/2008/layout/NameandTitleOrganizationalChart"/>
    <dgm:cxn modelId="{F88CA897-E9E3-4BA5-B8B0-C12868359390}" type="presParOf" srcId="{B0413D29-7D12-4B8E-B6A9-0EA3AF4DF82C}" destId="{9207E898-C10F-488A-95E3-DD2753537A57}" srcOrd="0" destOrd="0" presId="urn:microsoft.com/office/officeart/2008/layout/NameandTitleOrganizationalChart"/>
    <dgm:cxn modelId="{27426067-BB48-4370-B826-92F490039FF5}" type="presParOf" srcId="{B0413D29-7D12-4B8E-B6A9-0EA3AF4DF82C}" destId="{F86986EA-2EDF-4E61-B37B-B33D3790F6CE}" srcOrd="1" destOrd="0" presId="urn:microsoft.com/office/officeart/2008/layout/NameandTitleOrganizationalChart"/>
    <dgm:cxn modelId="{2CCDB7C6-E757-4F5C-AFD8-034AC97BBCE4}" type="presParOf" srcId="{B0413D29-7D12-4B8E-B6A9-0EA3AF4DF82C}" destId="{A87102D9-8133-4F44-8116-309446D4DC75}" srcOrd="2" destOrd="0" presId="urn:microsoft.com/office/officeart/2008/layout/NameandTitleOrganizationalChart"/>
    <dgm:cxn modelId="{4F8FF8E5-1138-45A2-B7E6-D95E7C75552B}" type="presParOf" srcId="{6A33F4F5-AEDD-44D3-A40C-6227CECC9264}" destId="{C221EDE2-3D40-4598-86BF-A648886597AA}" srcOrd="1" destOrd="0" presId="urn:microsoft.com/office/officeart/2008/layout/NameandTitleOrganizationalChart"/>
    <dgm:cxn modelId="{BC20E840-DBFE-4A7A-B2DD-DC33D8560B34}" type="presParOf" srcId="{6A33F4F5-AEDD-44D3-A40C-6227CECC9264}" destId="{014D3E2F-CAF0-4E62-BF20-286DE750DF12}" srcOrd="2" destOrd="0" presId="urn:microsoft.com/office/officeart/2008/layout/NameandTitleOrganizationalChart"/>
    <dgm:cxn modelId="{2E432CD0-73F8-445C-8AAD-0BCC0C06393C}" type="presParOf" srcId="{1E3F53AA-F00D-4C60-AEE1-FF356A59352D}" destId="{49541701-A913-4A1E-9A92-03970F774B8D}" srcOrd="2" destOrd="0" presId="urn:microsoft.com/office/officeart/2008/layout/NameandTitleOrganizationalChart"/>
    <dgm:cxn modelId="{2E62E788-3DF1-49F8-8FA9-5C381D607B5F}" type="presParOf" srcId="{3E13F6E4-F296-40C9-88E1-F5E8C790F363}" destId="{774B8B0F-C923-43E4-BF49-84AD9987DB83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2EE58A-9F5B-4E4B-B7C5-6895C042E8CF}">
      <dsp:nvSpPr>
        <dsp:cNvPr id="0" name=""/>
        <dsp:cNvSpPr/>
      </dsp:nvSpPr>
      <dsp:spPr>
        <a:xfrm>
          <a:off x="5212" y="14929"/>
          <a:ext cx="1998184" cy="79927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ambria Math" panose="02040503050406030204" pitchFamily="18" charset="0"/>
              <a:ea typeface="Cambria Math" panose="02040503050406030204" pitchFamily="18" charset="0"/>
            </a:rPr>
            <a:t>Define</a:t>
          </a:r>
          <a:endParaRPr lang="en-IN" sz="1800" kern="1200" dirty="0">
            <a:latin typeface="Cambria Math" panose="02040503050406030204" pitchFamily="18" charset="0"/>
            <a:ea typeface="Cambria Math" panose="02040503050406030204" pitchFamily="18" charset="0"/>
          </a:endParaRPr>
        </a:p>
      </dsp:txBody>
      <dsp:txXfrm>
        <a:off x="5212" y="14929"/>
        <a:ext cx="1998184" cy="799273"/>
      </dsp:txXfrm>
    </dsp:sp>
    <dsp:sp modelId="{F422281E-14A4-4741-98A5-D1E254F68FD8}">
      <dsp:nvSpPr>
        <dsp:cNvPr id="0" name=""/>
        <dsp:cNvSpPr/>
      </dsp:nvSpPr>
      <dsp:spPr>
        <a:xfrm>
          <a:off x="5212" y="814203"/>
          <a:ext cx="1998184" cy="184464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Cambria Math" panose="02040503050406030204" pitchFamily="18" charset="0"/>
              <a:ea typeface="Cambria Math" panose="02040503050406030204" pitchFamily="18" charset="0"/>
            </a:rPr>
            <a:t>Define R</a:t>
          </a:r>
          <a:r>
            <a:rPr lang="en-US" sz="1800" kern="1200" baseline="-25000" dirty="0">
              <a:latin typeface="Cambria Math" panose="02040503050406030204" pitchFamily="18" charset="0"/>
              <a:ea typeface="Cambria Math" panose="02040503050406030204" pitchFamily="18" charset="0"/>
            </a:rPr>
            <a:t>u</a:t>
          </a:r>
          <a:r>
            <a:rPr lang="en-US" sz="1800" kern="1200" dirty="0">
              <a:latin typeface="Cambria Math" panose="02040503050406030204" pitchFamily="18" charset="0"/>
              <a:ea typeface="Cambria Math" panose="02040503050406030204" pitchFamily="18" charset="0"/>
            </a:rPr>
            <a:t> </a:t>
          </a:r>
          <a:endParaRPr lang="en-IN" sz="1800" kern="1200" dirty="0">
            <a:latin typeface="Cambria Math" panose="02040503050406030204" pitchFamily="18" charset="0"/>
            <a:ea typeface="Cambria Math" panose="02040503050406030204" pitchFamily="18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Cambria Math" panose="02040503050406030204" pitchFamily="18" charset="0"/>
              <a:ea typeface="Cambria Math" panose="02040503050406030204" pitchFamily="18" charset="0"/>
            </a:rPr>
            <a:t>Define R</a:t>
          </a:r>
          <a:r>
            <a:rPr lang="en-US" sz="1800" kern="1200" baseline="-25000" dirty="0">
              <a:latin typeface="Cambria Math" panose="02040503050406030204" pitchFamily="18" charset="0"/>
              <a:ea typeface="Cambria Math" panose="02040503050406030204" pitchFamily="18" charset="0"/>
            </a:rPr>
            <a:t>L</a:t>
          </a:r>
          <a:endParaRPr lang="en-IN" sz="1800" kern="1200" dirty="0">
            <a:latin typeface="Cambria Math" panose="02040503050406030204" pitchFamily="18" charset="0"/>
            <a:ea typeface="Cambria Math" panose="02040503050406030204" pitchFamily="18" charset="0"/>
          </a:endParaRPr>
        </a:p>
      </dsp:txBody>
      <dsp:txXfrm>
        <a:off x="5212" y="814203"/>
        <a:ext cx="1998184" cy="1844640"/>
      </dsp:txXfrm>
    </dsp:sp>
    <dsp:sp modelId="{0D1C13F4-3FC0-4355-A74A-3E566FEA1E26}">
      <dsp:nvSpPr>
        <dsp:cNvPr id="0" name=""/>
        <dsp:cNvSpPr/>
      </dsp:nvSpPr>
      <dsp:spPr>
        <a:xfrm>
          <a:off x="2283142" y="14929"/>
          <a:ext cx="1998184" cy="79927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ambria Math" panose="02040503050406030204" pitchFamily="18" charset="0"/>
              <a:ea typeface="Cambria Math" panose="02040503050406030204" pitchFamily="18" charset="0"/>
            </a:rPr>
            <a:t>Risk</a:t>
          </a:r>
          <a:endParaRPr lang="en-IN" sz="1800" kern="1200" dirty="0">
            <a:latin typeface="Cambria Math" panose="02040503050406030204" pitchFamily="18" charset="0"/>
            <a:ea typeface="Cambria Math" panose="02040503050406030204" pitchFamily="18" charset="0"/>
          </a:endParaRPr>
        </a:p>
      </dsp:txBody>
      <dsp:txXfrm>
        <a:off x="2283142" y="14929"/>
        <a:ext cx="1998184" cy="799273"/>
      </dsp:txXfrm>
    </dsp:sp>
    <dsp:sp modelId="{29248756-94CC-49CB-AB72-7BE160DE3D83}">
      <dsp:nvSpPr>
        <dsp:cNvPr id="0" name=""/>
        <dsp:cNvSpPr/>
      </dsp:nvSpPr>
      <dsp:spPr>
        <a:xfrm>
          <a:off x="2283142" y="814203"/>
          <a:ext cx="1998184" cy="184464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Cambria Math" panose="02040503050406030204" pitchFamily="18" charset="0"/>
              <a:ea typeface="Cambria Math" panose="02040503050406030204" pitchFamily="18" charset="0"/>
            </a:rPr>
            <a:t>Set Producer’s risk (</a:t>
          </a:r>
          <a:r>
            <a:rPr lang="el-GR" sz="1800" kern="1200" dirty="0">
              <a:latin typeface="Cambria Math" panose="02040503050406030204" pitchFamily="18" charset="0"/>
              <a:ea typeface="Cambria Math" panose="02040503050406030204" pitchFamily="18" charset="0"/>
            </a:rPr>
            <a:t>α</a:t>
          </a:r>
          <a:r>
            <a:rPr lang="en-US" sz="1800" kern="1200" dirty="0">
              <a:latin typeface="Cambria Math" panose="02040503050406030204" pitchFamily="18" charset="0"/>
              <a:ea typeface="Cambria Math" panose="02040503050406030204" pitchFamily="18" charset="0"/>
            </a:rPr>
            <a:t>)</a:t>
          </a:r>
          <a:endParaRPr lang="en-IN" sz="1800" kern="1200" dirty="0">
            <a:latin typeface="Cambria Math" panose="02040503050406030204" pitchFamily="18" charset="0"/>
            <a:ea typeface="Cambria Math" panose="02040503050406030204" pitchFamily="18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Cambria Math" panose="02040503050406030204" pitchFamily="18" charset="0"/>
              <a:ea typeface="Cambria Math" panose="02040503050406030204" pitchFamily="18" charset="0"/>
            </a:rPr>
            <a:t>Set Consumer’s risk (</a:t>
          </a:r>
          <a:r>
            <a:rPr lang="el-GR" sz="1800" kern="1200" dirty="0">
              <a:latin typeface="Cambria Math" panose="02040503050406030204" pitchFamily="18" charset="0"/>
              <a:ea typeface="Cambria Math" panose="02040503050406030204" pitchFamily="18" charset="0"/>
            </a:rPr>
            <a:t>β</a:t>
          </a:r>
          <a:r>
            <a:rPr lang="en-US" sz="1800" kern="1200" dirty="0">
              <a:latin typeface="Cambria Math" panose="02040503050406030204" pitchFamily="18" charset="0"/>
              <a:ea typeface="Cambria Math" panose="02040503050406030204" pitchFamily="18" charset="0"/>
            </a:rPr>
            <a:t>)</a:t>
          </a:r>
          <a:endParaRPr lang="en-IN" sz="1800" kern="1200" dirty="0">
            <a:latin typeface="Cambria Math" panose="02040503050406030204" pitchFamily="18" charset="0"/>
            <a:ea typeface="Cambria Math" panose="02040503050406030204" pitchFamily="18" charset="0"/>
          </a:endParaRPr>
        </a:p>
      </dsp:txBody>
      <dsp:txXfrm>
        <a:off x="2283142" y="814203"/>
        <a:ext cx="1998184" cy="1844640"/>
      </dsp:txXfrm>
    </dsp:sp>
    <dsp:sp modelId="{6ED6AAB4-D8D6-4DBE-9992-D9F76D599C4A}">
      <dsp:nvSpPr>
        <dsp:cNvPr id="0" name=""/>
        <dsp:cNvSpPr/>
      </dsp:nvSpPr>
      <dsp:spPr>
        <a:xfrm>
          <a:off x="4561072" y="14929"/>
          <a:ext cx="1998184" cy="79927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ambria Math" panose="02040503050406030204" pitchFamily="18" charset="0"/>
              <a:ea typeface="Cambria Math" panose="02040503050406030204" pitchFamily="18" charset="0"/>
            </a:rPr>
            <a:t>Scale</a:t>
          </a:r>
          <a:endParaRPr lang="en-IN" sz="1800" kern="1200" dirty="0">
            <a:latin typeface="Cambria Math" panose="02040503050406030204" pitchFamily="18" charset="0"/>
            <a:ea typeface="Cambria Math" panose="02040503050406030204" pitchFamily="18" charset="0"/>
          </a:endParaRPr>
        </a:p>
      </dsp:txBody>
      <dsp:txXfrm>
        <a:off x="4561072" y="14929"/>
        <a:ext cx="1998184" cy="799273"/>
      </dsp:txXfrm>
    </dsp:sp>
    <dsp:sp modelId="{82D12ED1-89F6-451D-B4C4-C797C8DCB78A}">
      <dsp:nvSpPr>
        <dsp:cNvPr id="0" name=""/>
        <dsp:cNvSpPr/>
      </dsp:nvSpPr>
      <dsp:spPr>
        <a:xfrm>
          <a:off x="4561072" y="814203"/>
          <a:ext cx="1998184" cy="184464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Cambria Math" panose="02040503050406030204" pitchFamily="18" charset="0"/>
              <a:ea typeface="Cambria Math" panose="02040503050406030204" pitchFamily="18" charset="0"/>
            </a:rPr>
            <a:t>Sample size</a:t>
          </a:r>
          <a:endParaRPr lang="en-IN" sz="1800" kern="1200" dirty="0">
            <a:latin typeface="Cambria Math" panose="02040503050406030204" pitchFamily="18" charset="0"/>
            <a:ea typeface="Cambria Math" panose="02040503050406030204" pitchFamily="18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Cambria Math" panose="02040503050406030204" pitchFamily="18" charset="0"/>
              <a:ea typeface="Cambria Math" panose="02040503050406030204" pitchFamily="18" charset="0"/>
            </a:rPr>
            <a:t>Total test time</a:t>
          </a:r>
          <a:endParaRPr lang="en-IN" sz="1800" kern="1200" dirty="0">
            <a:latin typeface="Cambria Math" panose="02040503050406030204" pitchFamily="18" charset="0"/>
            <a:ea typeface="Cambria Math" panose="02040503050406030204" pitchFamily="18" charset="0"/>
          </a:endParaRPr>
        </a:p>
      </dsp:txBody>
      <dsp:txXfrm>
        <a:off x="4561072" y="814203"/>
        <a:ext cx="1998184" cy="1844640"/>
      </dsp:txXfrm>
    </dsp:sp>
    <dsp:sp modelId="{3FF9F6A2-6176-42E6-8FEC-48AD00B725D4}">
      <dsp:nvSpPr>
        <dsp:cNvPr id="0" name=""/>
        <dsp:cNvSpPr/>
      </dsp:nvSpPr>
      <dsp:spPr>
        <a:xfrm>
          <a:off x="6839002" y="14929"/>
          <a:ext cx="1998184" cy="79927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ambria Math" panose="02040503050406030204" pitchFamily="18" charset="0"/>
              <a:ea typeface="Cambria Math" panose="02040503050406030204" pitchFamily="18" charset="0"/>
            </a:rPr>
            <a:t>Environment</a:t>
          </a:r>
          <a:endParaRPr lang="en-IN" sz="1800" kern="1200" dirty="0">
            <a:latin typeface="Cambria Math" panose="02040503050406030204" pitchFamily="18" charset="0"/>
            <a:ea typeface="Cambria Math" panose="02040503050406030204" pitchFamily="18" charset="0"/>
          </a:endParaRPr>
        </a:p>
      </dsp:txBody>
      <dsp:txXfrm>
        <a:off x="6839002" y="14929"/>
        <a:ext cx="1998184" cy="799273"/>
      </dsp:txXfrm>
    </dsp:sp>
    <dsp:sp modelId="{69CEA116-4416-40CD-9724-308CED7B3577}">
      <dsp:nvSpPr>
        <dsp:cNvPr id="0" name=""/>
        <dsp:cNvSpPr/>
      </dsp:nvSpPr>
      <dsp:spPr>
        <a:xfrm>
          <a:off x="6839002" y="814203"/>
          <a:ext cx="1998184" cy="184464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Cambria Math" panose="02040503050406030204" pitchFamily="18" charset="0"/>
              <a:ea typeface="Cambria Math" panose="02040503050406030204" pitchFamily="18" charset="0"/>
            </a:rPr>
            <a:t>Choose normal operating conditions or </a:t>
          </a:r>
          <a:endParaRPr lang="en-IN" sz="1800" kern="1200" dirty="0">
            <a:latin typeface="Cambria Math" panose="02040503050406030204" pitchFamily="18" charset="0"/>
            <a:ea typeface="Cambria Math" panose="02040503050406030204" pitchFamily="18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Cambria Math" panose="02040503050406030204" pitchFamily="18" charset="0"/>
              <a:ea typeface="Cambria Math" panose="02040503050406030204" pitchFamily="18" charset="0"/>
            </a:rPr>
            <a:t>Accelerated testing</a:t>
          </a:r>
          <a:endParaRPr lang="en-IN" sz="1800" kern="1200" dirty="0">
            <a:latin typeface="Cambria Math" panose="02040503050406030204" pitchFamily="18" charset="0"/>
            <a:ea typeface="Cambria Math" panose="02040503050406030204" pitchFamily="18" charset="0"/>
          </a:endParaRPr>
        </a:p>
      </dsp:txBody>
      <dsp:txXfrm>
        <a:off x="6839002" y="814203"/>
        <a:ext cx="1998184" cy="1844640"/>
      </dsp:txXfrm>
    </dsp:sp>
    <dsp:sp modelId="{3779BE41-0D64-4C2D-AE03-93E12D9C92E5}">
      <dsp:nvSpPr>
        <dsp:cNvPr id="0" name=""/>
        <dsp:cNvSpPr/>
      </dsp:nvSpPr>
      <dsp:spPr>
        <a:xfrm>
          <a:off x="9116932" y="14929"/>
          <a:ext cx="1998184" cy="79927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Cambria Math" panose="02040503050406030204" pitchFamily="18" charset="0"/>
              <a:ea typeface="Cambria Math" panose="02040503050406030204" pitchFamily="18" charset="0"/>
            </a:rPr>
            <a:t>Method</a:t>
          </a:r>
          <a:endParaRPr lang="en-IN" sz="1800" kern="1200" dirty="0">
            <a:latin typeface="Cambria Math" panose="02040503050406030204" pitchFamily="18" charset="0"/>
            <a:ea typeface="Cambria Math" panose="02040503050406030204" pitchFamily="18" charset="0"/>
          </a:endParaRPr>
        </a:p>
      </dsp:txBody>
      <dsp:txXfrm>
        <a:off x="9116932" y="14929"/>
        <a:ext cx="1998184" cy="799273"/>
      </dsp:txXfrm>
    </dsp:sp>
    <dsp:sp modelId="{03506B63-4BB1-4B48-9704-242B0193500B}">
      <dsp:nvSpPr>
        <dsp:cNvPr id="0" name=""/>
        <dsp:cNvSpPr/>
      </dsp:nvSpPr>
      <dsp:spPr>
        <a:xfrm>
          <a:off x="9116932" y="814203"/>
          <a:ext cx="1998184" cy="1844640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Cambria Math" panose="02040503050406030204" pitchFamily="18" charset="0"/>
              <a:ea typeface="Cambria Math" panose="02040503050406030204" pitchFamily="18" charset="0"/>
            </a:rPr>
            <a:t>Pick test design</a:t>
          </a:r>
          <a:endParaRPr lang="en-IN" sz="1800" kern="1200" dirty="0">
            <a:latin typeface="Cambria Math" panose="02040503050406030204" pitchFamily="18" charset="0"/>
            <a:ea typeface="Cambria Math" panose="02040503050406030204" pitchFamily="18" charset="0"/>
          </a:endParaRPr>
        </a:p>
      </dsp:txBody>
      <dsp:txXfrm>
        <a:off x="9116932" y="814203"/>
        <a:ext cx="1998184" cy="18446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FF5814-842F-4242-ABF6-C35CE056C721}">
      <dsp:nvSpPr>
        <dsp:cNvPr id="0" name=""/>
        <dsp:cNvSpPr/>
      </dsp:nvSpPr>
      <dsp:spPr>
        <a:xfrm>
          <a:off x="7528864" y="3491527"/>
          <a:ext cx="1292937" cy="5765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3733"/>
              </a:lnTo>
              <a:lnTo>
                <a:pt x="1292937" y="343733"/>
              </a:lnTo>
              <a:lnTo>
                <a:pt x="1292937" y="576585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01452D-FE44-4549-9B1C-09407547B3C6}">
      <dsp:nvSpPr>
        <dsp:cNvPr id="0" name=""/>
        <dsp:cNvSpPr/>
      </dsp:nvSpPr>
      <dsp:spPr>
        <a:xfrm>
          <a:off x="6235926" y="3491527"/>
          <a:ext cx="1292937" cy="576585"/>
        </a:xfrm>
        <a:custGeom>
          <a:avLst/>
          <a:gdLst/>
          <a:ahLst/>
          <a:cxnLst/>
          <a:rect l="0" t="0" r="0" b="0"/>
          <a:pathLst>
            <a:path>
              <a:moveTo>
                <a:pt x="1292937" y="0"/>
              </a:moveTo>
              <a:lnTo>
                <a:pt x="1292937" y="343733"/>
              </a:lnTo>
              <a:lnTo>
                <a:pt x="0" y="343733"/>
              </a:lnTo>
              <a:lnTo>
                <a:pt x="0" y="576585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8323AB-D145-499E-9C27-A91BED624731}">
      <dsp:nvSpPr>
        <dsp:cNvPr id="0" name=""/>
        <dsp:cNvSpPr/>
      </dsp:nvSpPr>
      <dsp:spPr>
        <a:xfrm>
          <a:off x="4750245" y="1917004"/>
          <a:ext cx="2778618" cy="5765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3733"/>
              </a:lnTo>
              <a:lnTo>
                <a:pt x="2778618" y="343733"/>
              </a:lnTo>
              <a:lnTo>
                <a:pt x="2778618" y="576585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DE1FC5-757E-4082-A4F8-DA3D88C9F098}">
      <dsp:nvSpPr>
        <dsp:cNvPr id="0" name=""/>
        <dsp:cNvSpPr/>
      </dsp:nvSpPr>
      <dsp:spPr>
        <a:xfrm>
          <a:off x="2357112" y="3491527"/>
          <a:ext cx="1292937" cy="5765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3733"/>
              </a:lnTo>
              <a:lnTo>
                <a:pt x="1292937" y="343733"/>
              </a:lnTo>
              <a:lnTo>
                <a:pt x="1292937" y="576585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E10717-676C-42E6-B601-7591D6B53B76}">
      <dsp:nvSpPr>
        <dsp:cNvPr id="0" name=""/>
        <dsp:cNvSpPr/>
      </dsp:nvSpPr>
      <dsp:spPr>
        <a:xfrm>
          <a:off x="1064174" y="3491527"/>
          <a:ext cx="1292937" cy="576585"/>
        </a:xfrm>
        <a:custGeom>
          <a:avLst/>
          <a:gdLst/>
          <a:ahLst/>
          <a:cxnLst/>
          <a:rect l="0" t="0" r="0" b="0"/>
          <a:pathLst>
            <a:path>
              <a:moveTo>
                <a:pt x="1292937" y="0"/>
              </a:moveTo>
              <a:lnTo>
                <a:pt x="1292937" y="343733"/>
              </a:lnTo>
              <a:lnTo>
                <a:pt x="0" y="343733"/>
              </a:lnTo>
              <a:lnTo>
                <a:pt x="0" y="576585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DCBB11-9360-4C00-8378-B676A518D5F7}">
      <dsp:nvSpPr>
        <dsp:cNvPr id="0" name=""/>
        <dsp:cNvSpPr/>
      </dsp:nvSpPr>
      <dsp:spPr>
        <a:xfrm>
          <a:off x="2357112" y="1917004"/>
          <a:ext cx="2393132" cy="576585"/>
        </a:xfrm>
        <a:custGeom>
          <a:avLst/>
          <a:gdLst/>
          <a:ahLst/>
          <a:cxnLst/>
          <a:rect l="0" t="0" r="0" b="0"/>
          <a:pathLst>
            <a:path>
              <a:moveTo>
                <a:pt x="2393132" y="0"/>
              </a:moveTo>
              <a:lnTo>
                <a:pt x="2393132" y="343733"/>
              </a:lnTo>
              <a:lnTo>
                <a:pt x="0" y="343733"/>
              </a:lnTo>
              <a:lnTo>
                <a:pt x="0" y="576585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1F3073-C169-40C2-B6E6-397038B2543D}">
      <dsp:nvSpPr>
        <dsp:cNvPr id="0" name=""/>
        <dsp:cNvSpPr/>
      </dsp:nvSpPr>
      <dsp:spPr>
        <a:xfrm>
          <a:off x="3786531" y="919067"/>
          <a:ext cx="1927428" cy="99793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408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ambria Math" panose="02040503050406030204" pitchFamily="18" charset="0"/>
              <a:ea typeface="Cambria Math" panose="02040503050406030204" pitchFamily="18" charset="0"/>
            </a:rPr>
            <a:t>Push button</a:t>
          </a:r>
          <a:endParaRPr lang="en-IN" sz="1800" kern="1200" dirty="0">
            <a:latin typeface="Cambria Math" panose="02040503050406030204" pitchFamily="18" charset="0"/>
            <a:ea typeface="Cambria Math" panose="02040503050406030204" pitchFamily="18" charset="0"/>
          </a:endParaRPr>
        </a:p>
      </dsp:txBody>
      <dsp:txXfrm>
        <a:off x="3786531" y="919067"/>
        <a:ext cx="1927428" cy="997937"/>
      </dsp:txXfrm>
    </dsp:sp>
    <dsp:sp modelId="{55A68517-89D7-4125-8B6C-22F5168F34F8}">
      <dsp:nvSpPr>
        <dsp:cNvPr id="0" name=""/>
        <dsp:cNvSpPr/>
      </dsp:nvSpPr>
      <dsp:spPr>
        <a:xfrm>
          <a:off x="3383281" y="1695240"/>
          <a:ext cx="3312157" cy="33264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10160" rIns="4064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Cambria Math" panose="02040503050406030204" pitchFamily="18" charset="0"/>
              <a:ea typeface="Cambria Math" panose="02040503050406030204" pitchFamily="18" charset="0"/>
            </a:rPr>
            <a:t>Switch that operates when pressed</a:t>
          </a:r>
          <a:endParaRPr lang="en-IN" sz="1600" kern="1200" dirty="0">
            <a:latin typeface="Cambria Math" panose="02040503050406030204" pitchFamily="18" charset="0"/>
            <a:ea typeface="Cambria Math" panose="02040503050406030204" pitchFamily="18" charset="0"/>
          </a:endParaRPr>
        </a:p>
      </dsp:txBody>
      <dsp:txXfrm>
        <a:off x="3383281" y="1695240"/>
        <a:ext cx="3312157" cy="332645"/>
      </dsp:txXfrm>
    </dsp:sp>
    <dsp:sp modelId="{9A90C9F4-F221-4F93-8FCE-D5751B3010F6}">
      <dsp:nvSpPr>
        <dsp:cNvPr id="0" name=""/>
        <dsp:cNvSpPr/>
      </dsp:nvSpPr>
      <dsp:spPr>
        <a:xfrm>
          <a:off x="1393398" y="2493590"/>
          <a:ext cx="1927428" cy="99793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408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ambria Math" panose="02040503050406030204" pitchFamily="18" charset="0"/>
              <a:ea typeface="Cambria Math" panose="02040503050406030204" pitchFamily="18" charset="0"/>
            </a:rPr>
            <a:t>Based on Operation</a:t>
          </a:r>
          <a:endParaRPr lang="en-IN" sz="1800" kern="1200" dirty="0">
            <a:latin typeface="Cambria Math" panose="02040503050406030204" pitchFamily="18" charset="0"/>
            <a:ea typeface="Cambria Math" panose="02040503050406030204" pitchFamily="18" charset="0"/>
          </a:endParaRPr>
        </a:p>
      </dsp:txBody>
      <dsp:txXfrm>
        <a:off x="1393398" y="2493590"/>
        <a:ext cx="1927428" cy="997937"/>
      </dsp:txXfrm>
    </dsp:sp>
    <dsp:sp modelId="{1C5F48BA-AD74-4F0E-A126-71B28B391BD6}">
      <dsp:nvSpPr>
        <dsp:cNvPr id="0" name=""/>
        <dsp:cNvSpPr/>
      </dsp:nvSpPr>
      <dsp:spPr>
        <a:xfrm>
          <a:off x="1260299" y="868457"/>
          <a:ext cx="1734685" cy="33264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880" tIns="13970" rIns="55880" bIns="13970" numCol="1" spcCol="1270" anchor="ctr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200" kern="1200">
            <a:latin typeface="Cambria Math" panose="02040503050406030204" pitchFamily="18" charset="0"/>
            <a:ea typeface="Cambria Math" panose="02040503050406030204" pitchFamily="18" charset="0"/>
          </a:endParaRPr>
        </a:p>
      </dsp:txBody>
      <dsp:txXfrm>
        <a:off x="1260299" y="868457"/>
        <a:ext cx="1734685" cy="332645"/>
      </dsp:txXfrm>
    </dsp:sp>
    <dsp:sp modelId="{D7B58526-515A-45A6-BC16-339AA9BFD774}">
      <dsp:nvSpPr>
        <dsp:cNvPr id="0" name=""/>
        <dsp:cNvSpPr/>
      </dsp:nvSpPr>
      <dsp:spPr>
        <a:xfrm>
          <a:off x="100460" y="4068113"/>
          <a:ext cx="1927428" cy="997937"/>
        </a:xfrm>
        <a:prstGeom prst="rect">
          <a:avLst/>
        </a:prstGeom>
        <a:solidFill>
          <a:schemeClr val="accent3">
            <a:hueOff val="-1266857"/>
            <a:satOff val="11047"/>
            <a:lumOff val="235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408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ambria Math" panose="02040503050406030204" pitchFamily="18" charset="0"/>
              <a:ea typeface="Cambria Math" panose="02040503050406030204" pitchFamily="18" charset="0"/>
            </a:rPr>
            <a:t>Momentary Push button</a:t>
          </a:r>
          <a:endParaRPr lang="en-IN" sz="1800" kern="1200" dirty="0">
            <a:latin typeface="Cambria Math" panose="02040503050406030204" pitchFamily="18" charset="0"/>
            <a:ea typeface="Cambria Math" panose="02040503050406030204" pitchFamily="18" charset="0"/>
          </a:endParaRPr>
        </a:p>
      </dsp:txBody>
      <dsp:txXfrm>
        <a:off x="100460" y="4068113"/>
        <a:ext cx="1927428" cy="997937"/>
      </dsp:txXfrm>
    </dsp:sp>
    <dsp:sp modelId="{A4208209-02CC-4903-BF14-D5BA899C5254}">
      <dsp:nvSpPr>
        <dsp:cNvPr id="0" name=""/>
        <dsp:cNvSpPr/>
      </dsp:nvSpPr>
      <dsp:spPr>
        <a:xfrm>
          <a:off x="485946" y="4844287"/>
          <a:ext cx="1734685" cy="33264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-1266857"/>
              <a:satOff val="11047"/>
              <a:lumOff val="2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3048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Cambria Math" panose="02040503050406030204" pitchFamily="18" charset="0"/>
              <a:ea typeface="Cambria Math" panose="02040503050406030204" pitchFamily="18" charset="0"/>
            </a:rPr>
            <a:t>Works only when pressed</a:t>
          </a:r>
          <a:endParaRPr lang="en-IN" sz="1200" kern="1200" dirty="0">
            <a:latin typeface="Cambria Math" panose="02040503050406030204" pitchFamily="18" charset="0"/>
            <a:ea typeface="Cambria Math" panose="02040503050406030204" pitchFamily="18" charset="0"/>
          </a:endParaRPr>
        </a:p>
      </dsp:txBody>
      <dsp:txXfrm>
        <a:off x="485946" y="4844287"/>
        <a:ext cx="1734685" cy="332645"/>
      </dsp:txXfrm>
    </dsp:sp>
    <dsp:sp modelId="{9F891F23-E595-463F-85F4-4D49F409855B}">
      <dsp:nvSpPr>
        <dsp:cNvPr id="0" name=""/>
        <dsp:cNvSpPr/>
      </dsp:nvSpPr>
      <dsp:spPr>
        <a:xfrm>
          <a:off x="2686336" y="4068113"/>
          <a:ext cx="1927428" cy="997937"/>
        </a:xfrm>
        <a:prstGeom prst="rect">
          <a:avLst/>
        </a:prstGeom>
        <a:solidFill>
          <a:schemeClr val="accent3">
            <a:hueOff val="-2533715"/>
            <a:satOff val="22094"/>
            <a:lumOff val="470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408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ambria Math" panose="02040503050406030204" pitchFamily="18" charset="0"/>
              <a:ea typeface="Cambria Math" panose="02040503050406030204" pitchFamily="18" charset="0"/>
            </a:rPr>
            <a:t>Latching Push button </a:t>
          </a:r>
          <a:endParaRPr lang="en-IN" sz="1800" kern="1200" dirty="0">
            <a:latin typeface="Cambria Math" panose="02040503050406030204" pitchFamily="18" charset="0"/>
            <a:ea typeface="Cambria Math" panose="02040503050406030204" pitchFamily="18" charset="0"/>
          </a:endParaRPr>
        </a:p>
      </dsp:txBody>
      <dsp:txXfrm>
        <a:off x="2686336" y="4068113"/>
        <a:ext cx="1927428" cy="997937"/>
      </dsp:txXfrm>
    </dsp:sp>
    <dsp:sp modelId="{A567E479-C32C-4CDD-82C3-24DA60363193}">
      <dsp:nvSpPr>
        <dsp:cNvPr id="0" name=""/>
        <dsp:cNvSpPr/>
      </dsp:nvSpPr>
      <dsp:spPr>
        <a:xfrm>
          <a:off x="3071822" y="4844287"/>
          <a:ext cx="1734685" cy="33264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-2533715"/>
              <a:satOff val="22094"/>
              <a:lumOff val="4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6985" rIns="2794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Cambria Math" panose="02040503050406030204" pitchFamily="18" charset="0"/>
              <a:ea typeface="Cambria Math" panose="02040503050406030204" pitchFamily="18" charset="0"/>
            </a:rPr>
            <a:t>Stays ON or OFF after pressing</a:t>
          </a:r>
          <a:endParaRPr lang="en-IN" sz="1100" kern="1200" dirty="0">
            <a:latin typeface="Cambria Math" panose="02040503050406030204" pitchFamily="18" charset="0"/>
            <a:ea typeface="Cambria Math" panose="02040503050406030204" pitchFamily="18" charset="0"/>
          </a:endParaRPr>
        </a:p>
      </dsp:txBody>
      <dsp:txXfrm>
        <a:off x="3071822" y="4844287"/>
        <a:ext cx="1734685" cy="332645"/>
      </dsp:txXfrm>
    </dsp:sp>
    <dsp:sp modelId="{505F4E83-621A-4669-882E-F81BAAF361C9}">
      <dsp:nvSpPr>
        <dsp:cNvPr id="0" name=""/>
        <dsp:cNvSpPr/>
      </dsp:nvSpPr>
      <dsp:spPr>
        <a:xfrm>
          <a:off x="6565149" y="2493590"/>
          <a:ext cx="1927428" cy="997937"/>
        </a:xfrm>
        <a:prstGeom prst="rect">
          <a:avLst/>
        </a:prstGeom>
        <a:solidFill>
          <a:schemeClr val="accent3">
            <a:hueOff val="-3800572"/>
            <a:satOff val="33142"/>
            <a:lumOff val="705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408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Cambria Math" panose="02040503050406030204" pitchFamily="18" charset="0"/>
              <a:ea typeface="Cambria Math" panose="02040503050406030204" pitchFamily="18" charset="0"/>
            </a:rPr>
            <a:t>Based on Contact type</a:t>
          </a:r>
          <a:endParaRPr lang="en-IN" sz="1800" kern="1200" dirty="0">
            <a:latin typeface="Cambria Math" panose="02040503050406030204" pitchFamily="18" charset="0"/>
            <a:ea typeface="Cambria Math" panose="02040503050406030204" pitchFamily="18" charset="0"/>
          </a:endParaRPr>
        </a:p>
      </dsp:txBody>
      <dsp:txXfrm>
        <a:off x="6565149" y="2493590"/>
        <a:ext cx="1927428" cy="997937"/>
      </dsp:txXfrm>
    </dsp:sp>
    <dsp:sp modelId="{C0A5BB05-11E6-473A-A6BE-D815161A0327}">
      <dsp:nvSpPr>
        <dsp:cNvPr id="0" name=""/>
        <dsp:cNvSpPr/>
      </dsp:nvSpPr>
      <dsp:spPr>
        <a:xfrm>
          <a:off x="7040821" y="902280"/>
          <a:ext cx="1734685" cy="33264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880" tIns="13970" rIns="55880" bIns="13970" numCol="1" spcCol="1270" anchor="ctr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200" kern="1200">
            <a:latin typeface="Cambria Math" panose="02040503050406030204" pitchFamily="18" charset="0"/>
            <a:ea typeface="Cambria Math" panose="02040503050406030204" pitchFamily="18" charset="0"/>
          </a:endParaRPr>
        </a:p>
      </dsp:txBody>
      <dsp:txXfrm>
        <a:off x="7040821" y="902280"/>
        <a:ext cx="1734685" cy="332645"/>
      </dsp:txXfrm>
    </dsp:sp>
    <dsp:sp modelId="{19DBB5F4-027A-4942-9933-BAA6F6C82E60}">
      <dsp:nvSpPr>
        <dsp:cNvPr id="0" name=""/>
        <dsp:cNvSpPr/>
      </dsp:nvSpPr>
      <dsp:spPr>
        <a:xfrm>
          <a:off x="5272212" y="4068113"/>
          <a:ext cx="1927428" cy="997937"/>
        </a:xfrm>
        <a:prstGeom prst="rect">
          <a:avLst/>
        </a:prstGeom>
        <a:solidFill>
          <a:schemeClr val="accent3">
            <a:hueOff val="-5067429"/>
            <a:satOff val="44189"/>
            <a:lumOff val="941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408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Cambria Math" panose="02040503050406030204" pitchFamily="18" charset="0"/>
              <a:ea typeface="Cambria Math" panose="02040503050406030204" pitchFamily="18" charset="0"/>
            </a:rPr>
            <a:t>Normally Open (NO)</a:t>
          </a:r>
          <a:endParaRPr lang="en-IN" sz="1800" kern="1200" dirty="0">
            <a:latin typeface="Cambria Math" panose="02040503050406030204" pitchFamily="18" charset="0"/>
            <a:ea typeface="Cambria Math" panose="02040503050406030204" pitchFamily="18" charset="0"/>
          </a:endParaRPr>
        </a:p>
      </dsp:txBody>
      <dsp:txXfrm>
        <a:off x="5272212" y="4068113"/>
        <a:ext cx="1927428" cy="997937"/>
      </dsp:txXfrm>
    </dsp:sp>
    <dsp:sp modelId="{54D48F25-350A-4586-8816-65F02C77205D}">
      <dsp:nvSpPr>
        <dsp:cNvPr id="0" name=""/>
        <dsp:cNvSpPr/>
      </dsp:nvSpPr>
      <dsp:spPr>
        <a:xfrm>
          <a:off x="5657697" y="4844287"/>
          <a:ext cx="1734685" cy="33264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-5067429"/>
              <a:satOff val="44189"/>
              <a:lumOff val="94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6985" rIns="2794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Cambria Math" panose="02040503050406030204" pitchFamily="18" charset="0"/>
              <a:ea typeface="Cambria Math" panose="02040503050406030204" pitchFamily="18" charset="0"/>
            </a:rPr>
            <a:t>Circuit closes when pressed</a:t>
          </a:r>
          <a:endParaRPr lang="en-IN" sz="1100" kern="1200" dirty="0">
            <a:latin typeface="Cambria Math" panose="02040503050406030204" pitchFamily="18" charset="0"/>
            <a:ea typeface="Cambria Math" panose="02040503050406030204" pitchFamily="18" charset="0"/>
          </a:endParaRPr>
        </a:p>
      </dsp:txBody>
      <dsp:txXfrm>
        <a:off x="5657697" y="4844287"/>
        <a:ext cx="1734685" cy="332645"/>
      </dsp:txXfrm>
    </dsp:sp>
    <dsp:sp modelId="{9207E898-C10F-488A-95E3-DD2753537A57}">
      <dsp:nvSpPr>
        <dsp:cNvPr id="0" name=""/>
        <dsp:cNvSpPr/>
      </dsp:nvSpPr>
      <dsp:spPr>
        <a:xfrm>
          <a:off x="7858087" y="4068113"/>
          <a:ext cx="1927428" cy="997937"/>
        </a:xfrm>
        <a:prstGeom prst="rect">
          <a:avLst/>
        </a:prstGeom>
        <a:solidFill>
          <a:schemeClr val="accent3">
            <a:hueOff val="-6334286"/>
            <a:satOff val="55236"/>
            <a:lumOff val="1176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408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ambria Math" panose="02040503050406030204" pitchFamily="18" charset="0"/>
              <a:ea typeface="Cambria Math" panose="02040503050406030204" pitchFamily="18" charset="0"/>
            </a:rPr>
            <a:t>Normally Closed (NC)</a:t>
          </a:r>
          <a:endParaRPr lang="en-IN" sz="1800" kern="1200" dirty="0">
            <a:latin typeface="Cambria Math" panose="02040503050406030204" pitchFamily="18" charset="0"/>
            <a:ea typeface="Cambria Math" panose="02040503050406030204" pitchFamily="18" charset="0"/>
          </a:endParaRPr>
        </a:p>
      </dsp:txBody>
      <dsp:txXfrm>
        <a:off x="7858087" y="4068113"/>
        <a:ext cx="1927428" cy="997937"/>
      </dsp:txXfrm>
    </dsp:sp>
    <dsp:sp modelId="{F86986EA-2EDF-4E61-B37B-B33D3790F6CE}">
      <dsp:nvSpPr>
        <dsp:cNvPr id="0" name=""/>
        <dsp:cNvSpPr/>
      </dsp:nvSpPr>
      <dsp:spPr>
        <a:xfrm>
          <a:off x="8243573" y="4844287"/>
          <a:ext cx="1734685" cy="33264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-6334286"/>
              <a:satOff val="55236"/>
              <a:lumOff val="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6985" rIns="2794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Cambria Math" panose="02040503050406030204" pitchFamily="18" charset="0"/>
              <a:ea typeface="Cambria Math" panose="02040503050406030204" pitchFamily="18" charset="0"/>
            </a:rPr>
            <a:t>Circuit opens when pressed</a:t>
          </a:r>
          <a:endParaRPr lang="en-IN" sz="1100" kern="1200" dirty="0">
            <a:latin typeface="Cambria Math" panose="02040503050406030204" pitchFamily="18" charset="0"/>
            <a:ea typeface="Cambria Math" panose="02040503050406030204" pitchFamily="18" charset="0"/>
          </a:endParaRPr>
        </a:p>
      </dsp:txBody>
      <dsp:txXfrm>
        <a:off x="8243573" y="4844287"/>
        <a:ext cx="1734685" cy="3326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4/9/26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0CE03-6C3A-EB4D-A9B1-7EFD38B58412}" type="datetimeFigureOut">
              <a:rPr lang="en-US" smtClean="0"/>
              <a:t>4/9/26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57D50D-BAA9-464B-B391-243138E078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92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229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40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9197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0C6A29-4676-420C-BBE3-ACC2B80F64D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97097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0916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671A8-F3CB-C3DB-78DC-2AE0A2F9F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82E7F3-B329-F863-D154-7BA7F18099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C0EB03-DE86-3C5E-CF07-EF5B134D8D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33BEC9-2454-6DFE-A757-5882432EBA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6801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1098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65CBA-F7D7-426B-0F12-9DE7213E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A74878-A2CF-4E75-F6DF-FB50EEDC4C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E47BBF-1BE6-BDBE-B517-33E1CE71D5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729D2A-A5A1-7EAA-7DBD-8C2D9584D8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8098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18CB4-1E73-76BA-F318-B90BA40E2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3878C2-880E-053B-DCCF-DC41CD8FF0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0AC919-2709-AA56-5D88-1872D73DF9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B13C90-5E32-665B-C3BF-A0C92D16D8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5245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9492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7394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31279-8A1F-F0B5-57FC-4C7A75585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08E8B9-A8F9-02E4-6DC1-E894F69A50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C1E5C8-2EE9-BA3E-4351-87F6C5C5EE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68FAA-F4DF-45C2-D228-FAE70D0698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7475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0281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6818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09814-222B-8460-1C15-FDE99DF32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A7A98B-C4AD-FDE0-3D21-75B1E6EFE0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09EE78-E1E3-C738-8601-11EE4DBEA5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D5155-5A03-389A-2CB2-A21871826C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6407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A208E-BE0F-51D4-223F-FF34F6EBF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8DC7DA-74F3-1D75-A380-7BE363F447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40C930-7B66-C2F7-67E9-3684985A4B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660CE-CBA4-90E1-33A3-FB9A1CB78F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4641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26E58-7F1A-C969-1051-01F5F3337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5B44E1-661D-3A8A-98EC-4858D493F4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5CF480-7B1B-D5AB-F509-010E217202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1B3A4-14E4-0300-6013-E2A95F25AE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0599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46934-7F0E-30C8-EDA0-102B7F17A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367CE8-04B9-C3C4-337D-AC85F76115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5904AE-3FD1-9ECD-5BFF-472D23BBD8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F0FD3-8534-4C97-0BBB-99B233C3C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875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94C87-E57F-FF73-B4EA-95A1AD902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58D7AB-3755-700A-DC78-8C37E363B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7AD5F2-75EF-7C1D-B2C2-C193ADB90C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63B231-F676-CBAD-44C0-7642DB3B33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80312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B013B-24EC-FD33-49E7-718D1BAC4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0B9AB5-DFCD-482C-FADF-B02B80ACFF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F8812C-57A9-F136-270A-EB282545E9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492CE0-C6D4-1F7E-9367-087BC519A2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2293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1D99D-034F-D395-869B-315E86578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367B26-D88F-ADBB-DBB6-9ECD89B95D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B3935A-4D9E-1BD8-AC68-D3FAEE3B94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2D2FB8-029E-A8E1-D93E-FA4C60B6F7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29354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7F651-1939-3D3A-F544-5D089E864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A0F81B-35BF-F589-75BE-949E367470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D93515-FBC2-BE22-A733-46D4ED931C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09EE27-5B69-C070-5005-CF89A26D92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355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9429764-E305-A48D-5244-9BCD209022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8286859"/>
            <a:chOff x="0" y="1"/>
            <a:chExt cx="12192000" cy="8286859"/>
          </a:xfrm>
        </p:grpSpPr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45F65CE3-2411-E8E5-B72E-F5CBEC4DDC55}"/>
                </a:ext>
              </a:extLst>
            </p:cNvPr>
            <p:cNvSpPr/>
            <p:nvPr userDrawn="1"/>
          </p:nvSpPr>
          <p:spPr>
            <a:xfrm>
              <a:off x="4000500" y="1087403"/>
              <a:ext cx="8191500" cy="5770597"/>
            </a:xfrm>
            <a:custGeom>
              <a:avLst/>
              <a:gdLst>
                <a:gd name="connsiteX0" fmla="*/ 4929467 w 8191500"/>
                <a:gd name="connsiteY0" fmla="*/ 0 h 5770597"/>
                <a:gd name="connsiteX1" fmla="*/ 8065066 w 8191500"/>
                <a:gd name="connsiteY1" fmla="*/ 1118513 h 5770597"/>
                <a:gd name="connsiteX2" fmla="*/ 8191500 w 8191500"/>
                <a:gd name="connsiteY2" fmla="*/ 1227339 h 5770597"/>
                <a:gd name="connsiteX3" fmla="*/ 8191500 w 8191500"/>
                <a:gd name="connsiteY3" fmla="*/ 5770597 h 5770597"/>
                <a:gd name="connsiteX4" fmla="*/ 79523 w 8191500"/>
                <a:gd name="connsiteY4" fmla="*/ 5770597 h 5770597"/>
                <a:gd name="connsiteX5" fmla="*/ 56799 w 8191500"/>
                <a:gd name="connsiteY5" fmla="*/ 5644158 h 5770597"/>
                <a:gd name="connsiteX6" fmla="*/ 0 w 8191500"/>
                <a:gd name="connsiteY6" fmla="*/ 4898209 h 5770597"/>
                <a:gd name="connsiteX7" fmla="*/ 4929467 w 8191500"/>
                <a:gd name="connsiteY7" fmla="*/ 0 h 5770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191500" h="5770597">
                  <a:moveTo>
                    <a:pt x="4929467" y="0"/>
                  </a:moveTo>
                  <a:cubicBezTo>
                    <a:pt x="6120547" y="0"/>
                    <a:pt x="7212963" y="419755"/>
                    <a:pt x="8065066" y="1118513"/>
                  </a:cubicBezTo>
                  <a:lnTo>
                    <a:pt x="8191500" y="1227339"/>
                  </a:lnTo>
                  <a:lnTo>
                    <a:pt x="8191500" y="5770597"/>
                  </a:lnTo>
                  <a:lnTo>
                    <a:pt x="79523" y="5770597"/>
                  </a:lnTo>
                  <a:lnTo>
                    <a:pt x="56799" y="5644158"/>
                  </a:lnTo>
                  <a:cubicBezTo>
                    <a:pt x="19398" y="5400934"/>
                    <a:pt x="0" y="5151822"/>
                    <a:pt x="0" y="4898209"/>
                  </a:cubicBezTo>
                  <a:cubicBezTo>
                    <a:pt x="0" y="2193003"/>
                    <a:pt x="2206998" y="0"/>
                    <a:pt x="49294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B6B51B3-AA6C-9C5E-7032-5AEA05D4590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06241" y="183933"/>
              <a:ext cx="0" cy="1597708"/>
            </a:xfrm>
            <a:prstGeom prst="line">
              <a:avLst/>
            </a:prstGeom>
            <a:ln w="127000" cap="rnd">
              <a:solidFill>
                <a:schemeClr val="accent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: Shape 13">
              <a:extLst>
                <a:ext uri="{FF2B5EF4-FFF2-40B4-BE49-F238E27FC236}">
                  <a16:creationId xmlns:a16="http://schemas.microsoft.com/office/drawing/2014/main" id="{4F28561D-5B3C-F08A-F7B5-48E6B74EAEBD}"/>
                </a:ext>
              </a:extLst>
            </p:cNvPr>
            <p:cNvSpPr/>
            <p:nvPr userDrawn="1"/>
          </p:nvSpPr>
          <p:spPr>
            <a:xfrm>
              <a:off x="5292348" y="1"/>
              <a:ext cx="2279742" cy="1267785"/>
            </a:xfrm>
            <a:custGeom>
              <a:avLst/>
              <a:gdLst>
                <a:gd name="connsiteX0" fmla="*/ 0 w 2279742"/>
                <a:gd name="connsiteY0" fmla="*/ 0 h 1267785"/>
                <a:gd name="connsiteX1" fmla="*/ 138700 w 2279742"/>
                <a:gd name="connsiteY1" fmla="*/ 0 h 1267785"/>
                <a:gd name="connsiteX2" fmla="*/ 138700 w 2279742"/>
                <a:gd name="connsiteY2" fmla="*/ 1078193 h 1267785"/>
                <a:gd name="connsiteX3" fmla="*/ 2002733 w 2279742"/>
                <a:gd name="connsiteY3" fmla="*/ 0 h 1267785"/>
                <a:gd name="connsiteX4" fmla="*/ 2279742 w 2279742"/>
                <a:gd name="connsiteY4" fmla="*/ 0 h 1267785"/>
                <a:gd name="connsiteX5" fmla="*/ 104026 w 2279742"/>
                <a:gd name="connsiteY5" fmla="*/ 1258503 h 1267785"/>
                <a:gd name="connsiteX6" fmla="*/ 69351 w 2279742"/>
                <a:gd name="connsiteY6" fmla="*/ 1267785 h 1267785"/>
                <a:gd name="connsiteX7" fmla="*/ 0 w 2279742"/>
                <a:gd name="connsiteY7" fmla="*/ 1198436 h 1267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79742" h="1267785">
                  <a:moveTo>
                    <a:pt x="0" y="0"/>
                  </a:moveTo>
                  <a:lnTo>
                    <a:pt x="138700" y="0"/>
                  </a:lnTo>
                  <a:lnTo>
                    <a:pt x="138700" y="1078193"/>
                  </a:lnTo>
                  <a:lnTo>
                    <a:pt x="2002733" y="0"/>
                  </a:lnTo>
                  <a:lnTo>
                    <a:pt x="2279742" y="0"/>
                  </a:lnTo>
                  <a:lnTo>
                    <a:pt x="104026" y="1258503"/>
                  </a:lnTo>
                  <a:cubicBezTo>
                    <a:pt x="93484" y="1264595"/>
                    <a:pt x="81523" y="1267796"/>
                    <a:pt x="69351" y="1267785"/>
                  </a:cubicBezTo>
                  <a:cubicBezTo>
                    <a:pt x="31049" y="1267785"/>
                    <a:pt x="0" y="1236737"/>
                    <a:pt x="0" y="1198436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15">
              <a:extLst>
                <a:ext uri="{FF2B5EF4-FFF2-40B4-BE49-F238E27FC236}">
                  <a16:creationId xmlns:a16="http://schemas.microsoft.com/office/drawing/2014/main" id="{7BD7FF70-44B7-E753-26CD-E228B56C2517}"/>
                </a:ext>
              </a:extLst>
            </p:cNvPr>
            <p:cNvSpPr/>
            <p:nvPr userDrawn="1"/>
          </p:nvSpPr>
          <p:spPr>
            <a:xfrm>
              <a:off x="10208695" y="1"/>
              <a:ext cx="1135066" cy="477997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F9EE857-93B9-ACF6-2AB4-2A29C4B94776}"/>
                </a:ext>
              </a:extLst>
            </p:cNvPr>
            <p:cNvSpPr/>
            <p:nvPr userDrawn="1"/>
          </p:nvSpPr>
          <p:spPr>
            <a:xfrm>
              <a:off x="1569044" y="514898"/>
              <a:ext cx="2393351" cy="2328423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9">
              <a:extLst>
                <a:ext uri="{FF2B5EF4-FFF2-40B4-BE49-F238E27FC236}">
                  <a16:creationId xmlns:a16="http://schemas.microsoft.com/office/drawing/2014/main" id="{75030D84-5EEB-A095-3D43-0ED22BDB8406}"/>
                </a:ext>
              </a:extLst>
            </p:cNvPr>
            <p:cNvSpPr/>
            <p:nvPr userDrawn="1"/>
          </p:nvSpPr>
          <p:spPr>
            <a:xfrm flipH="1">
              <a:off x="0" y="2949740"/>
              <a:ext cx="1186451" cy="1771650"/>
            </a:xfrm>
            <a:custGeom>
              <a:avLst/>
              <a:gdLst>
                <a:gd name="connsiteX0" fmla="*/ 61913 w 1186451"/>
                <a:gd name="connsiteY0" fmla="*/ 0 h 1771650"/>
                <a:gd name="connsiteX1" fmla="*/ 1186451 w 1186451"/>
                <a:gd name="connsiteY1" fmla="*/ 0 h 1771650"/>
                <a:gd name="connsiteX2" fmla="*/ 1186451 w 1186451"/>
                <a:gd name="connsiteY2" fmla="*/ 123825 h 1771650"/>
                <a:gd name="connsiteX3" fmla="*/ 123825 w 1186451"/>
                <a:gd name="connsiteY3" fmla="*/ 123825 h 1771650"/>
                <a:gd name="connsiteX4" fmla="*/ 123825 w 1186451"/>
                <a:gd name="connsiteY4" fmla="*/ 1647825 h 1771650"/>
                <a:gd name="connsiteX5" fmla="*/ 1186451 w 1186451"/>
                <a:gd name="connsiteY5" fmla="*/ 1647825 h 1771650"/>
                <a:gd name="connsiteX6" fmla="*/ 1186451 w 1186451"/>
                <a:gd name="connsiteY6" fmla="*/ 1771650 h 1771650"/>
                <a:gd name="connsiteX7" fmla="*/ 61913 w 1186451"/>
                <a:gd name="connsiteY7" fmla="*/ 1771650 h 1771650"/>
                <a:gd name="connsiteX8" fmla="*/ 0 w 1186451"/>
                <a:gd name="connsiteY8" fmla="*/ 1709738 h 1771650"/>
                <a:gd name="connsiteX9" fmla="*/ 0 w 1186451"/>
                <a:gd name="connsiteY9" fmla="*/ 61913 h 1771650"/>
                <a:gd name="connsiteX10" fmla="*/ 61913 w 1186451"/>
                <a:gd name="connsiteY10" fmla="*/ 0 h 177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6451" h="1771650">
                  <a:moveTo>
                    <a:pt x="61913" y="0"/>
                  </a:moveTo>
                  <a:lnTo>
                    <a:pt x="1186451" y="0"/>
                  </a:lnTo>
                  <a:lnTo>
                    <a:pt x="1186451" y="123825"/>
                  </a:lnTo>
                  <a:lnTo>
                    <a:pt x="123825" y="123825"/>
                  </a:lnTo>
                  <a:lnTo>
                    <a:pt x="123825" y="1647825"/>
                  </a:lnTo>
                  <a:lnTo>
                    <a:pt x="1186451" y="1647825"/>
                  </a:lnTo>
                  <a:lnTo>
                    <a:pt x="1186451" y="1771650"/>
                  </a:lnTo>
                  <a:lnTo>
                    <a:pt x="61913" y="1771650"/>
                  </a:lnTo>
                  <a:cubicBezTo>
                    <a:pt x="27719" y="1771650"/>
                    <a:pt x="0" y="1743932"/>
                    <a:pt x="0" y="1709738"/>
                  </a:cubicBez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26E6DE3E-6851-19AD-2E60-22F006238173}"/>
                </a:ext>
              </a:extLst>
            </p:cNvPr>
            <p:cNvSpPr/>
            <p:nvPr userDrawn="1"/>
          </p:nvSpPr>
          <p:spPr>
            <a:xfrm rot="16200000">
              <a:off x="1539683" y="4203427"/>
              <a:ext cx="4083433" cy="4083433"/>
            </a:xfrm>
            <a:prstGeom prst="arc">
              <a:avLst/>
            </a:prstGeom>
            <a:ln w="127000" cap="rnd">
              <a:solidFill>
                <a:schemeClr val="accent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84474" y="2949739"/>
            <a:ext cx="6261291" cy="2396686"/>
          </a:xfrm>
        </p:spPr>
        <p:txBody>
          <a:bodyPr anchor="b" anchorCtr="0">
            <a:noAutofit/>
          </a:bodyPr>
          <a:lstStyle>
            <a:lvl1pPr algn="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E96D25F-53A2-6217-84B4-7EB874F0B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9189" y="941148"/>
            <a:ext cx="11182430" cy="4797821"/>
            <a:chOff x="489189" y="941148"/>
            <a:chExt cx="11182430" cy="4797821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50FA62D-C8AE-52B8-1712-6116756D1A83}"/>
                </a:ext>
              </a:extLst>
            </p:cNvPr>
            <p:cNvSpPr/>
            <p:nvPr userDrawn="1"/>
          </p:nvSpPr>
          <p:spPr>
            <a:xfrm>
              <a:off x="489189" y="1119031"/>
              <a:ext cx="4619938" cy="461993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1D2D6A01-57CF-3C0B-968C-E5A8FD352320}"/>
                </a:ext>
              </a:extLst>
            </p:cNvPr>
            <p:cNvSpPr/>
            <p:nvPr userDrawn="1"/>
          </p:nvSpPr>
          <p:spPr>
            <a:xfrm rot="19809111">
              <a:off x="8683720" y="941148"/>
              <a:ext cx="2987899" cy="2987899"/>
            </a:xfrm>
            <a:prstGeom prst="arc">
              <a:avLst>
                <a:gd name="adj1" fmla="val 15817365"/>
                <a:gd name="adj2" fmla="val 1781380"/>
              </a:avLst>
            </a:prstGeom>
            <a:ln w="127000" cap="rnd">
              <a:solidFill>
                <a:schemeClr val="accent4"/>
              </a:solidFill>
              <a:prstDash val="dash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10BEFAA-C349-7DB1-1827-0FA48A430AD8}"/>
                </a:ext>
              </a:extLst>
            </p:cNvPr>
            <p:cNvSpPr/>
            <p:nvPr userDrawn="1"/>
          </p:nvSpPr>
          <p:spPr>
            <a:xfrm>
              <a:off x="910048" y="4780992"/>
              <a:ext cx="546100" cy="546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57" y="1119031"/>
            <a:ext cx="4384736" cy="4619938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01708" y="554942"/>
            <a:ext cx="5552091" cy="5768220"/>
          </a:xfrm>
        </p:spPr>
        <p:txBody>
          <a:bodyPr anchor="ctr" anchorCtr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400"/>
            </a:lvl1pPr>
            <a:lvl2pPr marL="800100" indent="-3429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16573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4pPr>
            <a:lvl5pPr marL="21145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EF93C3C-09E9-6CD0-EF4B-6DE09539EE7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011782 w 12192000"/>
              <a:gd name="connsiteY0" fmla="*/ 4817511 h 6858000"/>
              <a:gd name="connsiteX1" fmla="*/ 8937059 w 12192000"/>
              <a:gd name="connsiteY1" fmla="*/ 4972626 h 6858000"/>
              <a:gd name="connsiteX2" fmla="*/ 8588084 w 12192000"/>
              <a:gd name="connsiteY2" fmla="*/ 5489438 h 6858000"/>
              <a:gd name="connsiteX3" fmla="*/ 8565206 w 12192000"/>
              <a:gd name="connsiteY3" fmla="*/ 5514611 h 6858000"/>
              <a:gd name="connsiteX4" fmla="*/ 8569944 w 12192000"/>
              <a:gd name="connsiteY4" fmla="*/ 5520198 h 6858000"/>
              <a:gd name="connsiteX5" fmla="*/ 8878607 w 12192000"/>
              <a:gd name="connsiteY5" fmla="*/ 5644582 h 6858000"/>
              <a:gd name="connsiteX6" fmla="*/ 9315123 w 12192000"/>
              <a:gd name="connsiteY6" fmla="*/ 5219907 h 6858000"/>
              <a:gd name="connsiteX7" fmla="*/ 9048519 w 12192000"/>
              <a:gd name="connsiteY7" fmla="*/ 4828605 h 6858000"/>
              <a:gd name="connsiteX8" fmla="*/ 6096000 w 12192000"/>
              <a:gd name="connsiteY8" fmla="*/ 200625 h 6858000"/>
              <a:gd name="connsiteX9" fmla="*/ 2867625 w 12192000"/>
              <a:gd name="connsiteY9" fmla="*/ 3429000 h 6858000"/>
              <a:gd name="connsiteX10" fmla="*/ 6096000 w 12192000"/>
              <a:gd name="connsiteY10" fmla="*/ 6657375 h 6858000"/>
              <a:gd name="connsiteX11" fmla="*/ 9324375 w 12192000"/>
              <a:gd name="connsiteY11" fmla="*/ 3429000 h 6858000"/>
              <a:gd name="connsiteX12" fmla="*/ 6096000 w 12192000"/>
              <a:gd name="connsiteY12" fmla="*/ 200625 h 6858000"/>
              <a:gd name="connsiteX13" fmla="*/ 0 w 12192000"/>
              <a:gd name="connsiteY13" fmla="*/ 0 h 6858000"/>
              <a:gd name="connsiteX14" fmla="*/ 12192000 w 12192000"/>
              <a:gd name="connsiteY14" fmla="*/ 0 h 6858000"/>
              <a:gd name="connsiteX15" fmla="*/ 12192000 w 12192000"/>
              <a:gd name="connsiteY15" fmla="*/ 6858000 h 6858000"/>
              <a:gd name="connsiteX16" fmla="*/ 0 w 12192000"/>
              <a:gd name="connsiteY1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2000" h="6858000">
                <a:moveTo>
                  <a:pt x="9011782" y="4817511"/>
                </a:moveTo>
                <a:lnTo>
                  <a:pt x="8937059" y="4972626"/>
                </a:lnTo>
                <a:cubicBezTo>
                  <a:pt x="8837255" y="5156349"/>
                  <a:pt x="8720206" y="5329344"/>
                  <a:pt x="8588084" y="5489438"/>
                </a:cubicBezTo>
                <a:lnTo>
                  <a:pt x="8565206" y="5514611"/>
                </a:lnTo>
                <a:lnTo>
                  <a:pt x="8569944" y="5520198"/>
                </a:lnTo>
                <a:cubicBezTo>
                  <a:pt x="8648938" y="5597049"/>
                  <a:pt x="8758066" y="5644582"/>
                  <a:pt x="8878607" y="5644582"/>
                </a:cubicBezTo>
                <a:cubicBezTo>
                  <a:pt x="9119688" y="5644582"/>
                  <a:pt x="9315123" y="5454449"/>
                  <a:pt x="9315123" y="5219907"/>
                </a:cubicBezTo>
                <a:cubicBezTo>
                  <a:pt x="9315123" y="5044001"/>
                  <a:pt x="9205191" y="4893074"/>
                  <a:pt x="9048519" y="4828605"/>
                </a:cubicBezTo>
                <a:close/>
                <a:moveTo>
                  <a:pt x="6096000" y="200625"/>
                </a:moveTo>
                <a:cubicBezTo>
                  <a:pt x="4313018" y="200625"/>
                  <a:pt x="2867625" y="1646018"/>
                  <a:pt x="2867625" y="3429000"/>
                </a:cubicBezTo>
                <a:cubicBezTo>
                  <a:pt x="2867625" y="5211982"/>
                  <a:pt x="4313018" y="6657375"/>
                  <a:pt x="6096000" y="6657375"/>
                </a:cubicBezTo>
                <a:cubicBezTo>
                  <a:pt x="7878982" y="6657375"/>
                  <a:pt x="9324375" y="5211982"/>
                  <a:pt x="9324375" y="3429000"/>
                </a:cubicBezTo>
                <a:cubicBezTo>
                  <a:pt x="9324375" y="1646018"/>
                  <a:pt x="7878982" y="200625"/>
                  <a:pt x="6096000" y="200625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D5C3C4BD-DFDB-76B4-17CA-7DA4D1729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9366740" flipV="1">
            <a:off x="2557952" y="-89828"/>
            <a:ext cx="7173200" cy="7173200"/>
          </a:xfrm>
          <a:prstGeom prst="arc">
            <a:avLst>
              <a:gd name="adj1" fmla="val 16200000"/>
              <a:gd name="adj2" fmla="val 20401595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2B04B61C-6467-D51D-0AF4-5C7D05F36C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68168" y="923544"/>
            <a:ext cx="6455664" cy="5010912"/>
          </a:xfrm>
          <a:prstGeom prst="rect">
            <a:avLst/>
          </a:prstGeom>
          <a:noFill/>
        </p:spPr>
        <p:txBody>
          <a:bodyPr lIns="0" rIns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7A19F4B-D154-3EB2-F86A-9A63283A3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565206" y="4817511"/>
            <a:ext cx="749917" cy="827071"/>
          </a:xfrm>
          <a:custGeom>
            <a:avLst/>
            <a:gdLst>
              <a:gd name="connsiteX0" fmla="*/ 446576 w 749917"/>
              <a:gd name="connsiteY0" fmla="*/ 0 h 827071"/>
              <a:gd name="connsiteX1" fmla="*/ 483313 w 749917"/>
              <a:gd name="connsiteY1" fmla="*/ 11094 h 827071"/>
              <a:gd name="connsiteX2" fmla="*/ 749917 w 749917"/>
              <a:gd name="connsiteY2" fmla="*/ 402396 h 827071"/>
              <a:gd name="connsiteX3" fmla="*/ 313401 w 749917"/>
              <a:gd name="connsiteY3" fmla="*/ 827071 h 827071"/>
              <a:gd name="connsiteX4" fmla="*/ 4738 w 749917"/>
              <a:gd name="connsiteY4" fmla="*/ 702687 h 827071"/>
              <a:gd name="connsiteX5" fmla="*/ 0 w 749917"/>
              <a:gd name="connsiteY5" fmla="*/ 697100 h 827071"/>
              <a:gd name="connsiteX6" fmla="*/ 22878 w 749917"/>
              <a:gd name="connsiteY6" fmla="*/ 671927 h 827071"/>
              <a:gd name="connsiteX7" fmla="*/ 371853 w 749917"/>
              <a:gd name="connsiteY7" fmla="*/ 155115 h 827071"/>
              <a:gd name="connsiteX8" fmla="*/ 446576 w 749917"/>
              <a:gd name="connsiteY8" fmla="*/ 0 h 82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9917" h="827071">
                <a:moveTo>
                  <a:pt x="446576" y="0"/>
                </a:moveTo>
                <a:lnTo>
                  <a:pt x="483313" y="11094"/>
                </a:lnTo>
                <a:cubicBezTo>
                  <a:pt x="639985" y="75563"/>
                  <a:pt x="749917" y="226490"/>
                  <a:pt x="749917" y="402396"/>
                </a:cubicBezTo>
                <a:cubicBezTo>
                  <a:pt x="749917" y="636938"/>
                  <a:pt x="554482" y="827071"/>
                  <a:pt x="313401" y="827071"/>
                </a:cubicBezTo>
                <a:cubicBezTo>
                  <a:pt x="192860" y="827071"/>
                  <a:pt x="83732" y="779538"/>
                  <a:pt x="4738" y="702687"/>
                </a:cubicBezTo>
                <a:lnTo>
                  <a:pt x="0" y="697100"/>
                </a:lnTo>
                <a:lnTo>
                  <a:pt x="22878" y="671927"/>
                </a:lnTo>
                <a:cubicBezTo>
                  <a:pt x="155000" y="511833"/>
                  <a:pt x="272049" y="338838"/>
                  <a:pt x="371853" y="155115"/>
                </a:cubicBezTo>
                <a:lnTo>
                  <a:pt x="4465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842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CB8A6E1-44B2-54E1-6460-1C9B27EE7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5698912" cy="6858001"/>
            <a:chOff x="0" y="-1"/>
            <a:chExt cx="5698912" cy="6858001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22D7888-22FA-4AA1-9BA4-CC61D6643D47}"/>
                </a:ext>
              </a:extLst>
            </p:cNvPr>
            <p:cNvSpPr/>
            <p:nvPr userDrawn="1"/>
          </p:nvSpPr>
          <p:spPr>
            <a:xfrm flipH="1">
              <a:off x="530529" y="0"/>
              <a:ext cx="1155142" cy="591009"/>
            </a:xfrm>
            <a:custGeom>
              <a:avLst/>
              <a:gdLst>
                <a:gd name="connsiteX0" fmla="*/ 1355 w 1155142"/>
                <a:gd name="connsiteY0" fmla="*/ 0 h 591009"/>
                <a:gd name="connsiteX1" fmla="*/ 1153787 w 1155142"/>
                <a:gd name="connsiteY1" fmla="*/ 0 h 591009"/>
                <a:gd name="connsiteX2" fmla="*/ 1155142 w 1155142"/>
                <a:gd name="connsiteY2" fmla="*/ 13438 h 591009"/>
                <a:gd name="connsiteX3" fmla="*/ 577571 w 1155142"/>
                <a:gd name="connsiteY3" fmla="*/ 591009 h 591009"/>
                <a:gd name="connsiteX4" fmla="*/ 0 w 1155142"/>
                <a:gd name="connsiteY4" fmla="*/ 13438 h 591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5142" h="591009">
                  <a:moveTo>
                    <a:pt x="1355" y="0"/>
                  </a:moveTo>
                  <a:lnTo>
                    <a:pt x="1153787" y="0"/>
                  </a:lnTo>
                  <a:lnTo>
                    <a:pt x="1155142" y="13438"/>
                  </a:lnTo>
                  <a:cubicBezTo>
                    <a:pt x="1155142" y="332422"/>
                    <a:pt x="896555" y="591009"/>
                    <a:pt x="577571" y="591009"/>
                  </a:cubicBezTo>
                  <a:cubicBezTo>
                    <a:pt x="258587" y="591009"/>
                    <a:pt x="0" y="332422"/>
                    <a:pt x="0" y="13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BB6E464-8999-4773-A1F2-E6CAA990E572}"/>
                </a:ext>
              </a:extLst>
            </p:cNvPr>
            <p:cNvSpPr/>
            <p:nvPr userDrawn="1"/>
          </p:nvSpPr>
          <p:spPr>
            <a:xfrm flipH="1">
              <a:off x="3961511" y="-1"/>
              <a:ext cx="1737401" cy="959536"/>
            </a:xfrm>
            <a:custGeom>
              <a:avLst/>
              <a:gdLst>
                <a:gd name="connsiteX0" fmla="*/ 0 w 1737401"/>
                <a:gd name="connsiteY0" fmla="*/ 0 h 959536"/>
                <a:gd name="connsiteX1" fmla="*/ 123825 w 1737401"/>
                <a:gd name="connsiteY1" fmla="*/ 0 h 959536"/>
                <a:gd name="connsiteX2" fmla="*/ 123825 w 1737401"/>
                <a:gd name="connsiteY2" fmla="*/ 790277 h 959536"/>
                <a:gd name="connsiteX3" fmla="*/ 1490095 w 1737401"/>
                <a:gd name="connsiteY3" fmla="*/ 0 h 959536"/>
                <a:gd name="connsiteX4" fmla="*/ 1737401 w 1737401"/>
                <a:gd name="connsiteY4" fmla="*/ 0 h 959536"/>
                <a:gd name="connsiteX5" fmla="*/ 92869 w 1737401"/>
                <a:gd name="connsiteY5" fmla="*/ 951249 h 959536"/>
                <a:gd name="connsiteX6" fmla="*/ 61913 w 1737401"/>
                <a:gd name="connsiteY6" fmla="*/ 959536 h 959536"/>
                <a:gd name="connsiteX7" fmla="*/ 0 w 1737401"/>
                <a:gd name="connsiteY7" fmla="*/ 897624 h 95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7401" h="959536">
                  <a:moveTo>
                    <a:pt x="0" y="0"/>
                  </a:moveTo>
                  <a:lnTo>
                    <a:pt x="123825" y="0"/>
                  </a:lnTo>
                  <a:lnTo>
                    <a:pt x="123825" y="790277"/>
                  </a:lnTo>
                  <a:lnTo>
                    <a:pt x="1490095" y="0"/>
                  </a:lnTo>
                  <a:lnTo>
                    <a:pt x="1737401" y="0"/>
                  </a:lnTo>
                  <a:lnTo>
                    <a:pt x="92869" y="951249"/>
                  </a:lnTo>
                  <a:cubicBezTo>
                    <a:pt x="83458" y="956688"/>
                    <a:pt x="72780" y="959546"/>
                    <a:pt x="61913" y="959536"/>
                  </a:cubicBezTo>
                  <a:cubicBezTo>
                    <a:pt x="27719" y="959536"/>
                    <a:pt x="0" y="931818"/>
                    <a:pt x="0" y="89762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EA14BE8-FDD0-4434-9C3E-BFF78C22D9E3}"/>
                </a:ext>
              </a:extLst>
            </p:cNvPr>
            <p:cNvSpPr/>
            <p:nvPr userDrawn="1"/>
          </p:nvSpPr>
          <p:spPr>
            <a:xfrm flipH="1">
              <a:off x="0" y="5835649"/>
              <a:ext cx="1548180" cy="1022351"/>
            </a:xfrm>
            <a:custGeom>
              <a:avLst/>
              <a:gdLst>
                <a:gd name="connsiteX0" fmla="*/ 61913 w 1548180"/>
                <a:gd name="connsiteY0" fmla="*/ 0 h 1022351"/>
                <a:gd name="connsiteX1" fmla="*/ 1548180 w 1548180"/>
                <a:gd name="connsiteY1" fmla="*/ 0 h 1022351"/>
                <a:gd name="connsiteX2" fmla="*/ 1548180 w 1548180"/>
                <a:gd name="connsiteY2" fmla="*/ 123825 h 1022351"/>
                <a:gd name="connsiteX3" fmla="*/ 123825 w 1548180"/>
                <a:gd name="connsiteY3" fmla="*/ 123825 h 1022351"/>
                <a:gd name="connsiteX4" fmla="*/ 123825 w 1548180"/>
                <a:gd name="connsiteY4" fmla="*/ 1022351 h 1022351"/>
                <a:gd name="connsiteX5" fmla="*/ 0 w 1548180"/>
                <a:gd name="connsiteY5" fmla="*/ 1022351 h 1022351"/>
                <a:gd name="connsiteX6" fmla="*/ 0 w 1548180"/>
                <a:gd name="connsiteY6" fmla="*/ 61913 h 1022351"/>
                <a:gd name="connsiteX7" fmla="*/ 61913 w 1548180"/>
                <a:gd name="connsiteY7" fmla="*/ 0 h 102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48180" h="1022351">
                  <a:moveTo>
                    <a:pt x="61913" y="0"/>
                  </a:moveTo>
                  <a:lnTo>
                    <a:pt x="1548180" y="0"/>
                  </a:lnTo>
                  <a:lnTo>
                    <a:pt x="1548180" y="123825"/>
                  </a:lnTo>
                  <a:lnTo>
                    <a:pt x="123825" y="123825"/>
                  </a:lnTo>
                  <a:lnTo>
                    <a:pt x="123825" y="1022351"/>
                  </a:lnTo>
                  <a:lnTo>
                    <a:pt x="0" y="1022351"/>
                  </a:ln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494E364-7EA8-4D92-915D-75D1A3A67C07}"/>
                </a:ext>
              </a:extLst>
            </p:cNvPr>
            <p:cNvSpPr/>
            <p:nvPr userDrawn="1"/>
          </p:nvSpPr>
          <p:spPr>
            <a:xfrm flipH="1">
              <a:off x="4132972" y="6258755"/>
              <a:ext cx="1565940" cy="599245"/>
            </a:xfrm>
            <a:custGeom>
              <a:avLst/>
              <a:gdLst>
                <a:gd name="connsiteX0" fmla="*/ 782970 w 1565940"/>
                <a:gd name="connsiteY0" fmla="*/ 0 h 599245"/>
                <a:gd name="connsiteX1" fmla="*/ 1528042 w 1565940"/>
                <a:gd name="connsiteY1" fmla="*/ 480469 h 599245"/>
                <a:gd name="connsiteX2" fmla="*/ 1565940 w 1565940"/>
                <a:gd name="connsiteY2" fmla="*/ 599245 h 599245"/>
                <a:gd name="connsiteX3" fmla="*/ 0 w 1565940"/>
                <a:gd name="connsiteY3" fmla="*/ 599245 h 599245"/>
                <a:gd name="connsiteX4" fmla="*/ 37898 w 1565940"/>
                <a:gd name="connsiteY4" fmla="*/ 480469 h 599245"/>
                <a:gd name="connsiteX5" fmla="*/ 782970 w 1565940"/>
                <a:gd name="connsiteY5" fmla="*/ 0 h 599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65940" h="599245">
                  <a:moveTo>
                    <a:pt x="782970" y="0"/>
                  </a:moveTo>
                  <a:cubicBezTo>
                    <a:pt x="1117910" y="0"/>
                    <a:pt x="1405287" y="198118"/>
                    <a:pt x="1528042" y="480469"/>
                  </a:cubicBezTo>
                  <a:lnTo>
                    <a:pt x="1565940" y="599245"/>
                  </a:lnTo>
                  <a:lnTo>
                    <a:pt x="0" y="599245"/>
                  </a:lnTo>
                  <a:lnTo>
                    <a:pt x="37898" y="480469"/>
                  </a:lnTo>
                  <a:cubicBezTo>
                    <a:pt x="160653" y="198118"/>
                    <a:pt x="448030" y="0"/>
                    <a:pt x="7829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4F9EBE3B-A856-C23C-4698-B764DF4BC7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22118" y="262762"/>
            <a:ext cx="5507421" cy="3649718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C9CB37-5251-201C-ACE3-FD69A00C772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7393" y="847600"/>
            <a:ext cx="4619625" cy="4617720"/>
          </a:xfrm>
          <a:prstGeom prst="ellipse">
            <a:avLst/>
          </a:prstGeom>
          <a:noFill/>
        </p:spPr>
        <p:txBody>
          <a:bodyPr tIns="54864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BF08299-9068-827D-783B-BFF5B95E957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22118" y="4058263"/>
            <a:ext cx="5507421" cy="2141482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1pPr>
            <a:lvl2pPr marL="228600">
              <a:lnSpc>
                <a:spcPct val="90000"/>
              </a:lnSpc>
              <a:buClr>
                <a:schemeClr val="accent2"/>
              </a:buClr>
              <a:defRPr sz="2000"/>
            </a:lvl2pPr>
            <a:lvl3pPr marL="457200">
              <a:lnSpc>
                <a:spcPct val="90000"/>
              </a:lnSpc>
              <a:buClr>
                <a:schemeClr val="accent2"/>
              </a:buClr>
              <a:defRPr sz="1800"/>
            </a:lvl3pPr>
            <a:lvl4pPr marL="685800">
              <a:lnSpc>
                <a:spcPct val="90000"/>
              </a:lnSpc>
              <a:buClr>
                <a:schemeClr val="accent2"/>
              </a:buClr>
              <a:defRPr sz="16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82496" y="6356350"/>
            <a:ext cx="1545336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/>
          <a:lstStyle>
            <a:lvl1pPr algn="l">
              <a:defRPr>
                <a:latin typeface="+mn-lt"/>
              </a:defRPr>
            </a:lvl1pPr>
          </a:lstStyle>
          <a:p>
            <a:pPr algn="l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6456" y="6356350"/>
            <a:ext cx="850392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7468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04803"/>
            <a:ext cx="10515600" cy="1472974"/>
          </a:xfrm>
        </p:spPr>
        <p:txBody>
          <a:bodyPr anchor="ctr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3FB7D8D-37C3-E089-EC02-FB49A13CBE1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1838099"/>
            <a:ext cx="8012113" cy="4284889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800"/>
            </a:lvl1pPr>
            <a:lvl2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600"/>
            </a:lvl2pPr>
            <a:lvl3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400"/>
            </a:lvl3pPr>
            <a:lvl4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200"/>
            </a:lvl4pPr>
            <a:lvl5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: Shape 14">
            <a:extLst>
              <a:ext uri="{FF2B5EF4-FFF2-40B4-BE49-F238E27FC236}">
                <a16:creationId xmlns:a16="http://schemas.microsoft.com/office/drawing/2014/main" id="{438B6FA2-AF11-618E-2B1A-38BF083DF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-381048" y="5144407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13">
            <a:extLst>
              <a:ext uri="{FF2B5EF4-FFF2-40B4-BE49-F238E27FC236}">
                <a16:creationId xmlns:a16="http://schemas.microsoft.com/office/drawing/2014/main" id="{A269A8D8-A4AE-CEFF-E928-7DB1CFB3E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9">
            <a:extLst>
              <a:ext uri="{FF2B5EF4-FFF2-40B4-BE49-F238E27FC236}">
                <a16:creationId xmlns:a16="http://schemas.microsoft.com/office/drawing/2014/main" id="{15418837-E689-97BE-9FAD-FEDBD599E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109434" y="3527042"/>
            <a:ext cx="1082566" cy="1616525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5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7DF76A42-387B-8D66-1214-D404620700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940621" y="704193"/>
            <a:ext cx="2296455" cy="229645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2ACE818-46EF-547E-9315-A84948303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7652" y="0"/>
            <a:ext cx="8798419" cy="6816262"/>
            <a:chOff x="577652" y="-28502"/>
            <a:chExt cx="8798419" cy="6816262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9644D21-8793-9A96-F305-5D20EE342B26}"/>
                </a:ext>
              </a:extLst>
            </p:cNvPr>
            <p:cNvSpPr/>
            <p:nvPr userDrawn="1"/>
          </p:nvSpPr>
          <p:spPr>
            <a:xfrm>
              <a:off x="2815929" y="148929"/>
              <a:ext cx="6560142" cy="656014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DF8D7AEF-C845-09F0-F31C-20B32BBA1EBA}"/>
                </a:ext>
              </a:extLst>
            </p:cNvPr>
            <p:cNvSpPr/>
            <p:nvPr userDrawn="1"/>
          </p:nvSpPr>
          <p:spPr>
            <a:xfrm rot="9222429" flipV="1">
              <a:off x="2494119" y="-28502"/>
              <a:ext cx="6816262" cy="6816262"/>
            </a:xfrm>
            <a:prstGeom prst="arc">
              <a:avLst>
                <a:gd name="adj1" fmla="val 16200000"/>
                <a:gd name="adj2" fmla="val 20093138"/>
              </a:avLst>
            </a:prstGeom>
            <a:ln w="127000" cap="rnd">
              <a:solidFill>
                <a:schemeClr val="accent4">
                  <a:alpha val="9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F9D44CB-887B-C74D-3E96-5607E84DAEFF}"/>
                </a:ext>
              </a:extLst>
            </p:cNvPr>
            <p:cNvSpPr/>
            <p:nvPr userDrawn="1"/>
          </p:nvSpPr>
          <p:spPr>
            <a:xfrm>
              <a:off x="577652" y="1085116"/>
              <a:ext cx="759403" cy="73880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87D193F4-2337-0048-1BE7-C9A8154191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936118" y="5508455"/>
            <a:ext cx="1082566" cy="1616525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EE4510-BCBA-C39A-BEF1-A391A3304F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494655" y="5270490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5929" y="1349825"/>
            <a:ext cx="6560142" cy="3063149"/>
          </a:xfrm>
        </p:spPr>
        <p:txBody>
          <a:bodyPr anchor="ctr">
            <a:no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15929" y="4412973"/>
            <a:ext cx="6560142" cy="1935571"/>
          </a:xfrm>
        </p:spPr>
        <p:txBody>
          <a:bodyPr>
            <a:no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4915163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0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FB01ADF-164A-96FB-0129-C2A0F0ED0A85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147896" y="1816916"/>
            <a:ext cx="5212080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0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263F0DD-A38B-64B8-7412-087B487E6D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536" y="2"/>
            <a:ext cx="12068464" cy="6857998"/>
            <a:chOff x="123536" y="2"/>
            <a:chExt cx="12068464" cy="6857998"/>
          </a:xfrm>
        </p:grpSpPr>
        <p:sp>
          <p:nvSpPr>
            <p:cNvPr id="12" name="Freeform: Shape 9">
              <a:extLst>
                <a:ext uri="{FF2B5EF4-FFF2-40B4-BE49-F238E27FC236}">
                  <a16:creationId xmlns:a16="http://schemas.microsoft.com/office/drawing/2014/main" id="{44CE2FB7-A856-E3C3-9798-73AAFB7901B8}"/>
                </a:ext>
              </a:extLst>
            </p:cNvPr>
            <p:cNvSpPr/>
            <p:nvPr userDrawn="1"/>
          </p:nvSpPr>
          <p:spPr>
            <a:xfrm>
              <a:off x="5671336" y="2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0">
              <a:extLst>
                <a:ext uri="{FF2B5EF4-FFF2-40B4-BE49-F238E27FC236}">
                  <a16:creationId xmlns:a16="http://schemas.microsoft.com/office/drawing/2014/main" id="{47ED62E5-894A-A8F9-A6DC-4A5C147CDE78}"/>
                </a:ext>
              </a:extLst>
            </p:cNvPr>
            <p:cNvSpPr/>
            <p:nvPr userDrawn="1"/>
          </p:nvSpPr>
          <p:spPr>
            <a:xfrm flipH="1">
              <a:off x="123536" y="5717905"/>
              <a:ext cx="1771609" cy="1140095"/>
            </a:xfrm>
            <a:custGeom>
              <a:avLst/>
              <a:gdLst>
                <a:gd name="connsiteX0" fmla="*/ 1561721 w 1771609"/>
                <a:gd name="connsiteY0" fmla="*/ 763041 h 1140095"/>
                <a:gd name="connsiteX1" fmla="*/ 1623024 w 1771609"/>
                <a:gd name="connsiteY1" fmla="*/ 792810 h 1140095"/>
                <a:gd name="connsiteX2" fmla="*/ 1711735 w 1771609"/>
                <a:gd name="connsiteY2" fmla="*/ 970132 h 1140095"/>
                <a:gd name="connsiteX3" fmla="*/ 1771609 w 1771609"/>
                <a:gd name="connsiteY3" fmla="*/ 1140095 h 1140095"/>
                <a:gd name="connsiteX4" fmla="*/ 1637225 w 1771609"/>
                <a:gd name="connsiteY4" fmla="*/ 1140095 h 1140095"/>
                <a:gd name="connsiteX5" fmla="*/ 1594820 w 1771609"/>
                <a:gd name="connsiteY5" fmla="*/ 1019711 h 1140095"/>
                <a:gd name="connsiteX6" fmla="*/ 1513200 w 1771609"/>
                <a:gd name="connsiteY6" fmla="*/ 856627 h 1140095"/>
                <a:gd name="connsiteX7" fmla="*/ 1538499 w 1771609"/>
                <a:gd name="connsiteY7" fmla="*/ 770415 h 1140095"/>
                <a:gd name="connsiteX8" fmla="*/ 1561721 w 1771609"/>
                <a:gd name="connsiteY8" fmla="*/ 763041 h 1140095"/>
                <a:gd name="connsiteX9" fmla="*/ 933455 w 1771609"/>
                <a:gd name="connsiteY9" fmla="*/ 161309 h 1140095"/>
                <a:gd name="connsiteX10" fmla="*/ 957797 w 1771609"/>
                <a:gd name="connsiteY10" fmla="*/ 167970 h 1140095"/>
                <a:gd name="connsiteX11" fmla="*/ 1286982 w 1771609"/>
                <a:gd name="connsiteY11" fmla="*/ 387616 h 1140095"/>
                <a:gd name="connsiteX12" fmla="*/ 1293725 w 1771609"/>
                <a:gd name="connsiteY12" fmla="*/ 477075 h 1140095"/>
                <a:gd name="connsiteX13" fmla="*/ 1245453 w 1771609"/>
                <a:gd name="connsiteY13" fmla="*/ 499154 h 1140095"/>
                <a:gd name="connsiteX14" fmla="*/ 1245167 w 1771609"/>
                <a:gd name="connsiteY14" fmla="*/ 499154 h 1140095"/>
                <a:gd name="connsiteX15" fmla="*/ 1203638 w 1771609"/>
                <a:gd name="connsiteY15" fmla="*/ 484104 h 1140095"/>
                <a:gd name="connsiteX16" fmla="*/ 900647 w 1771609"/>
                <a:gd name="connsiteY16" fmla="*/ 281508 h 1140095"/>
                <a:gd name="connsiteX17" fmla="*/ 872454 w 1771609"/>
                <a:gd name="connsiteY17" fmla="*/ 196164 h 1140095"/>
                <a:gd name="connsiteX18" fmla="*/ 933455 w 1771609"/>
                <a:gd name="connsiteY18" fmla="*/ 161309 h 1140095"/>
                <a:gd name="connsiteX19" fmla="*/ 256260 w 1771609"/>
                <a:gd name="connsiteY19" fmla="*/ 29 h 1140095"/>
                <a:gd name="connsiteX20" fmla="*/ 454020 w 1771609"/>
                <a:gd name="connsiteY20" fmla="*/ 13474 h 1140095"/>
                <a:gd name="connsiteX21" fmla="*/ 509236 w 1771609"/>
                <a:gd name="connsiteY21" fmla="*/ 84182 h 1140095"/>
                <a:gd name="connsiteX22" fmla="*/ 445829 w 1771609"/>
                <a:gd name="connsiteY22" fmla="*/ 139871 h 1140095"/>
                <a:gd name="connsiteX23" fmla="*/ 437447 w 1771609"/>
                <a:gd name="connsiteY23" fmla="*/ 139395 h 1140095"/>
                <a:gd name="connsiteX24" fmla="*/ 73211 w 1771609"/>
                <a:gd name="connsiteY24" fmla="*/ 137204 h 1140095"/>
                <a:gd name="connsiteX25" fmla="*/ 749 w 1771609"/>
                <a:gd name="connsiteY25" fmla="*/ 84082 h 1140095"/>
                <a:gd name="connsiteX26" fmla="*/ 53871 w 1771609"/>
                <a:gd name="connsiteY26" fmla="*/ 11621 h 1140095"/>
                <a:gd name="connsiteX27" fmla="*/ 58352 w 1771609"/>
                <a:gd name="connsiteY27" fmla="*/ 11093 h 1140095"/>
                <a:gd name="connsiteX28" fmla="*/ 256260 w 1771609"/>
                <a:gd name="connsiteY28" fmla="*/ 29 h 1140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71609" h="1140095">
                  <a:moveTo>
                    <a:pt x="1561721" y="763041"/>
                  </a:moveTo>
                  <a:cubicBezTo>
                    <a:pt x="1585506" y="760324"/>
                    <a:pt x="1609722" y="771249"/>
                    <a:pt x="1623024" y="792810"/>
                  </a:cubicBezTo>
                  <a:cubicBezTo>
                    <a:pt x="1656300" y="850065"/>
                    <a:pt x="1685920" y="909291"/>
                    <a:pt x="1711735" y="970132"/>
                  </a:cubicBezTo>
                  <a:lnTo>
                    <a:pt x="1771609" y="1140095"/>
                  </a:lnTo>
                  <a:lnTo>
                    <a:pt x="1637225" y="1140095"/>
                  </a:lnTo>
                  <a:lnTo>
                    <a:pt x="1594820" y="1019711"/>
                  </a:lnTo>
                  <a:cubicBezTo>
                    <a:pt x="1571072" y="963753"/>
                    <a:pt x="1543818" y="909282"/>
                    <a:pt x="1513200" y="856627"/>
                  </a:cubicBezTo>
                  <a:cubicBezTo>
                    <a:pt x="1496379" y="825834"/>
                    <a:pt x="1507704" y="787236"/>
                    <a:pt x="1538499" y="770415"/>
                  </a:cubicBezTo>
                  <a:cubicBezTo>
                    <a:pt x="1545912" y="766367"/>
                    <a:pt x="1553792" y="763946"/>
                    <a:pt x="1561721" y="763041"/>
                  </a:cubicBezTo>
                  <a:close/>
                  <a:moveTo>
                    <a:pt x="933455" y="161309"/>
                  </a:moveTo>
                  <a:cubicBezTo>
                    <a:pt x="941693" y="161855"/>
                    <a:pt x="949959" y="164025"/>
                    <a:pt x="957797" y="167970"/>
                  </a:cubicBezTo>
                  <a:cubicBezTo>
                    <a:pt x="1076184" y="227289"/>
                    <a:pt x="1186759" y="301068"/>
                    <a:pt x="1286982" y="387616"/>
                  </a:cubicBezTo>
                  <a:cubicBezTo>
                    <a:pt x="1313547" y="410457"/>
                    <a:pt x="1316566" y="450510"/>
                    <a:pt x="1293725" y="477075"/>
                  </a:cubicBezTo>
                  <a:cubicBezTo>
                    <a:pt x="1281638" y="491137"/>
                    <a:pt x="1263998" y="499204"/>
                    <a:pt x="1245453" y="499154"/>
                  </a:cubicBezTo>
                  <a:lnTo>
                    <a:pt x="1245167" y="499154"/>
                  </a:lnTo>
                  <a:cubicBezTo>
                    <a:pt x="1229965" y="499301"/>
                    <a:pt x="1215220" y="493956"/>
                    <a:pt x="1203638" y="484104"/>
                  </a:cubicBezTo>
                  <a:cubicBezTo>
                    <a:pt x="1111407" y="404300"/>
                    <a:pt x="1009633" y="336248"/>
                    <a:pt x="900647" y="281508"/>
                  </a:cubicBezTo>
                  <a:cubicBezTo>
                    <a:pt x="869295" y="265726"/>
                    <a:pt x="856672" y="227516"/>
                    <a:pt x="872454" y="196164"/>
                  </a:cubicBezTo>
                  <a:cubicBezTo>
                    <a:pt x="884290" y="172650"/>
                    <a:pt x="908742" y="159670"/>
                    <a:pt x="933455" y="161309"/>
                  </a:cubicBezTo>
                  <a:close/>
                  <a:moveTo>
                    <a:pt x="256260" y="29"/>
                  </a:moveTo>
                  <a:cubicBezTo>
                    <a:pt x="322331" y="427"/>
                    <a:pt x="388378" y="4909"/>
                    <a:pt x="454020" y="13474"/>
                  </a:cubicBezTo>
                  <a:cubicBezTo>
                    <a:pt x="488793" y="17752"/>
                    <a:pt x="513514" y="49409"/>
                    <a:pt x="509236" y="84182"/>
                  </a:cubicBezTo>
                  <a:cubicBezTo>
                    <a:pt x="505303" y="116151"/>
                    <a:pt x="478038" y="140098"/>
                    <a:pt x="445829" y="139871"/>
                  </a:cubicBezTo>
                  <a:cubicBezTo>
                    <a:pt x="443027" y="139899"/>
                    <a:pt x="440227" y="139740"/>
                    <a:pt x="437447" y="139395"/>
                  </a:cubicBezTo>
                  <a:cubicBezTo>
                    <a:pt x="316592" y="123615"/>
                    <a:pt x="194247" y="122878"/>
                    <a:pt x="73211" y="137204"/>
                  </a:cubicBezTo>
                  <a:cubicBezTo>
                    <a:pt x="38532" y="142545"/>
                    <a:pt x="6090" y="118762"/>
                    <a:pt x="749" y="84082"/>
                  </a:cubicBezTo>
                  <a:cubicBezTo>
                    <a:pt x="-4591" y="49403"/>
                    <a:pt x="19192" y="16961"/>
                    <a:pt x="53871" y="11621"/>
                  </a:cubicBezTo>
                  <a:cubicBezTo>
                    <a:pt x="55358" y="11392"/>
                    <a:pt x="56852" y="11216"/>
                    <a:pt x="58352" y="11093"/>
                  </a:cubicBezTo>
                  <a:cubicBezTo>
                    <a:pt x="124093" y="3319"/>
                    <a:pt x="190189" y="-369"/>
                    <a:pt x="256260" y="29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1">
              <a:extLst>
                <a:ext uri="{FF2B5EF4-FFF2-40B4-BE49-F238E27FC236}">
                  <a16:creationId xmlns:a16="http://schemas.microsoft.com/office/drawing/2014/main" id="{5C181CD4-C69B-2826-AF23-060D677248A9}"/>
                </a:ext>
              </a:extLst>
            </p:cNvPr>
            <p:cNvSpPr/>
            <p:nvPr userDrawn="1"/>
          </p:nvSpPr>
          <p:spPr>
            <a:xfrm rot="5400000">
              <a:off x="11328915" y="3872201"/>
              <a:ext cx="1214656" cy="511514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4/9/26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0538251-2B75-FA20-0F29-FB58583E612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1825625"/>
            <a:ext cx="3108958" cy="429768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1pPr>
            <a:lvl2pPr marL="2857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2pPr>
            <a:lvl3pPr marL="65151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92583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4pPr>
            <a:lvl5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06C49DD-8C29-93EA-04F4-22F84080DF5C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661820" y="1816916"/>
            <a:ext cx="6698156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4/9/26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1E75594D-82D2-74F6-56EC-46FCD28CB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94966" y="0"/>
            <a:ext cx="1214656" cy="511514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13">
            <a:extLst>
              <a:ext uri="{FF2B5EF4-FFF2-40B4-BE49-F238E27FC236}">
                <a16:creationId xmlns:a16="http://schemas.microsoft.com/office/drawing/2014/main" id="{FF4E0F5B-0892-2688-EFD3-284369DA5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8097530" y="5590215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1D8715A-3067-732D-C410-868C7CCCF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982378" y="551212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807BCF9-2F5B-200E-2E6C-E177DB56E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7458"/>
            <a:ext cx="7083733" cy="6182202"/>
            <a:chOff x="0" y="7460"/>
            <a:chExt cx="7083733" cy="6182202"/>
          </a:xfrm>
        </p:grpSpPr>
        <p:sp>
          <p:nvSpPr>
            <p:cNvPr id="9" name="Freeform: Shape 14">
              <a:extLst>
                <a:ext uri="{FF2B5EF4-FFF2-40B4-BE49-F238E27FC236}">
                  <a16:creationId xmlns:a16="http://schemas.microsoft.com/office/drawing/2014/main" id="{7A624B2B-50FD-9351-987F-2E5A5472CAB6}"/>
                </a:ext>
              </a:extLst>
            </p:cNvPr>
            <p:cNvSpPr/>
            <p:nvPr userDrawn="1"/>
          </p:nvSpPr>
          <p:spPr>
            <a:xfrm rot="16200000">
              <a:off x="-388933" y="4841194"/>
              <a:ext cx="1737401" cy="959536"/>
            </a:xfrm>
            <a:custGeom>
              <a:avLst/>
              <a:gdLst>
                <a:gd name="connsiteX0" fmla="*/ 0 w 1737401"/>
                <a:gd name="connsiteY0" fmla="*/ 0 h 959536"/>
                <a:gd name="connsiteX1" fmla="*/ 123825 w 1737401"/>
                <a:gd name="connsiteY1" fmla="*/ 0 h 959536"/>
                <a:gd name="connsiteX2" fmla="*/ 123825 w 1737401"/>
                <a:gd name="connsiteY2" fmla="*/ 790277 h 959536"/>
                <a:gd name="connsiteX3" fmla="*/ 1490095 w 1737401"/>
                <a:gd name="connsiteY3" fmla="*/ 0 h 959536"/>
                <a:gd name="connsiteX4" fmla="*/ 1737401 w 1737401"/>
                <a:gd name="connsiteY4" fmla="*/ 0 h 959536"/>
                <a:gd name="connsiteX5" fmla="*/ 92869 w 1737401"/>
                <a:gd name="connsiteY5" fmla="*/ 951249 h 959536"/>
                <a:gd name="connsiteX6" fmla="*/ 61913 w 1737401"/>
                <a:gd name="connsiteY6" fmla="*/ 959536 h 959536"/>
                <a:gd name="connsiteX7" fmla="*/ 0 w 1737401"/>
                <a:gd name="connsiteY7" fmla="*/ 897624 h 95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7401" h="959536">
                  <a:moveTo>
                    <a:pt x="0" y="0"/>
                  </a:moveTo>
                  <a:lnTo>
                    <a:pt x="123825" y="0"/>
                  </a:lnTo>
                  <a:lnTo>
                    <a:pt x="123825" y="790277"/>
                  </a:lnTo>
                  <a:lnTo>
                    <a:pt x="1490095" y="0"/>
                  </a:lnTo>
                  <a:lnTo>
                    <a:pt x="1737401" y="0"/>
                  </a:lnTo>
                  <a:lnTo>
                    <a:pt x="92869" y="951249"/>
                  </a:lnTo>
                  <a:cubicBezTo>
                    <a:pt x="83458" y="956688"/>
                    <a:pt x="72780" y="959546"/>
                    <a:pt x="61913" y="959536"/>
                  </a:cubicBezTo>
                  <a:cubicBezTo>
                    <a:pt x="27719" y="959536"/>
                    <a:pt x="0" y="931818"/>
                    <a:pt x="0" y="89762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13">
              <a:extLst>
                <a:ext uri="{FF2B5EF4-FFF2-40B4-BE49-F238E27FC236}">
                  <a16:creationId xmlns:a16="http://schemas.microsoft.com/office/drawing/2014/main" id="{51E534EE-E0F1-2BD9-9A82-7656B90A2D9D}"/>
                </a:ext>
              </a:extLst>
            </p:cNvPr>
            <p:cNvSpPr/>
            <p:nvPr userDrawn="1"/>
          </p:nvSpPr>
          <p:spPr>
            <a:xfrm>
              <a:off x="6234405" y="7460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437"/>
            <a:ext cx="5257800" cy="2324046"/>
          </a:xfrm>
        </p:spPr>
        <p:txBody>
          <a:bodyPr anchor="b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657316"/>
            <a:ext cx="5257800" cy="3369858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13114" y="845068"/>
            <a:ext cx="5193792" cy="5193792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4/9/26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21BD3DB-6F51-C1AE-FF0E-D0BDCB55F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536" y="2"/>
            <a:ext cx="11220225" cy="6857998"/>
            <a:chOff x="123536" y="2"/>
            <a:chExt cx="11220225" cy="6857998"/>
          </a:xfrm>
        </p:grpSpPr>
        <p:sp>
          <p:nvSpPr>
            <p:cNvPr id="12" name="Freeform: Shape 7">
              <a:extLst>
                <a:ext uri="{FF2B5EF4-FFF2-40B4-BE49-F238E27FC236}">
                  <a16:creationId xmlns:a16="http://schemas.microsoft.com/office/drawing/2014/main" id="{59903C17-0733-BE0C-7392-283FEC2E98B0}"/>
                </a:ext>
              </a:extLst>
            </p:cNvPr>
            <p:cNvSpPr/>
            <p:nvPr/>
          </p:nvSpPr>
          <p:spPr>
            <a:xfrm flipH="1">
              <a:off x="123536" y="5717905"/>
              <a:ext cx="1771609" cy="1140095"/>
            </a:xfrm>
            <a:custGeom>
              <a:avLst/>
              <a:gdLst>
                <a:gd name="connsiteX0" fmla="*/ 1561721 w 1771609"/>
                <a:gd name="connsiteY0" fmla="*/ 763041 h 1140095"/>
                <a:gd name="connsiteX1" fmla="*/ 1623024 w 1771609"/>
                <a:gd name="connsiteY1" fmla="*/ 792810 h 1140095"/>
                <a:gd name="connsiteX2" fmla="*/ 1711735 w 1771609"/>
                <a:gd name="connsiteY2" fmla="*/ 970132 h 1140095"/>
                <a:gd name="connsiteX3" fmla="*/ 1771609 w 1771609"/>
                <a:gd name="connsiteY3" fmla="*/ 1140095 h 1140095"/>
                <a:gd name="connsiteX4" fmla="*/ 1637225 w 1771609"/>
                <a:gd name="connsiteY4" fmla="*/ 1140095 h 1140095"/>
                <a:gd name="connsiteX5" fmla="*/ 1594820 w 1771609"/>
                <a:gd name="connsiteY5" fmla="*/ 1019711 h 1140095"/>
                <a:gd name="connsiteX6" fmla="*/ 1513200 w 1771609"/>
                <a:gd name="connsiteY6" fmla="*/ 856627 h 1140095"/>
                <a:gd name="connsiteX7" fmla="*/ 1538499 w 1771609"/>
                <a:gd name="connsiteY7" fmla="*/ 770415 h 1140095"/>
                <a:gd name="connsiteX8" fmla="*/ 1561721 w 1771609"/>
                <a:gd name="connsiteY8" fmla="*/ 763041 h 1140095"/>
                <a:gd name="connsiteX9" fmla="*/ 933455 w 1771609"/>
                <a:gd name="connsiteY9" fmla="*/ 161309 h 1140095"/>
                <a:gd name="connsiteX10" fmla="*/ 957797 w 1771609"/>
                <a:gd name="connsiteY10" fmla="*/ 167970 h 1140095"/>
                <a:gd name="connsiteX11" fmla="*/ 1286982 w 1771609"/>
                <a:gd name="connsiteY11" fmla="*/ 387616 h 1140095"/>
                <a:gd name="connsiteX12" fmla="*/ 1293725 w 1771609"/>
                <a:gd name="connsiteY12" fmla="*/ 477075 h 1140095"/>
                <a:gd name="connsiteX13" fmla="*/ 1245453 w 1771609"/>
                <a:gd name="connsiteY13" fmla="*/ 499154 h 1140095"/>
                <a:gd name="connsiteX14" fmla="*/ 1245167 w 1771609"/>
                <a:gd name="connsiteY14" fmla="*/ 499154 h 1140095"/>
                <a:gd name="connsiteX15" fmla="*/ 1203638 w 1771609"/>
                <a:gd name="connsiteY15" fmla="*/ 484104 h 1140095"/>
                <a:gd name="connsiteX16" fmla="*/ 900647 w 1771609"/>
                <a:gd name="connsiteY16" fmla="*/ 281508 h 1140095"/>
                <a:gd name="connsiteX17" fmla="*/ 872454 w 1771609"/>
                <a:gd name="connsiteY17" fmla="*/ 196164 h 1140095"/>
                <a:gd name="connsiteX18" fmla="*/ 933455 w 1771609"/>
                <a:gd name="connsiteY18" fmla="*/ 161309 h 1140095"/>
                <a:gd name="connsiteX19" fmla="*/ 256260 w 1771609"/>
                <a:gd name="connsiteY19" fmla="*/ 29 h 1140095"/>
                <a:gd name="connsiteX20" fmla="*/ 454020 w 1771609"/>
                <a:gd name="connsiteY20" fmla="*/ 13474 h 1140095"/>
                <a:gd name="connsiteX21" fmla="*/ 509236 w 1771609"/>
                <a:gd name="connsiteY21" fmla="*/ 84182 h 1140095"/>
                <a:gd name="connsiteX22" fmla="*/ 445829 w 1771609"/>
                <a:gd name="connsiteY22" fmla="*/ 139871 h 1140095"/>
                <a:gd name="connsiteX23" fmla="*/ 437447 w 1771609"/>
                <a:gd name="connsiteY23" fmla="*/ 139395 h 1140095"/>
                <a:gd name="connsiteX24" fmla="*/ 73211 w 1771609"/>
                <a:gd name="connsiteY24" fmla="*/ 137204 h 1140095"/>
                <a:gd name="connsiteX25" fmla="*/ 749 w 1771609"/>
                <a:gd name="connsiteY25" fmla="*/ 84082 h 1140095"/>
                <a:gd name="connsiteX26" fmla="*/ 53871 w 1771609"/>
                <a:gd name="connsiteY26" fmla="*/ 11621 h 1140095"/>
                <a:gd name="connsiteX27" fmla="*/ 58352 w 1771609"/>
                <a:gd name="connsiteY27" fmla="*/ 11093 h 1140095"/>
                <a:gd name="connsiteX28" fmla="*/ 256260 w 1771609"/>
                <a:gd name="connsiteY28" fmla="*/ 29 h 1140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71609" h="1140095">
                  <a:moveTo>
                    <a:pt x="1561721" y="763041"/>
                  </a:moveTo>
                  <a:cubicBezTo>
                    <a:pt x="1585506" y="760324"/>
                    <a:pt x="1609722" y="771249"/>
                    <a:pt x="1623024" y="792810"/>
                  </a:cubicBezTo>
                  <a:cubicBezTo>
                    <a:pt x="1656300" y="850065"/>
                    <a:pt x="1685920" y="909291"/>
                    <a:pt x="1711735" y="970132"/>
                  </a:cubicBezTo>
                  <a:lnTo>
                    <a:pt x="1771609" y="1140095"/>
                  </a:lnTo>
                  <a:lnTo>
                    <a:pt x="1637225" y="1140095"/>
                  </a:lnTo>
                  <a:lnTo>
                    <a:pt x="1594820" y="1019711"/>
                  </a:lnTo>
                  <a:cubicBezTo>
                    <a:pt x="1571072" y="963753"/>
                    <a:pt x="1543818" y="909282"/>
                    <a:pt x="1513200" y="856627"/>
                  </a:cubicBezTo>
                  <a:cubicBezTo>
                    <a:pt x="1496379" y="825834"/>
                    <a:pt x="1507704" y="787236"/>
                    <a:pt x="1538499" y="770415"/>
                  </a:cubicBezTo>
                  <a:cubicBezTo>
                    <a:pt x="1545912" y="766367"/>
                    <a:pt x="1553792" y="763946"/>
                    <a:pt x="1561721" y="763041"/>
                  </a:cubicBezTo>
                  <a:close/>
                  <a:moveTo>
                    <a:pt x="933455" y="161309"/>
                  </a:moveTo>
                  <a:cubicBezTo>
                    <a:pt x="941693" y="161855"/>
                    <a:pt x="949959" y="164025"/>
                    <a:pt x="957797" y="167970"/>
                  </a:cubicBezTo>
                  <a:cubicBezTo>
                    <a:pt x="1076184" y="227289"/>
                    <a:pt x="1186759" y="301068"/>
                    <a:pt x="1286982" y="387616"/>
                  </a:cubicBezTo>
                  <a:cubicBezTo>
                    <a:pt x="1313547" y="410457"/>
                    <a:pt x="1316566" y="450510"/>
                    <a:pt x="1293725" y="477075"/>
                  </a:cubicBezTo>
                  <a:cubicBezTo>
                    <a:pt x="1281638" y="491137"/>
                    <a:pt x="1263998" y="499204"/>
                    <a:pt x="1245453" y="499154"/>
                  </a:cubicBezTo>
                  <a:lnTo>
                    <a:pt x="1245167" y="499154"/>
                  </a:lnTo>
                  <a:cubicBezTo>
                    <a:pt x="1229965" y="499301"/>
                    <a:pt x="1215220" y="493956"/>
                    <a:pt x="1203638" y="484104"/>
                  </a:cubicBezTo>
                  <a:cubicBezTo>
                    <a:pt x="1111407" y="404300"/>
                    <a:pt x="1009633" y="336248"/>
                    <a:pt x="900647" y="281508"/>
                  </a:cubicBezTo>
                  <a:cubicBezTo>
                    <a:pt x="869295" y="265726"/>
                    <a:pt x="856672" y="227516"/>
                    <a:pt x="872454" y="196164"/>
                  </a:cubicBezTo>
                  <a:cubicBezTo>
                    <a:pt x="884290" y="172650"/>
                    <a:pt x="908742" y="159670"/>
                    <a:pt x="933455" y="161309"/>
                  </a:cubicBezTo>
                  <a:close/>
                  <a:moveTo>
                    <a:pt x="256260" y="29"/>
                  </a:moveTo>
                  <a:cubicBezTo>
                    <a:pt x="322331" y="427"/>
                    <a:pt x="388378" y="4909"/>
                    <a:pt x="454020" y="13474"/>
                  </a:cubicBezTo>
                  <a:cubicBezTo>
                    <a:pt x="488793" y="17752"/>
                    <a:pt x="513514" y="49409"/>
                    <a:pt x="509236" y="84182"/>
                  </a:cubicBezTo>
                  <a:cubicBezTo>
                    <a:pt x="505303" y="116151"/>
                    <a:pt x="478038" y="140098"/>
                    <a:pt x="445829" y="139871"/>
                  </a:cubicBezTo>
                  <a:cubicBezTo>
                    <a:pt x="443027" y="139899"/>
                    <a:pt x="440227" y="139740"/>
                    <a:pt x="437447" y="139395"/>
                  </a:cubicBezTo>
                  <a:cubicBezTo>
                    <a:pt x="316592" y="123615"/>
                    <a:pt x="194247" y="122878"/>
                    <a:pt x="73211" y="137204"/>
                  </a:cubicBezTo>
                  <a:cubicBezTo>
                    <a:pt x="38532" y="142545"/>
                    <a:pt x="6090" y="118762"/>
                    <a:pt x="749" y="84082"/>
                  </a:cubicBezTo>
                  <a:cubicBezTo>
                    <a:pt x="-4591" y="49403"/>
                    <a:pt x="19192" y="16961"/>
                    <a:pt x="53871" y="11621"/>
                  </a:cubicBezTo>
                  <a:cubicBezTo>
                    <a:pt x="55358" y="11392"/>
                    <a:pt x="56852" y="11216"/>
                    <a:pt x="58352" y="11093"/>
                  </a:cubicBezTo>
                  <a:cubicBezTo>
                    <a:pt x="124093" y="3319"/>
                    <a:pt x="190189" y="-369"/>
                    <a:pt x="256260" y="29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">
              <a:extLst>
                <a:ext uri="{FF2B5EF4-FFF2-40B4-BE49-F238E27FC236}">
                  <a16:creationId xmlns:a16="http://schemas.microsoft.com/office/drawing/2014/main" id="{898A3450-9C87-13ED-79CC-F4F65D14FF72}"/>
                </a:ext>
              </a:extLst>
            </p:cNvPr>
            <p:cNvSpPr/>
            <p:nvPr userDrawn="1"/>
          </p:nvSpPr>
          <p:spPr>
            <a:xfrm>
              <a:off x="10494433" y="2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2882462" cy="4297678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038599" y="1825625"/>
            <a:ext cx="7315199" cy="429768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4/9/26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9FE4C84-13A1-72EA-6541-7C8FDDEA7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1563" y="5800859"/>
            <a:ext cx="692016" cy="692016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0468883-4E51-D3BD-E1C6-601ED9B6E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1438747" flipV="1">
            <a:off x="7967025" y="2530995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111AEF3F-9A86-45CE-4817-E3E6863DC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764789" y="390570"/>
            <a:ext cx="437721" cy="797078"/>
          </a:xfrm>
          <a:custGeom>
            <a:avLst/>
            <a:gdLst>
              <a:gd name="connsiteX0" fmla="*/ 28069 w 437721"/>
              <a:gd name="connsiteY0" fmla="*/ 0 h 797078"/>
              <a:gd name="connsiteX1" fmla="*/ 437721 w 437721"/>
              <a:gd name="connsiteY1" fmla="*/ 398539 h 797078"/>
              <a:gd name="connsiteX2" fmla="*/ 28069 w 437721"/>
              <a:gd name="connsiteY2" fmla="*/ 797078 h 797078"/>
              <a:gd name="connsiteX3" fmla="*/ 0 w 437721"/>
              <a:gd name="connsiteY3" fmla="*/ 794325 h 797078"/>
              <a:gd name="connsiteX4" fmla="*/ 0 w 437721"/>
              <a:gd name="connsiteY4" fmla="*/ 2753 h 797078"/>
              <a:gd name="connsiteX5" fmla="*/ 28069 w 437721"/>
              <a:gd name="connsiteY5" fmla="*/ 0 h 797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7721" h="797078">
                <a:moveTo>
                  <a:pt x="28069" y="0"/>
                </a:moveTo>
                <a:cubicBezTo>
                  <a:pt x="254314" y="0"/>
                  <a:pt x="437721" y="178432"/>
                  <a:pt x="437721" y="398539"/>
                </a:cubicBezTo>
                <a:cubicBezTo>
                  <a:pt x="437721" y="618646"/>
                  <a:pt x="254314" y="797078"/>
                  <a:pt x="28069" y="797078"/>
                </a:cubicBezTo>
                <a:lnTo>
                  <a:pt x="0" y="794325"/>
                </a:lnTo>
                <a:lnTo>
                  <a:pt x="0" y="2753"/>
                </a:lnTo>
                <a:lnTo>
                  <a:pt x="2806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5A792C8-BB21-CDAF-668C-C1EFF45540C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38200" y="1825625"/>
            <a:ext cx="6934200" cy="4297680"/>
          </a:xfrm>
          <a:noFill/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>
              <a:spcBef>
                <a:spcPts val="500"/>
              </a:spcBef>
              <a:spcAft>
                <a:spcPts val="800"/>
              </a:spcAft>
              <a:buClr>
                <a:schemeClr val="accent2"/>
              </a:buClr>
              <a:defRPr sz="1800"/>
            </a:lvl2pPr>
            <a:lvl3pPr>
              <a:spcBef>
                <a:spcPts val="1000"/>
              </a:spcBef>
              <a:buClr>
                <a:schemeClr val="accent2"/>
              </a:buClr>
              <a:defRPr sz="1800"/>
            </a:lvl3pPr>
            <a:lvl4pPr>
              <a:spcBef>
                <a:spcPts val="1000"/>
              </a:spcBef>
              <a:buClr>
                <a:schemeClr val="accent2"/>
              </a:buClr>
              <a:defRPr sz="1800"/>
            </a:lvl4pPr>
            <a:lvl5pPr>
              <a:spcBef>
                <a:spcPts val="1000"/>
              </a:spcBef>
              <a:buClr>
                <a:schemeClr val="accent2"/>
              </a:buClr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sz="1800" dirty="0">
              <a:latin typeface="Avenir Next LT Pro" panose="020B0504020202020204" pitchFamily="34" charset="77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903029" y="1825625"/>
            <a:ext cx="3450771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4/9/26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8199" y="1825625"/>
            <a:ext cx="10515600" cy="429768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7B7232D-F1A6-B6C3-3BBF-E834CC7CD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5930138" cy="6858001"/>
            <a:chOff x="0" y="-1"/>
            <a:chExt cx="5930138" cy="6858001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D306340-6BFD-FE3D-535B-B59C1C44EDDA}"/>
                </a:ext>
              </a:extLst>
            </p:cNvPr>
            <p:cNvSpPr/>
            <p:nvPr userDrawn="1"/>
          </p:nvSpPr>
          <p:spPr>
            <a:xfrm>
              <a:off x="383877" y="778462"/>
              <a:ext cx="5315035" cy="53150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reeform: Shape 11">
              <a:extLst>
                <a:ext uri="{FF2B5EF4-FFF2-40B4-BE49-F238E27FC236}">
                  <a16:creationId xmlns:a16="http://schemas.microsoft.com/office/drawing/2014/main" id="{338E6C4B-ABF3-8B7E-8DCF-A93F69C712B1}"/>
                </a:ext>
              </a:extLst>
            </p:cNvPr>
            <p:cNvSpPr/>
            <p:nvPr userDrawn="1"/>
          </p:nvSpPr>
          <p:spPr>
            <a:xfrm flipH="1">
              <a:off x="530529" y="0"/>
              <a:ext cx="1155142" cy="591009"/>
            </a:xfrm>
            <a:custGeom>
              <a:avLst/>
              <a:gdLst>
                <a:gd name="connsiteX0" fmla="*/ 1355 w 1155142"/>
                <a:gd name="connsiteY0" fmla="*/ 0 h 591009"/>
                <a:gd name="connsiteX1" fmla="*/ 1153787 w 1155142"/>
                <a:gd name="connsiteY1" fmla="*/ 0 h 591009"/>
                <a:gd name="connsiteX2" fmla="*/ 1155142 w 1155142"/>
                <a:gd name="connsiteY2" fmla="*/ 13438 h 591009"/>
                <a:gd name="connsiteX3" fmla="*/ 577571 w 1155142"/>
                <a:gd name="connsiteY3" fmla="*/ 591009 h 591009"/>
                <a:gd name="connsiteX4" fmla="*/ 0 w 1155142"/>
                <a:gd name="connsiteY4" fmla="*/ 13438 h 591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5142" h="591009">
                  <a:moveTo>
                    <a:pt x="1355" y="0"/>
                  </a:moveTo>
                  <a:lnTo>
                    <a:pt x="1153787" y="0"/>
                  </a:lnTo>
                  <a:lnTo>
                    <a:pt x="1155142" y="13438"/>
                  </a:lnTo>
                  <a:cubicBezTo>
                    <a:pt x="1155142" y="332422"/>
                    <a:pt x="896555" y="591009"/>
                    <a:pt x="577571" y="591009"/>
                  </a:cubicBezTo>
                  <a:cubicBezTo>
                    <a:pt x="258587" y="591009"/>
                    <a:pt x="0" y="332422"/>
                    <a:pt x="0" y="13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13">
              <a:extLst>
                <a:ext uri="{FF2B5EF4-FFF2-40B4-BE49-F238E27FC236}">
                  <a16:creationId xmlns:a16="http://schemas.microsoft.com/office/drawing/2014/main" id="{6F90F99F-B12A-E8F9-5A86-D76B201D6308}"/>
                </a:ext>
              </a:extLst>
            </p:cNvPr>
            <p:cNvSpPr/>
            <p:nvPr userDrawn="1"/>
          </p:nvSpPr>
          <p:spPr>
            <a:xfrm flipH="1">
              <a:off x="3961511" y="-1"/>
              <a:ext cx="1737401" cy="959536"/>
            </a:xfrm>
            <a:custGeom>
              <a:avLst/>
              <a:gdLst>
                <a:gd name="connsiteX0" fmla="*/ 0 w 1737401"/>
                <a:gd name="connsiteY0" fmla="*/ 0 h 959536"/>
                <a:gd name="connsiteX1" fmla="*/ 123825 w 1737401"/>
                <a:gd name="connsiteY1" fmla="*/ 0 h 959536"/>
                <a:gd name="connsiteX2" fmla="*/ 123825 w 1737401"/>
                <a:gd name="connsiteY2" fmla="*/ 790277 h 959536"/>
                <a:gd name="connsiteX3" fmla="*/ 1490095 w 1737401"/>
                <a:gd name="connsiteY3" fmla="*/ 0 h 959536"/>
                <a:gd name="connsiteX4" fmla="*/ 1737401 w 1737401"/>
                <a:gd name="connsiteY4" fmla="*/ 0 h 959536"/>
                <a:gd name="connsiteX5" fmla="*/ 92869 w 1737401"/>
                <a:gd name="connsiteY5" fmla="*/ 951249 h 959536"/>
                <a:gd name="connsiteX6" fmla="*/ 61913 w 1737401"/>
                <a:gd name="connsiteY6" fmla="*/ 959536 h 959536"/>
                <a:gd name="connsiteX7" fmla="*/ 0 w 1737401"/>
                <a:gd name="connsiteY7" fmla="*/ 897624 h 95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7401" h="959536">
                  <a:moveTo>
                    <a:pt x="0" y="0"/>
                  </a:moveTo>
                  <a:lnTo>
                    <a:pt x="123825" y="0"/>
                  </a:lnTo>
                  <a:lnTo>
                    <a:pt x="123825" y="790277"/>
                  </a:lnTo>
                  <a:lnTo>
                    <a:pt x="1490095" y="0"/>
                  </a:lnTo>
                  <a:lnTo>
                    <a:pt x="1737401" y="0"/>
                  </a:lnTo>
                  <a:lnTo>
                    <a:pt x="92869" y="951249"/>
                  </a:lnTo>
                  <a:cubicBezTo>
                    <a:pt x="83458" y="956688"/>
                    <a:pt x="72780" y="959546"/>
                    <a:pt x="61913" y="959536"/>
                  </a:cubicBezTo>
                  <a:cubicBezTo>
                    <a:pt x="27719" y="959536"/>
                    <a:pt x="0" y="931818"/>
                    <a:pt x="0" y="89762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5">
              <a:extLst>
                <a:ext uri="{FF2B5EF4-FFF2-40B4-BE49-F238E27FC236}">
                  <a16:creationId xmlns:a16="http://schemas.microsoft.com/office/drawing/2014/main" id="{BFA99EFE-81BC-95EA-FA61-B7199AD98A74}"/>
                </a:ext>
              </a:extLst>
            </p:cNvPr>
            <p:cNvSpPr/>
            <p:nvPr userDrawn="1"/>
          </p:nvSpPr>
          <p:spPr>
            <a:xfrm flipH="1">
              <a:off x="0" y="2936831"/>
              <a:ext cx="159741" cy="552996"/>
            </a:xfrm>
            <a:custGeom>
              <a:avLst/>
              <a:gdLst>
                <a:gd name="connsiteX0" fmla="*/ 159741 w 159741"/>
                <a:gd name="connsiteY0" fmla="*/ 0 h 552996"/>
                <a:gd name="connsiteX1" fmla="*/ 159741 w 159741"/>
                <a:gd name="connsiteY1" fmla="*/ 552996 h 552996"/>
                <a:gd name="connsiteX2" fmla="*/ 141849 w 159741"/>
                <a:gd name="connsiteY2" fmla="*/ 543285 h 552996"/>
                <a:gd name="connsiteX3" fmla="*/ 0 w 159741"/>
                <a:gd name="connsiteY3" fmla="*/ 276498 h 552996"/>
                <a:gd name="connsiteX4" fmla="*/ 141849 w 159741"/>
                <a:gd name="connsiteY4" fmla="*/ 9711 h 552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741" h="552996">
                  <a:moveTo>
                    <a:pt x="159741" y="0"/>
                  </a:moveTo>
                  <a:lnTo>
                    <a:pt x="159741" y="552996"/>
                  </a:lnTo>
                  <a:lnTo>
                    <a:pt x="141849" y="543285"/>
                  </a:lnTo>
                  <a:cubicBezTo>
                    <a:pt x="56268" y="485467"/>
                    <a:pt x="0" y="387554"/>
                    <a:pt x="0" y="276498"/>
                  </a:cubicBezTo>
                  <a:cubicBezTo>
                    <a:pt x="0" y="165443"/>
                    <a:pt x="56268" y="67529"/>
                    <a:pt x="141849" y="9711"/>
                  </a:cubicBezTo>
                  <a:close/>
                </a:path>
              </a:pathLst>
            </a:custGeom>
            <a:solidFill>
              <a:schemeClr val="accent4"/>
            </a:solidFill>
            <a:ln w="1270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7">
              <a:extLst>
                <a:ext uri="{FF2B5EF4-FFF2-40B4-BE49-F238E27FC236}">
                  <a16:creationId xmlns:a16="http://schemas.microsoft.com/office/drawing/2014/main" id="{DD9FC028-D877-28FE-C646-DBD85D932641}"/>
                </a:ext>
              </a:extLst>
            </p:cNvPr>
            <p:cNvSpPr/>
            <p:nvPr userDrawn="1"/>
          </p:nvSpPr>
          <p:spPr>
            <a:xfrm flipH="1">
              <a:off x="0" y="5835649"/>
              <a:ext cx="1548180" cy="1022351"/>
            </a:xfrm>
            <a:custGeom>
              <a:avLst/>
              <a:gdLst>
                <a:gd name="connsiteX0" fmla="*/ 61913 w 1548180"/>
                <a:gd name="connsiteY0" fmla="*/ 0 h 1022351"/>
                <a:gd name="connsiteX1" fmla="*/ 1548180 w 1548180"/>
                <a:gd name="connsiteY1" fmla="*/ 0 h 1022351"/>
                <a:gd name="connsiteX2" fmla="*/ 1548180 w 1548180"/>
                <a:gd name="connsiteY2" fmla="*/ 123825 h 1022351"/>
                <a:gd name="connsiteX3" fmla="*/ 123825 w 1548180"/>
                <a:gd name="connsiteY3" fmla="*/ 123825 h 1022351"/>
                <a:gd name="connsiteX4" fmla="*/ 123825 w 1548180"/>
                <a:gd name="connsiteY4" fmla="*/ 1022351 h 1022351"/>
                <a:gd name="connsiteX5" fmla="*/ 0 w 1548180"/>
                <a:gd name="connsiteY5" fmla="*/ 1022351 h 1022351"/>
                <a:gd name="connsiteX6" fmla="*/ 0 w 1548180"/>
                <a:gd name="connsiteY6" fmla="*/ 61913 h 1022351"/>
                <a:gd name="connsiteX7" fmla="*/ 61913 w 1548180"/>
                <a:gd name="connsiteY7" fmla="*/ 0 h 102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48180" h="1022351">
                  <a:moveTo>
                    <a:pt x="61913" y="0"/>
                  </a:moveTo>
                  <a:lnTo>
                    <a:pt x="1548180" y="0"/>
                  </a:lnTo>
                  <a:lnTo>
                    <a:pt x="1548180" y="123825"/>
                  </a:lnTo>
                  <a:lnTo>
                    <a:pt x="123825" y="123825"/>
                  </a:lnTo>
                  <a:lnTo>
                    <a:pt x="123825" y="1022351"/>
                  </a:lnTo>
                  <a:lnTo>
                    <a:pt x="0" y="1022351"/>
                  </a:ln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21">
              <a:extLst>
                <a:ext uri="{FF2B5EF4-FFF2-40B4-BE49-F238E27FC236}">
                  <a16:creationId xmlns:a16="http://schemas.microsoft.com/office/drawing/2014/main" id="{AA0AFFE9-F0C2-BDA0-BF87-9977706AB6A8}"/>
                </a:ext>
              </a:extLst>
            </p:cNvPr>
            <p:cNvSpPr/>
            <p:nvPr userDrawn="1"/>
          </p:nvSpPr>
          <p:spPr>
            <a:xfrm flipH="1">
              <a:off x="4364198" y="6258755"/>
              <a:ext cx="1565940" cy="599245"/>
            </a:xfrm>
            <a:custGeom>
              <a:avLst/>
              <a:gdLst>
                <a:gd name="connsiteX0" fmla="*/ 782970 w 1565940"/>
                <a:gd name="connsiteY0" fmla="*/ 0 h 599245"/>
                <a:gd name="connsiteX1" fmla="*/ 1528042 w 1565940"/>
                <a:gd name="connsiteY1" fmla="*/ 480469 h 599245"/>
                <a:gd name="connsiteX2" fmla="*/ 1565940 w 1565940"/>
                <a:gd name="connsiteY2" fmla="*/ 599245 h 599245"/>
                <a:gd name="connsiteX3" fmla="*/ 0 w 1565940"/>
                <a:gd name="connsiteY3" fmla="*/ 599245 h 599245"/>
                <a:gd name="connsiteX4" fmla="*/ 37898 w 1565940"/>
                <a:gd name="connsiteY4" fmla="*/ 480469 h 599245"/>
                <a:gd name="connsiteX5" fmla="*/ 782970 w 1565940"/>
                <a:gd name="connsiteY5" fmla="*/ 0 h 599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65940" h="599245">
                  <a:moveTo>
                    <a:pt x="782970" y="0"/>
                  </a:moveTo>
                  <a:cubicBezTo>
                    <a:pt x="1117910" y="0"/>
                    <a:pt x="1405287" y="198118"/>
                    <a:pt x="1528042" y="480469"/>
                  </a:cubicBezTo>
                  <a:lnTo>
                    <a:pt x="1565940" y="599245"/>
                  </a:lnTo>
                  <a:lnTo>
                    <a:pt x="0" y="599245"/>
                  </a:lnTo>
                  <a:lnTo>
                    <a:pt x="37898" y="480469"/>
                  </a:lnTo>
                  <a:cubicBezTo>
                    <a:pt x="160653" y="198118"/>
                    <a:pt x="448030" y="0"/>
                    <a:pt x="7829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876" y="764502"/>
            <a:ext cx="5315035" cy="5328996"/>
          </a:xfrm>
        </p:spPr>
        <p:txBody>
          <a:bodyPr>
            <a:noAutofit/>
          </a:bodyPr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05455" y="755171"/>
            <a:ext cx="4619937" cy="5315035"/>
          </a:xfrm>
        </p:spPr>
        <p:txBody>
          <a:bodyPr anchor="ctr" anchorCtr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400"/>
            </a:lvl1pPr>
            <a:lvl2pPr marL="800100" indent="-3429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16573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4pPr>
            <a:lvl5pPr marL="21145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4/9/26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8" r:id="rId3"/>
    <p:sldLayoutId id="2147483667" r:id="rId4"/>
    <p:sldLayoutId id="2147483650" r:id="rId5"/>
    <p:sldLayoutId id="2147483649" r:id="rId6"/>
    <p:sldLayoutId id="2147483662" r:id="rId7"/>
    <p:sldLayoutId id="2147483663" r:id="rId8"/>
    <p:sldLayoutId id="2147483652" r:id="rId9"/>
    <p:sldLayoutId id="2147483666" r:id="rId10"/>
    <p:sldLayoutId id="2147483664" r:id="rId11"/>
    <p:sldLayoutId id="2147483665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pixabay.com/en/target-dart-aim-success-goal-1414775/" TargetMode="External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hyperlink" Target="https://pixabay.com/en/target-dart-aim-success-goal-1414775/" TargetMode="External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9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0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0.png"/><Relationship Id="rId9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2.png"/><Relationship Id="rId4" Type="http://schemas.openxmlformats.org/officeDocument/2006/relationships/chart" Target="../charts/char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CE2C117C-D343-D982-BF76-3BEC39FE3962}"/>
              </a:ext>
            </a:extLst>
          </p:cNvPr>
          <p:cNvSpPr/>
          <p:nvPr/>
        </p:nvSpPr>
        <p:spPr>
          <a:xfrm>
            <a:off x="1547827" y="499621"/>
            <a:ext cx="2449138" cy="234727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8DD4EE-EFC3-F0AA-C5EE-EF5069EB36F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5922" y="840741"/>
            <a:ext cx="1617072" cy="16159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515F55-2EB1-7F5D-7FC8-7C06031DA2FC}"/>
              </a:ext>
            </a:extLst>
          </p:cNvPr>
          <p:cNvSpPr txBox="1"/>
          <p:nvPr/>
        </p:nvSpPr>
        <p:spPr>
          <a:xfrm>
            <a:off x="5759115" y="2588099"/>
            <a:ext cx="614412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chemeClr val="tx2"/>
                </a:solidFill>
                <a:latin typeface="Arial Black" panose="020B0A04020102020204" pitchFamily="34" charset="0"/>
              </a:rPr>
              <a:t>RELIABILITY DEMONSTRATION OF PUSH BUTTONS </a:t>
            </a:r>
            <a:endParaRPr lang="en-IN" sz="4400" b="1" dirty="0">
              <a:solidFill>
                <a:schemeClr val="tx2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D8CD4B-9E2B-4CF9-9C3D-511ABDAB2635}"/>
              </a:ext>
            </a:extLst>
          </p:cNvPr>
          <p:cNvSpPr txBox="1"/>
          <p:nvPr/>
        </p:nvSpPr>
        <p:spPr>
          <a:xfrm>
            <a:off x="5759115" y="4846703"/>
            <a:ext cx="59210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tx2"/>
                </a:solidFill>
                <a:latin typeface="Arial Black" panose="020B0A04020102020204" pitchFamily="34" charset="0"/>
              </a:rPr>
              <a:t>Presented by</a:t>
            </a:r>
          </a:p>
          <a:p>
            <a:r>
              <a:rPr lang="en-IN" dirty="0">
                <a:solidFill>
                  <a:schemeClr val="tx2"/>
                </a:solidFill>
                <a:latin typeface="Arial Black" panose="020B0A04020102020204" pitchFamily="34" charset="0"/>
              </a:rPr>
              <a:t>LT CDR ARAVIND MANIKANDAN (25RE61D01)</a:t>
            </a:r>
          </a:p>
          <a:p>
            <a:r>
              <a:rPr lang="en-IN" dirty="0">
                <a:solidFill>
                  <a:schemeClr val="tx2"/>
                </a:solidFill>
                <a:latin typeface="Arial Black" panose="020B0A04020102020204" pitchFamily="34" charset="0"/>
              </a:rPr>
              <a:t>KADIMI TARUN (25RE61R05)</a:t>
            </a:r>
          </a:p>
          <a:p>
            <a:r>
              <a:rPr lang="en-IN" dirty="0">
                <a:solidFill>
                  <a:schemeClr val="tx2"/>
                </a:solidFill>
                <a:latin typeface="Arial Black" panose="020B0A04020102020204" pitchFamily="34" charset="0"/>
              </a:rPr>
              <a:t>SUTAMA SARKAR (25RE61R07)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34F108-39F9-7096-2225-FE8DACF783CD}"/>
              </a:ext>
            </a:extLst>
          </p:cNvPr>
          <p:cNvSpPr txBox="1"/>
          <p:nvPr/>
        </p:nvSpPr>
        <p:spPr>
          <a:xfrm>
            <a:off x="1194409" y="2691987"/>
            <a:ext cx="3120098" cy="1429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000" dirty="0">
                <a:latin typeface="Arial Black" panose="020B0A04020102020204" pitchFamily="34" charset="0"/>
              </a:rPr>
              <a:t>IIT KHARAGPUR</a:t>
            </a:r>
          </a:p>
          <a:p>
            <a:pPr algn="ctr">
              <a:lnSpc>
                <a:spcPct val="150000"/>
              </a:lnSpc>
            </a:pPr>
            <a:r>
              <a:rPr lang="en-IN" sz="2000" dirty="0">
                <a:latin typeface="Arial Black" panose="020B0A04020102020204" pitchFamily="34" charset="0"/>
              </a:rPr>
              <a:t>SCSQR</a:t>
            </a:r>
          </a:p>
          <a:p>
            <a:pPr algn="ctr">
              <a:lnSpc>
                <a:spcPct val="150000"/>
              </a:lnSpc>
            </a:pPr>
            <a:r>
              <a:rPr lang="en-IN" sz="2000" dirty="0">
                <a:latin typeface="Arial Black" panose="020B0A04020102020204" pitchFamily="34" charset="0"/>
              </a:rPr>
              <a:t>SPRING (2025-26)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B38A3B-A09D-3460-AEFC-612D823DFCA9}"/>
              </a:ext>
            </a:extLst>
          </p:cNvPr>
          <p:cNvSpPr txBox="1"/>
          <p:nvPr/>
        </p:nvSpPr>
        <p:spPr>
          <a:xfrm>
            <a:off x="113122" y="6534974"/>
            <a:ext cx="11762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62BF8F0A-7FDA-491C-9C11-4D6991171ECB}" type="datetime3">
              <a:rPr lang="en-US" sz="1200" smtClean="0">
                <a:latin typeface="Cambria Math" panose="02040503050406030204" pitchFamily="18" charset="0"/>
                <a:ea typeface="Cambria Math" panose="02040503050406030204" pitchFamily="18" charset="0"/>
              </a:rPr>
              <a:t>9 April 2026</a:t>
            </a:fld>
            <a:endParaRPr lang="en-IN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426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3">
            <a:extLst>
              <a:ext uri="{FF2B5EF4-FFF2-40B4-BE49-F238E27FC236}">
                <a16:creationId xmlns:a16="http://schemas.microsoft.com/office/drawing/2014/main" id="{F228162A-BA79-EC27-9D49-068D29C63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868" y="-208492"/>
            <a:ext cx="3960440" cy="1152128"/>
          </a:xfrm>
        </p:spPr>
        <p:txBody>
          <a:bodyPr anchor="b">
            <a:normAutofit/>
          </a:bodyPr>
          <a:lstStyle/>
          <a:p>
            <a:r>
              <a:rPr lang="en-US" sz="5400" u="sng" dirty="0"/>
              <a:t>SCOPE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07D9F2A1-5FB7-62F9-0DA2-9B0D90CAE3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3623" y="3908503"/>
            <a:ext cx="3359574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Test procedure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Binomial sequential test plan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Test observations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Summary of observations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52C38C-2E9C-D605-1125-364BEC310A74}"/>
              </a:ext>
            </a:extLst>
          </p:cNvPr>
          <p:cNvSpPr txBox="1"/>
          <p:nvPr/>
        </p:nvSpPr>
        <p:spPr>
          <a:xfrm>
            <a:off x="113122" y="6534974"/>
            <a:ext cx="11762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62BF8F0A-7FDA-491C-9C11-4D6991171ECB}" type="datetime3">
              <a:rPr lang="en-US" sz="1200" smtClean="0">
                <a:latin typeface="Cambria Math" panose="02040503050406030204" pitchFamily="18" charset="0"/>
                <a:ea typeface="Cambria Math" panose="02040503050406030204" pitchFamily="18" charset="0"/>
              </a:rPr>
              <a:t>9 April 2026</a:t>
            </a:fld>
            <a:endParaRPr lang="en-IN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63A353-DF9A-BC4C-D386-CE4E41C59566}"/>
              </a:ext>
            </a:extLst>
          </p:cNvPr>
          <p:cNvSpPr txBox="1"/>
          <p:nvPr/>
        </p:nvSpPr>
        <p:spPr>
          <a:xfrm>
            <a:off x="4643711" y="6534973"/>
            <a:ext cx="29045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Indian Institute of Technology, Kharagpur</a:t>
            </a:r>
            <a:endParaRPr lang="en-IN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176440-78E8-9618-4E46-F1DACE4F14C1}"/>
              </a:ext>
            </a:extLst>
          </p:cNvPr>
          <p:cNvSpPr txBox="1"/>
          <p:nvPr/>
        </p:nvSpPr>
        <p:spPr>
          <a:xfrm>
            <a:off x="11736371" y="6534973"/>
            <a:ext cx="2728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3F36BEFA-5323-4F2A-B87A-6235DADB381C}" type="slidenum">
              <a:rPr lang="en-IN" sz="1200" smtClean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fld>
            <a:endParaRPr lang="en-IN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18E4E2D-7292-C2C6-0388-DBAE79CB98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97243" y="1402383"/>
            <a:ext cx="1225485" cy="122548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8E0EC3C-D8B2-724E-F3A3-17B2043925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9924" y="1294157"/>
            <a:ext cx="1333712" cy="133371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56256D6-F927-280C-79CC-21A897A8B8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1402" y="1380290"/>
            <a:ext cx="1258008" cy="125800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EF2806F-4BE0-0D6E-8B79-714440ED49E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038" y="1459549"/>
            <a:ext cx="1152128" cy="115212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F39E1227-49E1-EB2B-26FD-2B49A7C1599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0263" y="1294156"/>
            <a:ext cx="1376511" cy="137651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F2978AB4-C468-FFDA-FEFB-70058B535B9F}"/>
              </a:ext>
            </a:extLst>
          </p:cNvPr>
          <p:cNvSpPr txBox="1"/>
          <p:nvPr/>
        </p:nvSpPr>
        <p:spPr>
          <a:xfrm>
            <a:off x="954126" y="2611677"/>
            <a:ext cx="1541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Objective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E989BEB-74CE-F1A9-3F63-AC59AADB3988}"/>
              </a:ext>
            </a:extLst>
          </p:cNvPr>
          <p:cNvSpPr txBox="1"/>
          <p:nvPr/>
        </p:nvSpPr>
        <p:spPr>
          <a:xfrm>
            <a:off x="3109924" y="2627868"/>
            <a:ext cx="1796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Introduction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790B346-BB5E-B6A0-9876-E11485FBEE1F}"/>
              </a:ext>
            </a:extLst>
          </p:cNvPr>
          <p:cNvSpPr txBox="1"/>
          <p:nvPr/>
        </p:nvSpPr>
        <p:spPr>
          <a:xfrm>
            <a:off x="5359045" y="2611677"/>
            <a:ext cx="22898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Test operating conditions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AAB6684-2F56-5BD5-1844-412BE48C3552}"/>
              </a:ext>
            </a:extLst>
          </p:cNvPr>
          <p:cNvSpPr txBox="1"/>
          <p:nvPr/>
        </p:nvSpPr>
        <p:spPr>
          <a:xfrm>
            <a:off x="7885135" y="2663698"/>
            <a:ext cx="12166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Test Setup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E661F59-6F2F-6375-329A-EEEE140F0698}"/>
              </a:ext>
            </a:extLst>
          </p:cNvPr>
          <p:cNvSpPr txBox="1"/>
          <p:nvPr/>
        </p:nvSpPr>
        <p:spPr>
          <a:xfrm>
            <a:off x="9432317" y="2668457"/>
            <a:ext cx="26711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Accelerated </a:t>
            </a:r>
            <a:r>
              <a:rPr lang="en-US" alt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life testing</a:t>
            </a:r>
            <a:endParaRPr lang="en-US" altLang="en-US" sz="18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58FC4148-DA08-3961-9E5E-73A3FBE61C2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6052" y="3580380"/>
            <a:ext cx="2117659" cy="2117659"/>
          </a:xfrm>
          <a:prstGeom prst="rect">
            <a:avLst/>
          </a:prstGeom>
        </p:spPr>
      </p:pic>
      <p:sp>
        <p:nvSpPr>
          <p:cNvPr id="44" name="Left Brace 43">
            <a:extLst>
              <a:ext uri="{FF2B5EF4-FFF2-40B4-BE49-F238E27FC236}">
                <a16:creationId xmlns:a16="http://schemas.microsoft.com/office/drawing/2014/main" id="{E78A15C5-9D50-7C75-13D3-BDB7285D52C3}"/>
              </a:ext>
            </a:extLst>
          </p:cNvPr>
          <p:cNvSpPr/>
          <p:nvPr/>
        </p:nvSpPr>
        <p:spPr>
          <a:xfrm>
            <a:off x="4922520" y="3803984"/>
            <a:ext cx="649885" cy="1501697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A21913-4050-BCAF-3F79-6C8E6D144E19}"/>
              </a:ext>
            </a:extLst>
          </p:cNvPr>
          <p:cNvSpPr txBox="1"/>
          <p:nvPr/>
        </p:nvSpPr>
        <p:spPr>
          <a:xfrm>
            <a:off x="113122" y="6534974"/>
            <a:ext cx="11762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62BF8F0A-7FDA-491C-9C11-4D6991171ECB}" type="datetime3">
              <a:rPr lang="en-US" sz="1200" smtClean="0">
                <a:latin typeface="Cambria Math" panose="02040503050406030204" pitchFamily="18" charset="0"/>
                <a:ea typeface="Cambria Math" panose="02040503050406030204" pitchFamily="18" charset="0"/>
              </a:rPr>
              <a:t>9 April 2026</a:t>
            </a:fld>
            <a:endParaRPr lang="en-IN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CAD66C-D6A9-A4AA-8A7E-00D7E1F95453}"/>
              </a:ext>
            </a:extLst>
          </p:cNvPr>
          <p:cNvSpPr txBox="1"/>
          <p:nvPr/>
        </p:nvSpPr>
        <p:spPr>
          <a:xfrm>
            <a:off x="4643711" y="6534973"/>
            <a:ext cx="29045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Indian Institute of Technology, Kharagpur</a:t>
            </a:r>
            <a:endParaRPr lang="en-IN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49298F-6CD0-A0E0-F206-D9C876433EF3}"/>
              </a:ext>
            </a:extLst>
          </p:cNvPr>
          <p:cNvSpPr txBox="1"/>
          <p:nvPr/>
        </p:nvSpPr>
        <p:spPr>
          <a:xfrm>
            <a:off x="11736371" y="6534973"/>
            <a:ext cx="2728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3F36BEFA-5323-4F2A-B87A-6235DADB381C}" type="slidenum">
              <a:rPr lang="en-IN" sz="1200" smtClean="0"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fld>
            <a:endParaRPr lang="en-IN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3074" name="Picture 2" descr="لأطباء وطبيبات زمالة طب الأسرة مصادر الاستعداد لاختبار part 1 Promotion من  تجربتي وتجربة الزملاء في آخر سنتين 👇👇">
            <a:extLst>
              <a:ext uri="{FF2B5EF4-FFF2-40B4-BE49-F238E27FC236}">
                <a16:creationId xmlns:a16="http://schemas.microsoft.com/office/drawing/2014/main" id="{C49A760C-A25C-2493-2540-AF4A236992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501" y="1581677"/>
            <a:ext cx="3810000" cy="371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88EE49B-15B5-A994-C439-33C0FE0674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746740" y="207649"/>
            <a:ext cx="1225485" cy="122548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E6F6861-D976-4205-9C1E-AC048B0FC70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4997" y="983073"/>
            <a:ext cx="1333712" cy="13337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D212501-7658-B482-769C-1BBA25D94BB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8232" y="4066937"/>
            <a:ext cx="1258008" cy="125800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BCFBBEA-B0F3-8510-5EE6-B3B05C0F01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8865" y="4824003"/>
            <a:ext cx="1152128" cy="115212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B8AD584-460B-FF3D-0E9D-4FC1C90AC26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8380" y="2495647"/>
            <a:ext cx="1376511" cy="137651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E816099-547C-5C37-8BDC-6EAACD00F013}"/>
              </a:ext>
            </a:extLst>
          </p:cNvPr>
          <p:cNvSpPr txBox="1"/>
          <p:nvPr/>
        </p:nvSpPr>
        <p:spPr>
          <a:xfrm>
            <a:off x="5803623" y="1416943"/>
            <a:ext cx="1541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Objective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FA2919-2B29-B7F6-39F5-9A537ADC0B4C}"/>
              </a:ext>
            </a:extLst>
          </p:cNvPr>
          <p:cNvSpPr txBox="1"/>
          <p:nvPr/>
        </p:nvSpPr>
        <p:spPr>
          <a:xfrm>
            <a:off x="7064997" y="2316784"/>
            <a:ext cx="1796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Introduction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24034A-8D3B-CBB7-C828-7900CD3A5C33}"/>
              </a:ext>
            </a:extLst>
          </p:cNvPr>
          <p:cNvSpPr txBox="1"/>
          <p:nvPr/>
        </p:nvSpPr>
        <p:spPr>
          <a:xfrm>
            <a:off x="8548380" y="3848719"/>
            <a:ext cx="22898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Test operating conditions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0122C7-DD82-2358-499F-A0EEB62DC696}"/>
              </a:ext>
            </a:extLst>
          </p:cNvPr>
          <p:cNvSpPr txBox="1"/>
          <p:nvPr/>
        </p:nvSpPr>
        <p:spPr>
          <a:xfrm>
            <a:off x="6888000" y="5324945"/>
            <a:ext cx="12166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Test Setup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7E53FA-6912-AE9E-871A-7170CBDF1EBD}"/>
              </a:ext>
            </a:extLst>
          </p:cNvPr>
          <p:cNvSpPr txBox="1"/>
          <p:nvPr/>
        </p:nvSpPr>
        <p:spPr>
          <a:xfrm>
            <a:off x="4736799" y="5997166"/>
            <a:ext cx="2608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Accelerated </a:t>
            </a:r>
            <a:r>
              <a:rPr lang="en-US" alt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life testing</a:t>
            </a:r>
            <a:endParaRPr lang="en-US" altLang="en-US" sz="18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1" name="Arrow: Curved Down 30">
            <a:extLst>
              <a:ext uri="{FF2B5EF4-FFF2-40B4-BE49-F238E27FC236}">
                <a16:creationId xmlns:a16="http://schemas.microsoft.com/office/drawing/2014/main" id="{15B3B919-C6BF-6FCA-1667-900228256257}"/>
              </a:ext>
            </a:extLst>
          </p:cNvPr>
          <p:cNvSpPr/>
          <p:nvPr/>
        </p:nvSpPr>
        <p:spPr>
          <a:xfrm rot="5131730">
            <a:off x="4275105" y="2490796"/>
            <a:ext cx="3291912" cy="1284393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07244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A91F1-FAC1-3E93-BD74-454BF85F3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Push Button Reliability is Important?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4A1F4-99C7-31D0-579A-008A95DB8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9847" y="554942"/>
            <a:ext cx="6266329" cy="5768220"/>
          </a:xfrm>
        </p:spPr>
        <p:txBody>
          <a:bodyPr>
            <a:normAutofit/>
          </a:bodyPr>
          <a:lstStyle/>
          <a:p>
            <a:r>
              <a:rPr lang="en-IN" sz="2000" b="1" dirty="0"/>
              <a:t>Push buttons are widely used in safety-critical and industrial applications: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Industrial control panels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Railway signalling systems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Medical devices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Automotive dashboards Emergency shutdown systems </a:t>
            </a:r>
          </a:p>
          <a:p>
            <a:r>
              <a:rPr lang="en-IN" sz="2000" b="1" dirty="0"/>
              <a:t>Failure of push buttons can lead 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System malfunction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Safety hazards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Production downtime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Increased maintenance cost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58122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513E45-4F5C-9394-1D42-7FB6C0170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0168" y="1706936"/>
            <a:ext cx="3516242" cy="839147"/>
          </a:xfrm>
        </p:spPr>
        <p:txBody>
          <a:bodyPr anchor="b">
            <a:normAutofit fontScale="90000"/>
          </a:bodyPr>
          <a:lstStyle/>
          <a:p>
            <a:r>
              <a:rPr lang="en-US" b="1" dirty="0"/>
              <a:t>OBJECTIVE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5C37F52-5C08-7C02-C9CA-E2AD930A9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9198" y="3036693"/>
            <a:ext cx="5507421" cy="2141482"/>
          </a:xfrm>
        </p:spPr>
        <p:txBody>
          <a:bodyPr>
            <a:normAutofit/>
          </a:bodyPr>
          <a:lstStyle/>
          <a:p>
            <a:pPr algn="just"/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To demonstrate the minimum acceptable reliability of push button switches for a specified operating time with given Producer’s </a:t>
            </a:r>
            <a:r>
              <a:rPr lang="en-US" sz="2800">
                <a:latin typeface="Cambria Math" panose="02040503050406030204" pitchFamily="18" charset="0"/>
                <a:ea typeface="Cambria Math" panose="02040503050406030204" pitchFamily="18" charset="0"/>
              </a:rPr>
              <a:t>and Consumer’s Risk</a:t>
            </a:r>
            <a:endParaRPr lang="en-IN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22F048-DEAA-E56C-359F-A5FF32C073D6}"/>
              </a:ext>
            </a:extLst>
          </p:cNvPr>
          <p:cNvSpPr txBox="1"/>
          <p:nvPr/>
        </p:nvSpPr>
        <p:spPr>
          <a:xfrm>
            <a:off x="113122" y="6534974"/>
            <a:ext cx="11762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62BF8F0A-7FDA-491C-9C11-4D6991171ECB}" type="datetime3">
              <a:rPr lang="en-US" sz="1200" smtClean="0">
                <a:latin typeface="Cambria Math" panose="02040503050406030204" pitchFamily="18" charset="0"/>
                <a:ea typeface="Cambria Math" panose="02040503050406030204" pitchFamily="18" charset="0"/>
              </a:rPr>
              <a:t>9 April 2026</a:t>
            </a:fld>
            <a:endParaRPr lang="en-IN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9ECDD4-F16E-6565-C8CD-681E66D15F73}"/>
              </a:ext>
            </a:extLst>
          </p:cNvPr>
          <p:cNvSpPr txBox="1"/>
          <p:nvPr/>
        </p:nvSpPr>
        <p:spPr>
          <a:xfrm>
            <a:off x="4643711" y="6534973"/>
            <a:ext cx="29045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Indian Institute of Technology, Kharagpur</a:t>
            </a:r>
            <a:endParaRPr lang="en-IN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823953-5D2C-6250-EB99-582648159F48}"/>
              </a:ext>
            </a:extLst>
          </p:cNvPr>
          <p:cNvSpPr txBox="1"/>
          <p:nvPr/>
        </p:nvSpPr>
        <p:spPr>
          <a:xfrm>
            <a:off x="11736371" y="6534973"/>
            <a:ext cx="2728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3F36BEFA-5323-4F2A-B87A-6235DADB381C}" type="slidenum">
              <a:rPr lang="en-IN" sz="1200" smtClean="0">
                <a:latin typeface="Cambria Math" panose="02040503050406030204" pitchFamily="18" charset="0"/>
                <a:ea typeface="Cambria Math" panose="02040503050406030204" pitchFamily="18" charset="0"/>
              </a:rPr>
              <a:t>5</a:t>
            </a:fld>
            <a:endParaRPr lang="en-IN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15" name="Picture Placeholder 6">
            <a:extLst>
              <a:ext uri="{FF2B5EF4-FFF2-40B4-BE49-F238E27FC236}">
                <a16:creationId xmlns:a16="http://schemas.microsoft.com/office/drawing/2014/main" id="{018C54C8-8640-18AF-5495-31CBBFCB6D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>
            <a:fillRect/>
          </a:stretch>
        </p:blipFill>
        <p:spPr>
          <a:xfrm>
            <a:off x="9775689" y="750701"/>
            <a:ext cx="1913258" cy="1912469"/>
          </a:xfrm>
          <a:prstGeom prst="ellipse">
            <a:avLst/>
          </a:prstGeom>
          <a:noFill/>
        </p:spPr>
      </p:pic>
      <p:pic>
        <p:nvPicPr>
          <p:cNvPr id="19" name="Picture Placeholder 18">
            <a:extLst>
              <a:ext uri="{FF2B5EF4-FFF2-40B4-BE49-F238E27FC236}">
                <a16:creationId xmlns:a16="http://schemas.microsoft.com/office/drawing/2014/main" id="{57AFE440-E8E4-B967-66A0-405925328CA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39" b="7639"/>
          <a:stretch>
            <a:fillRect/>
          </a:stretch>
        </p:blipFill>
        <p:spPr>
          <a:xfrm>
            <a:off x="965381" y="1413951"/>
            <a:ext cx="4355508" cy="4030097"/>
          </a:xfrm>
        </p:spPr>
      </p:pic>
    </p:spTree>
    <p:extLst>
      <p:ext uri="{BB962C8B-B14F-4D97-AF65-F5344CB8AC3E}">
        <p14:creationId xmlns:p14="http://schemas.microsoft.com/office/powerpoint/2010/main" val="3293924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041" y="1043810"/>
            <a:ext cx="10515600" cy="1325563"/>
          </a:xfrm>
          <a:noFill/>
        </p:spPr>
        <p:txBody>
          <a:bodyPr anchor="ctr">
            <a:noAutofit/>
          </a:bodyPr>
          <a:lstStyle/>
          <a:p>
            <a:pPr algn="ctr"/>
            <a:r>
              <a:rPr lang="en-US" sz="3200" dirty="0"/>
              <a:t>KEY FACTORS IN RELIABILITY DEMONSTRATION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5644F1-DAF5-CA6D-C970-32999594D0F5}"/>
              </a:ext>
            </a:extLst>
          </p:cNvPr>
          <p:cNvSpPr txBox="1"/>
          <p:nvPr/>
        </p:nvSpPr>
        <p:spPr>
          <a:xfrm>
            <a:off x="296002" y="6534974"/>
            <a:ext cx="11762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62BF8F0A-7FDA-491C-9C11-4D6991171ECB}" type="datetime3">
              <a:rPr lang="en-US" sz="1200" smtClean="0">
                <a:latin typeface="Cambria Math" panose="02040503050406030204" pitchFamily="18" charset="0"/>
                <a:ea typeface="Cambria Math" panose="02040503050406030204" pitchFamily="18" charset="0"/>
              </a:rPr>
              <a:t>9 April 2026</a:t>
            </a:fld>
            <a:endParaRPr lang="en-IN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26AED1-73DD-6FAB-E9C1-1A445F49661C}"/>
              </a:ext>
            </a:extLst>
          </p:cNvPr>
          <p:cNvSpPr txBox="1"/>
          <p:nvPr/>
        </p:nvSpPr>
        <p:spPr>
          <a:xfrm>
            <a:off x="4841831" y="6534973"/>
            <a:ext cx="29045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Indian Institute of Technology, Kharagpur</a:t>
            </a:r>
            <a:endParaRPr lang="en-IN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F5CE94-854E-984A-2C70-225E1709F791}"/>
              </a:ext>
            </a:extLst>
          </p:cNvPr>
          <p:cNvSpPr txBox="1"/>
          <p:nvPr/>
        </p:nvSpPr>
        <p:spPr>
          <a:xfrm>
            <a:off x="11736371" y="6534973"/>
            <a:ext cx="2728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3F36BEFA-5323-4F2A-B87A-6235DADB381C}" type="slidenum">
              <a:rPr lang="en-IN" sz="1200" smtClean="0">
                <a:latin typeface="Cambria Math" panose="02040503050406030204" pitchFamily="18" charset="0"/>
                <a:ea typeface="Cambria Math" panose="02040503050406030204" pitchFamily="18" charset="0"/>
              </a:rPr>
              <a:t>6</a:t>
            </a:fld>
            <a:endParaRPr lang="en-IN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1D23D41B-F154-EC8A-D86C-62841657EB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5088534"/>
              </p:ext>
            </p:extLst>
          </p:nvPr>
        </p:nvGraphicFramePr>
        <p:xfrm>
          <a:off x="616041" y="2314787"/>
          <a:ext cx="11120329" cy="2673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318D3C3C-6D61-6F8F-EFF2-A2C2F91C050D}"/>
              </a:ext>
            </a:extLst>
          </p:cNvPr>
          <p:cNvSpPr/>
          <p:nvPr/>
        </p:nvSpPr>
        <p:spPr>
          <a:xfrm>
            <a:off x="2458720" y="121920"/>
            <a:ext cx="6583680" cy="70104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INTRODUCTION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28E52-7F1D-EC50-E9DE-EF87E6323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DC67AF96-CE90-47B7-6642-FA11B3B1FE5A}"/>
              </a:ext>
            </a:extLst>
          </p:cNvPr>
          <p:cNvSpPr txBox="1"/>
          <p:nvPr/>
        </p:nvSpPr>
        <p:spPr>
          <a:xfrm>
            <a:off x="356962" y="6534974"/>
            <a:ext cx="11762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62BF8F0A-7FDA-491C-9C11-4D6991171ECB}" type="datetime3">
              <a:rPr lang="en-US" sz="1200" smtClean="0">
                <a:latin typeface="Cambria Math" panose="02040503050406030204" pitchFamily="18" charset="0"/>
                <a:ea typeface="Cambria Math" panose="02040503050406030204" pitchFamily="18" charset="0"/>
              </a:rPr>
              <a:t>9 April 2026</a:t>
            </a:fld>
            <a:endParaRPr lang="en-IN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91506F-9682-C514-947A-B1261D93CAF4}"/>
              </a:ext>
            </a:extLst>
          </p:cNvPr>
          <p:cNvSpPr txBox="1"/>
          <p:nvPr/>
        </p:nvSpPr>
        <p:spPr>
          <a:xfrm>
            <a:off x="4841831" y="6534973"/>
            <a:ext cx="29045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Indian Institute of Technology, Kharagpur</a:t>
            </a:r>
            <a:endParaRPr lang="en-IN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397FCE-AD56-E714-7AC6-E95242F2A70F}"/>
              </a:ext>
            </a:extLst>
          </p:cNvPr>
          <p:cNvSpPr txBox="1"/>
          <p:nvPr/>
        </p:nvSpPr>
        <p:spPr>
          <a:xfrm>
            <a:off x="11736371" y="6534973"/>
            <a:ext cx="2728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3F36BEFA-5323-4F2A-B87A-6235DADB381C}" type="slidenum">
              <a:rPr lang="en-IN" sz="1200" smtClean="0">
                <a:latin typeface="Cambria Math" panose="02040503050406030204" pitchFamily="18" charset="0"/>
                <a:ea typeface="Cambria Math" panose="02040503050406030204" pitchFamily="18" charset="0"/>
              </a:rPr>
              <a:t>7</a:t>
            </a:fld>
            <a:endParaRPr lang="en-IN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2FB97BED-FB51-36E8-19FF-5F5582F4B6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9457813"/>
              </p:ext>
            </p:extLst>
          </p:nvPr>
        </p:nvGraphicFramePr>
        <p:xfrm>
          <a:off x="1056640" y="802640"/>
          <a:ext cx="10078720" cy="6096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0" name="Graphic 19" descr="Checkmark">
            <a:extLst>
              <a:ext uri="{FF2B5EF4-FFF2-40B4-BE49-F238E27FC236}">
                <a16:creationId xmlns:a16="http://schemas.microsoft.com/office/drawing/2014/main" id="{9804CD3E-5F0B-E1F8-6177-F9868C4E665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113937" y="6119869"/>
            <a:ext cx="364304" cy="364304"/>
          </a:xfrm>
          <a:prstGeom prst="rect">
            <a:avLst/>
          </a:prstGeom>
        </p:spPr>
      </p:pic>
      <p:pic>
        <p:nvPicPr>
          <p:cNvPr id="21" name="Graphic 20" descr="Checkmark">
            <a:extLst>
              <a:ext uri="{FF2B5EF4-FFF2-40B4-BE49-F238E27FC236}">
                <a16:creationId xmlns:a16="http://schemas.microsoft.com/office/drawing/2014/main" id="{68F7A9CF-EDEF-8536-2479-B04131CC95F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09628" y="6086921"/>
            <a:ext cx="364304" cy="364304"/>
          </a:xfrm>
          <a:prstGeom prst="rect">
            <a:avLst/>
          </a:prstGeom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1A7ECC33-9CDB-56DC-CFE6-A9794DE4F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760" y="406775"/>
            <a:ext cx="10515600" cy="1325563"/>
          </a:xfrm>
          <a:noFill/>
        </p:spPr>
        <p:txBody>
          <a:bodyPr anchor="ctr">
            <a:noAutofit/>
          </a:bodyPr>
          <a:lstStyle/>
          <a:p>
            <a:pPr algn="ctr"/>
            <a:r>
              <a:rPr lang="en-US" sz="3200" dirty="0"/>
              <a:t>TYPES OF PUSH BUTTONS</a:t>
            </a:r>
          </a:p>
        </p:txBody>
      </p:sp>
    </p:spTree>
    <p:extLst>
      <p:ext uri="{BB962C8B-B14F-4D97-AF65-F5344CB8AC3E}">
        <p14:creationId xmlns:p14="http://schemas.microsoft.com/office/powerpoint/2010/main" val="1695334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001" y="88393"/>
            <a:ext cx="11576785" cy="1325563"/>
          </a:xfrm>
          <a:noFill/>
        </p:spPr>
        <p:txBody>
          <a:bodyPr anchor="ctr"/>
          <a:lstStyle/>
          <a:p>
            <a:pPr algn="ctr"/>
            <a:r>
              <a:rPr lang="en-US" sz="2800" dirty="0"/>
              <a:t>PUSH BUTTON SPECIFICATIONS AND OPERATING CONDITIONS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556DE6-2ECC-701C-7BD2-1C4546FC4E4D}"/>
              </a:ext>
            </a:extLst>
          </p:cNvPr>
          <p:cNvSpPr txBox="1"/>
          <p:nvPr/>
        </p:nvSpPr>
        <p:spPr>
          <a:xfrm>
            <a:off x="296002" y="6534974"/>
            <a:ext cx="11762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62BF8F0A-7FDA-491C-9C11-4D6991171ECB}" type="datetime3">
              <a:rPr lang="en-US" sz="1200" smtClean="0">
                <a:latin typeface="Cambria Math" panose="02040503050406030204" pitchFamily="18" charset="0"/>
                <a:ea typeface="Cambria Math" panose="02040503050406030204" pitchFamily="18" charset="0"/>
              </a:rPr>
              <a:t>9 April 2026</a:t>
            </a:fld>
            <a:endParaRPr lang="en-IN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AB3854-DE66-EAD8-B3B1-753ACF749E3F}"/>
              </a:ext>
            </a:extLst>
          </p:cNvPr>
          <p:cNvSpPr txBox="1"/>
          <p:nvPr/>
        </p:nvSpPr>
        <p:spPr>
          <a:xfrm>
            <a:off x="4841831" y="6534973"/>
            <a:ext cx="29045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Indian Institute of Technology, Kharagpur</a:t>
            </a:r>
            <a:endParaRPr lang="en-IN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A1D0B0-2E87-4DCE-CE48-E29784768650}"/>
              </a:ext>
            </a:extLst>
          </p:cNvPr>
          <p:cNvSpPr txBox="1"/>
          <p:nvPr/>
        </p:nvSpPr>
        <p:spPr>
          <a:xfrm>
            <a:off x="11736371" y="6534973"/>
            <a:ext cx="2728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3F36BEFA-5323-4F2A-B87A-6235DADB381C}" type="slidenum">
              <a:rPr lang="en-IN" sz="1200" smtClean="0">
                <a:latin typeface="Cambria Math" panose="02040503050406030204" pitchFamily="18" charset="0"/>
                <a:ea typeface="Cambria Math" panose="02040503050406030204" pitchFamily="18" charset="0"/>
              </a:rPr>
              <a:t>8</a:t>
            </a:fld>
            <a:endParaRPr lang="en-IN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389D658-FB80-DDB5-DE78-A2BAFD3557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0788" y="1127092"/>
            <a:ext cx="3018415" cy="3018415"/>
          </a:xfrm>
          <a:prstGeom prst="rect">
            <a:avLst/>
          </a:prstGeom>
        </p:spPr>
      </p:pic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AB3D4082-9F26-295D-7FD4-6A3357A2B3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067602"/>
              </p:ext>
            </p:extLst>
          </p:nvPr>
        </p:nvGraphicFramePr>
        <p:xfrm>
          <a:off x="724935" y="1317003"/>
          <a:ext cx="8233791" cy="222504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959407">
                  <a:extLst>
                    <a:ext uri="{9D8B030D-6E8A-4147-A177-3AD203B41FA5}">
                      <a16:colId xmlns:a16="http://schemas.microsoft.com/office/drawing/2014/main" val="3467192701"/>
                    </a:ext>
                  </a:extLst>
                </a:gridCol>
                <a:gridCol w="5274384">
                  <a:extLst>
                    <a:ext uri="{9D8B030D-6E8A-4147-A177-3AD203B41FA5}">
                      <a16:colId xmlns:a16="http://schemas.microsoft.com/office/drawing/2014/main" val="23698980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Parameters / specifications</a:t>
                      </a:r>
                      <a:endParaRPr lang="en-IN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Description</a:t>
                      </a:r>
                      <a:endParaRPr lang="en-IN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8762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9690" algn="ctr">
                        <a:lnSpc>
                          <a:spcPts val="1300"/>
                        </a:lnSpc>
                        <a:spcBef>
                          <a:spcPts val="100"/>
                        </a:spcBef>
                        <a:buNone/>
                      </a:pPr>
                      <a:r>
                        <a:rPr lang="en-US" sz="16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anose="020B0604030504040204" pitchFamily="34" charset="0"/>
                        </a:rPr>
                        <a:t>Switch</a:t>
                      </a:r>
                      <a:r>
                        <a:rPr lang="en-US" sz="1600" spc="-1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spc="-2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anose="020B0604030504040204" pitchFamily="34" charset="0"/>
                        </a:rPr>
                        <a:t>Type</a:t>
                      </a:r>
                      <a:endParaRPr lang="en-IN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59690" algn="ctr">
                        <a:lnSpc>
                          <a:spcPts val="1300"/>
                        </a:lnSpc>
                        <a:spcBef>
                          <a:spcPts val="100"/>
                        </a:spcBef>
                        <a:buNone/>
                      </a:pPr>
                      <a:r>
                        <a:rPr lang="en-US" sz="16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anose="020B0604030504040204" pitchFamily="34" charset="0"/>
                        </a:rPr>
                        <a:t>Push</a:t>
                      </a:r>
                      <a:r>
                        <a:rPr lang="en-US" sz="1600" spc="-35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anose="020B0604030504040204" pitchFamily="34" charset="0"/>
                        </a:rPr>
                        <a:t>Button</a:t>
                      </a:r>
                      <a:r>
                        <a:rPr lang="en-US" sz="1600" spc="-2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anose="020B0604030504040204" pitchFamily="34" charset="0"/>
                        </a:rPr>
                        <a:t>Momentary,</a:t>
                      </a:r>
                      <a:r>
                        <a:rPr lang="en-US" sz="1600" spc="-25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anose="020B0604030504040204" pitchFamily="34" charset="0"/>
                        </a:rPr>
                        <a:t>Round</a:t>
                      </a:r>
                      <a:r>
                        <a:rPr lang="en-US" sz="1600" spc="-2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anose="020B0604030504040204" pitchFamily="34" charset="0"/>
                        </a:rPr>
                        <a:t>head</a:t>
                      </a:r>
                      <a:endParaRPr lang="en-IN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86641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9690" algn="ctr">
                        <a:lnSpc>
                          <a:spcPts val="1360"/>
                        </a:lnSpc>
                        <a:spcBef>
                          <a:spcPts val="140"/>
                        </a:spcBef>
                        <a:buNone/>
                      </a:pPr>
                      <a:r>
                        <a:rPr lang="en-US" sz="1600" spc="-1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anose="020B0604030504040204" pitchFamily="34" charset="0"/>
                        </a:rPr>
                        <a:t>Terminal</a:t>
                      </a:r>
                      <a:r>
                        <a:rPr lang="en-US" sz="1600" spc="-55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spc="-1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anose="020B0604030504040204" pitchFamily="34" charset="0"/>
                        </a:rPr>
                        <a:t>Style</a:t>
                      </a:r>
                      <a:endParaRPr lang="en-IN" sz="16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59690" algn="ctr">
                        <a:lnSpc>
                          <a:spcPts val="1360"/>
                        </a:lnSpc>
                        <a:spcBef>
                          <a:spcPts val="140"/>
                        </a:spcBef>
                        <a:buNone/>
                      </a:pPr>
                      <a:r>
                        <a:rPr lang="en-US" sz="16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anose="020B0604030504040204" pitchFamily="34" charset="0"/>
                        </a:rPr>
                        <a:t>Screw </a:t>
                      </a:r>
                      <a:r>
                        <a:rPr lang="en-US" sz="1600" spc="-2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anose="020B0604030504040204" pitchFamily="34" charset="0"/>
                        </a:rPr>
                        <a:t>type</a:t>
                      </a:r>
                      <a:endParaRPr lang="en-IN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64860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9690" algn="ctr">
                        <a:lnSpc>
                          <a:spcPts val="1320"/>
                        </a:lnSpc>
                        <a:spcBef>
                          <a:spcPts val="80"/>
                        </a:spcBef>
                        <a:buNone/>
                      </a:pPr>
                      <a:r>
                        <a:rPr lang="en-US" sz="16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anose="020B0604030504040204" pitchFamily="34" charset="0"/>
                        </a:rPr>
                        <a:t>Operating </a:t>
                      </a:r>
                      <a:r>
                        <a:rPr lang="en-US" sz="1600" spc="-1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anose="020B0604030504040204" pitchFamily="34" charset="0"/>
                        </a:rPr>
                        <a:t>Temp.</a:t>
                      </a:r>
                      <a:endParaRPr lang="en-IN" sz="16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59690" algn="ctr">
                        <a:lnSpc>
                          <a:spcPts val="1320"/>
                        </a:lnSpc>
                        <a:spcBef>
                          <a:spcPts val="80"/>
                        </a:spcBef>
                        <a:buNone/>
                      </a:pPr>
                      <a:r>
                        <a:rPr lang="en-US" sz="16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anose="020B0604030504040204" pitchFamily="34" charset="0"/>
                        </a:rPr>
                        <a:t>10</a:t>
                      </a:r>
                      <a:r>
                        <a:rPr lang="en-US" sz="1600" baseline="300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anose="020B0604030504040204" pitchFamily="34" charset="0"/>
                        </a:rPr>
                        <a:t>o</a:t>
                      </a:r>
                      <a:r>
                        <a:rPr lang="en-US" sz="16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anose="020B0604030504040204" pitchFamily="34" charset="0"/>
                        </a:rPr>
                        <a:t>C</a:t>
                      </a:r>
                      <a:r>
                        <a:rPr lang="en-US" sz="1600" spc="-25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anose="020B0604030504040204" pitchFamily="34" charset="0"/>
                        </a:rPr>
                        <a:t>to</a:t>
                      </a:r>
                      <a:r>
                        <a:rPr lang="en-US" sz="1600" spc="-2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anose="020B0604030504040204" pitchFamily="34" charset="0"/>
                        </a:rPr>
                        <a:t> 80</a:t>
                      </a:r>
                      <a:r>
                        <a:rPr lang="en-US" sz="1600" spc="-20" baseline="300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anose="020B0604030504040204" pitchFamily="34" charset="0"/>
                        </a:rPr>
                        <a:t>o</a:t>
                      </a:r>
                      <a:r>
                        <a:rPr lang="en-US" sz="1600" spc="-2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anose="020B0604030504040204" pitchFamily="34" charset="0"/>
                        </a:rPr>
                        <a:t>C</a:t>
                      </a:r>
                      <a:endParaRPr lang="en-IN" sz="16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84858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9690" algn="ctr">
                        <a:spcBef>
                          <a:spcPts val="115"/>
                        </a:spcBef>
                        <a:buNone/>
                      </a:pPr>
                      <a:r>
                        <a:rPr lang="en-US" sz="1600" spc="-1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anose="020B0604030504040204" pitchFamily="34" charset="0"/>
                        </a:rPr>
                        <a:t>Mounting</a:t>
                      </a:r>
                      <a:endParaRPr lang="en-IN" sz="16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59690" algn="ctr">
                        <a:spcBef>
                          <a:spcPts val="115"/>
                        </a:spcBef>
                        <a:buNone/>
                      </a:pPr>
                      <a:r>
                        <a:rPr lang="en-US" sz="16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anose="020B0604030504040204" pitchFamily="34" charset="0"/>
                        </a:rPr>
                        <a:t>Panel, screw </a:t>
                      </a:r>
                      <a:r>
                        <a:rPr lang="en-US" sz="1600" spc="-2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anose="020B0604030504040204" pitchFamily="34" charset="0"/>
                        </a:rPr>
                        <a:t>type</a:t>
                      </a:r>
                      <a:endParaRPr lang="en-IN" sz="16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8556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9690" algn="ctr">
                        <a:lnSpc>
                          <a:spcPct val="100000"/>
                        </a:lnSpc>
                        <a:spcBef>
                          <a:spcPts val="55"/>
                        </a:spcBef>
                        <a:buNone/>
                      </a:pPr>
                      <a:r>
                        <a:rPr lang="en-US" sz="16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anose="020B0604030504040204" pitchFamily="34" charset="0"/>
                        </a:rPr>
                        <a:t>Current</a:t>
                      </a:r>
                      <a:r>
                        <a:rPr lang="en-US" sz="1600" spc="-25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anose="020B0604030504040204" pitchFamily="34" charset="0"/>
                        </a:rPr>
                        <a:t>&amp;</a:t>
                      </a:r>
                      <a:r>
                        <a:rPr lang="en-US" sz="1600" spc="-25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anose="020B0604030504040204" pitchFamily="34" charset="0"/>
                        </a:rPr>
                        <a:t>Voltage</a:t>
                      </a:r>
                      <a:r>
                        <a:rPr lang="en-US" sz="1600" spc="-2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 spc="-1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anose="020B0604030504040204" pitchFamily="34" charset="0"/>
                        </a:rPr>
                        <a:t>Rating</a:t>
                      </a:r>
                      <a:endParaRPr lang="en-IN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59690" algn="ctr">
                        <a:lnSpc>
                          <a:spcPts val="1340"/>
                        </a:lnSpc>
                        <a:spcBef>
                          <a:spcPts val="55"/>
                        </a:spcBef>
                        <a:buNone/>
                      </a:pPr>
                      <a:r>
                        <a:rPr lang="en-US" sz="16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anose="020B0604030504040204" pitchFamily="34" charset="0"/>
                        </a:rPr>
                        <a:t>5A, 220 V </a:t>
                      </a:r>
                      <a:r>
                        <a:rPr lang="en-US" sz="1600" spc="-25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anose="020B0604030504040204" pitchFamily="34" charset="0"/>
                        </a:rPr>
                        <a:t>AC</a:t>
                      </a:r>
                      <a:endParaRPr lang="en-IN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5739392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81BA0CD-0017-92F8-97F0-AFCD034BA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3733287"/>
              </p:ext>
            </p:extLst>
          </p:nvPr>
        </p:nvGraphicFramePr>
        <p:xfrm>
          <a:off x="724934" y="3858642"/>
          <a:ext cx="8233791" cy="185420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959407">
                  <a:extLst>
                    <a:ext uri="{9D8B030D-6E8A-4147-A177-3AD203B41FA5}">
                      <a16:colId xmlns:a16="http://schemas.microsoft.com/office/drawing/2014/main" val="3467192701"/>
                    </a:ext>
                  </a:extLst>
                </a:gridCol>
                <a:gridCol w="5274384">
                  <a:extLst>
                    <a:ext uri="{9D8B030D-6E8A-4147-A177-3AD203B41FA5}">
                      <a16:colId xmlns:a16="http://schemas.microsoft.com/office/drawing/2014/main" val="236989809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TEST OPERATING CONDITIONS</a:t>
                      </a:r>
                      <a:endParaRPr lang="en-IN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IN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7288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9690" algn="ctr" defTabSz="914400" rtl="0" eaLnBrk="1" latinLnBrk="0" hangingPunct="1">
                        <a:lnSpc>
                          <a:spcPts val="1300"/>
                        </a:lnSpc>
                        <a:spcBef>
                          <a:spcPts val="100"/>
                        </a:spcBef>
                        <a:buNone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anose="020B0604030504040204" pitchFamily="34" charset="0"/>
                        </a:rPr>
                        <a:t>Electrical Supply</a:t>
                      </a:r>
                      <a:endParaRPr lang="en-IN" sz="1600" b="0" kern="1200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59690" algn="ctr" defTabSz="914400" rtl="0" eaLnBrk="1" latinLnBrk="0" hangingPunct="1">
                        <a:lnSpc>
                          <a:spcPts val="1300"/>
                        </a:lnSpc>
                        <a:spcBef>
                          <a:spcPts val="100"/>
                        </a:spcBef>
                        <a:buNone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anose="020B0604030504040204" pitchFamily="34" charset="0"/>
                        </a:rPr>
                        <a:t>220 V AC supply</a:t>
                      </a:r>
                      <a:endParaRPr lang="en-IN" sz="1600" b="0" kern="1200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28762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9690" algn="ctr" defTabSz="914400" rtl="0" eaLnBrk="1" latinLnBrk="0" hangingPunct="1">
                        <a:lnSpc>
                          <a:spcPts val="1300"/>
                        </a:lnSpc>
                        <a:spcBef>
                          <a:spcPts val="100"/>
                        </a:spcBef>
                        <a:buNone/>
                      </a:pPr>
                      <a:r>
                        <a:rPr lang="en-US" sz="1600" b="0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anose="020B0604030504040204" pitchFamily="34" charset="0"/>
                        </a:rPr>
                        <a:t>Temperature</a:t>
                      </a:r>
                      <a:endParaRPr lang="en-IN" sz="1600" b="0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59690" algn="ctr" defTabSz="914400" rtl="0" eaLnBrk="1" latinLnBrk="0" hangingPunct="1">
                        <a:lnSpc>
                          <a:spcPts val="1300"/>
                        </a:lnSpc>
                        <a:spcBef>
                          <a:spcPts val="100"/>
                        </a:spcBef>
                        <a:buNone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anose="020B0604030504040204" pitchFamily="34" charset="0"/>
                        </a:rPr>
                        <a:t>25 C</a:t>
                      </a:r>
                      <a:endParaRPr lang="en-IN" sz="1600" b="0" kern="1200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86641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9690" algn="ctr" defTabSz="914400" rtl="0" eaLnBrk="1" latinLnBrk="0" hangingPunct="1">
                        <a:lnSpc>
                          <a:spcPts val="1300"/>
                        </a:lnSpc>
                        <a:spcBef>
                          <a:spcPts val="100"/>
                        </a:spcBef>
                        <a:buNone/>
                      </a:pPr>
                      <a:r>
                        <a:rPr lang="en-US" sz="1600" b="0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anose="020B0604030504040204" pitchFamily="34" charset="0"/>
                        </a:rPr>
                        <a:t>Cycles per minute</a:t>
                      </a:r>
                      <a:endParaRPr lang="en-IN" sz="1600" b="0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59690" algn="ctr" defTabSz="914400" rtl="0" eaLnBrk="1" latinLnBrk="0" hangingPunct="1">
                        <a:lnSpc>
                          <a:spcPts val="1300"/>
                        </a:lnSpc>
                        <a:spcBef>
                          <a:spcPts val="100"/>
                        </a:spcBef>
                        <a:buNone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anose="020B0604030504040204" pitchFamily="34" charset="0"/>
                        </a:rPr>
                        <a:t>30</a:t>
                      </a:r>
                      <a:endParaRPr lang="en-IN" sz="1600" b="0" kern="1200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64860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9690" algn="ctr" defTabSz="914400" rtl="0" eaLnBrk="1" latinLnBrk="0" hangingPunct="1">
                        <a:lnSpc>
                          <a:spcPts val="1300"/>
                        </a:lnSpc>
                        <a:spcBef>
                          <a:spcPts val="100"/>
                        </a:spcBef>
                        <a:buNone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anose="020B0604030504040204" pitchFamily="34" charset="0"/>
                        </a:rPr>
                        <a:t>Relative Humidity</a:t>
                      </a:r>
                      <a:endParaRPr lang="en-IN" sz="1600" b="0" kern="1200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59690" algn="ctr" defTabSz="914400" rtl="0" eaLnBrk="1" latinLnBrk="0" hangingPunct="1">
                        <a:lnSpc>
                          <a:spcPts val="1300"/>
                        </a:lnSpc>
                        <a:spcBef>
                          <a:spcPts val="100"/>
                        </a:spcBef>
                        <a:buNone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anose="020B0604030504040204" pitchFamily="34" charset="0"/>
                        </a:rPr>
                        <a:t>70 – 80 % (approx.)</a:t>
                      </a:r>
                      <a:endParaRPr lang="en-IN" sz="1600" b="0" kern="1200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84858267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1DB57B5B-D4F8-3A13-92F7-464B71D07EFE}"/>
              </a:ext>
            </a:extLst>
          </p:cNvPr>
          <p:cNvSpPr txBox="1"/>
          <p:nvPr/>
        </p:nvSpPr>
        <p:spPr>
          <a:xfrm>
            <a:off x="9459868" y="3955245"/>
            <a:ext cx="24129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SPST PUSH BUTTON -SE952 PUSH TO ON MEDIUM </a:t>
            </a:r>
            <a:endParaRPr lang="en-IN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53848-3191-2CD9-A998-9B7367D18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692421-6CF0-0BCF-6F2D-62B36FEA0A17}"/>
              </a:ext>
            </a:extLst>
          </p:cNvPr>
          <p:cNvSpPr txBox="1"/>
          <p:nvPr/>
        </p:nvSpPr>
        <p:spPr>
          <a:xfrm>
            <a:off x="296002" y="6534974"/>
            <a:ext cx="11762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62BF8F0A-7FDA-491C-9C11-4D6991171ECB}" type="datetime3">
              <a:rPr lang="en-US" sz="1200" smtClean="0">
                <a:latin typeface="Cambria Math" panose="02040503050406030204" pitchFamily="18" charset="0"/>
                <a:ea typeface="Cambria Math" panose="02040503050406030204" pitchFamily="18" charset="0"/>
              </a:rPr>
              <a:t>9 April 2026</a:t>
            </a:fld>
            <a:endParaRPr lang="en-IN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B30F0A-1818-FD0A-B03F-D130FCFCB973}"/>
              </a:ext>
            </a:extLst>
          </p:cNvPr>
          <p:cNvSpPr txBox="1"/>
          <p:nvPr/>
        </p:nvSpPr>
        <p:spPr>
          <a:xfrm>
            <a:off x="5016641" y="6534973"/>
            <a:ext cx="29045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Indian Institute of Technology, Kharagpur</a:t>
            </a:r>
            <a:endParaRPr lang="en-IN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B9197E-BA59-BAD3-6327-6DB61132C706}"/>
              </a:ext>
            </a:extLst>
          </p:cNvPr>
          <p:cNvSpPr txBox="1"/>
          <p:nvPr/>
        </p:nvSpPr>
        <p:spPr>
          <a:xfrm>
            <a:off x="11622200" y="6486275"/>
            <a:ext cx="2728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3F36BEFA-5323-4F2A-B87A-6235DADB381C}" type="slidenum">
              <a:rPr lang="en-IN" sz="1200" smtClean="0">
                <a:latin typeface="Cambria Math" panose="02040503050406030204" pitchFamily="18" charset="0"/>
                <a:ea typeface="Cambria Math" panose="02040503050406030204" pitchFamily="18" charset="0"/>
              </a:rPr>
              <a:t>9</a:t>
            </a:fld>
            <a:endParaRPr lang="en-IN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1026" name="Picture 2" descr="Types, Applications and Principles of Push Button Switches">
            <a:extLst>
              <a:ext uri="{FF2B5EF4-FFF2-40B4-BE49-F238E27FC236}">
                <a16:creationId xmlns:a16="http://schemas.microsoft.com/office/drawing/2014/main" id="{2A86C582-EFDD-971E-E8F6-81151872F8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38" r="9178" b="7431"/>
          <a:stretch>
            <a:fillRect/>
          </a:stretch>
        </p:blipFill>
        <p:spPr bwMode="auto">
          <a:xfrm>
            <a:off x="1853514" y="677403"/>
            <a:ext cx="8066964" cy="5001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4966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BD7D7-5F54-1A21-AE91-B3990AA04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6E78A8AE-5EEA-8C69-5395-1060568ADD1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D860D9D-829C-288A-64EA-982CBE857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A QUICK RECAP TO RELIABILITY ENGINEERING LAB OUTPUTS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4214800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EBD2C-C5F7-3983-E406-6DAA30019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6A4A76BD-6485-1652-A39C-F4322A50CD4B}"/>
              </a:ext>
            </a:extLst>
          </p:cNvPr>
          <p:cNvSpPr txBox="1"/>
          <p:nvPr/>
        </p:nvSpPr>
        <p:spPr>
          <a:xfrm>
            <a:off x="356962" y="6534974"/>
            <a:ext cx="11762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62BF8F0A-7FDA-491C-9C11-4D6991171ECB}" type="datetime3">
              <a:rPr lang="en-US" sz="1200" smtClean="0">
                <a:latin typeface="Cambria Math" panose="02040503050406030204" pitchFamily="18" charset="0"/>
                <a:ea typeface="Cambria Math" panose="02040503050406030204" pitchFamily="18" charset="0"/>
              </a:rPr>
              <a:t>9 April 2026</a:t>
            </a:fld>
            <a:endParaRPr lang="en-IN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5BD2D7-A904-FE88-C573-BC384C4A7295}"/>
              </a:ext>
            </a:extLst>
          </p:cNvPr>
          <p:cNvSpPr txBox="1"/>
          <p:nvPr/>
        </p:nvSpPr>
        <p:spPr>
          <a:xfrm>
            <a:off x="4841831" y="6534973"/>
            <a:ext cx="29045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Indian Institute of Technology, Kharagpur</a:t>
            </a:r>
            <a:endParaRPr lang="en-IN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496A1F-FC11-4A22-A89E-4F9B68F88BE8}"/>
              </a:ext>
            </a:extLst>
          </p:cNvPr>
          <p:cNvSpPr txBox="1"/>
          <p:nvPr/>
        </p:nvSpPr>
        <p:spPr>
          <a:xfrm>
            <a:off x="11736371" y="6534973"/>
            <a:ext cx="2728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3F36BEFA-5323-4F2A-B87A-6235DADB381C}" type="slidenum">
              <a:rPr lang="en-IN" sz="1200" smtClean="0">
                <a:latin typeface="Cambria Math" panose="02040503050406030204" pitchFamily="18" charset="0"/>
                <a:ea typeface="Cambria Math" panose="02040503050406030204" pitchFamily="18" charset="0"/>
              </a:rPr>
              <a:t>11</a:t>
            </a:fld>
            <a:endParaRPr lang="en-IN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ACEE7868-A44C-9B8E-7092-DB1108FB7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693" y="46027"/>
            <a:ext cx="11290678" cy="1325563"/>
          </a:xfrm>
          <a:noFill/>
        </p:spPr>
        <p:txBody>
          <a:bodyPr anchor="ctr">
            <a:noAutofit/>
          </a:bodyPr>
          <a:lstStyle/>
          <a:p>
            <a:pPr algn="ctr"/>
            <a:r>
              <a:rPr lang="en-US" sz="3200" dirty="0"/>
              <a:t>FAULT TREE DIAGRAM FOR A PUSH BUTTON FAILURE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C134A0-63CF-4E4B-8D05-9FCBFB8AD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2791" y="965861"/>
            <a:ext cx="8296481" cy="5380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48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63" y="80622"/>
            <a:ext cx="10515600" cy="1325563"/>
          </a:xfrm>
          <a:noFill/>
        </p:spPr>
        <p:txBody>
          <a:bodyPr anchor="ctr"/>
          <a:lstStyle/>
          <a:p>
            <a:r>
              <a:rPr lang="en-US" u="sng" dirty="0"/>
              <a:t>TEST SETUP</a:t>
            </a:r>
          </a:p>
        </p:txBody>
      </p:sp>
      <p:pic>
        <p:nvPicPr>
          <p:cNvPr id="9" name="image1.png">
            <a:extLst>
              <a:ext uri="{FF2B5EF4-FFF2-40B4-BE49-F238E27FC236}">
                <a16:creationId xmlns:a16="http://schemas.microsoft.com/office/drawing/2014/main" id="{C40D43D4-8BDC-13E4-A8A1-B59036E86F3E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39"/>
          <a:stretch/>
        </p:blipFill>
        <p:spPr bwMode="auto">
          <a:xfrm>
            <a:off x="772998" y="1291915"/>
            <a:ext cx="6346596" cy="351575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Image 14">
            <a:extLst>
              <a:ext uri="{FF2B5EF4-FFF2-40B4-BE49-F238E27FC236}">
                <a16:creationId xmlns:a16="http://schemas.microsoft.com/office/drawing/2014/main" id="{96F36856-B856-6439-9CFA-BDA1C23D2437}"/>
              </a:ext>
            </a:extLst>
          </p:cNvPr>
          <p:cNvPicPr>
            <a:picLocks/>
          </p:cNvPicPr>
          <p:nvPr/>
        </p:nvPicPr>
        <p:blipFill rotWithShape="1">
          <a:blip r:embed="rId4" cstate="print"/>
          <a:srcRect t="1" r="50033" b="14441"/>
          <a:stretch>
            <a:fillRect/>
          </a:stretch>
        </p:blipFill>
        <p:spPr bwMode="auto">
          <a:xfrm>
            <a:off x="7657578" y="903658"/>
            <a:ext cx="2947577" cy="2405150"/>
          </a:xfrm>
          <a:prstGeom prst="rect">
            <a:avLst/>
          </a:prstGeom>
          <a:ln w="19050">
            <a:solidFill>
              <a:srgbClr val="C00000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Image 14">
            <a:extLst>
              <a:ext uri="{FF2B5EF4-FFF2-40B4-BE49-F238E27FC236}">
                <a16:creationId xmlns:a16="http://schemas.microsoft.com/office/drawing/2014/main" id="{0D8165BF-9E28-BEE9-7C9B-810963F3E708}"/>
              </a:ext>
            </a:extLst>
          </p:cNvPr>
          <p:cNvPicPr>
            <a:picLocks/>
          </p:cNvPicPr>
          <p:nvPr/>
        </p:nvPicPr>
        <p:blipFill rotWithShape="1">
          <a:blip r:embed="rId4" cstate="print"/>
          <a:srcRect l="51854" t="1" r="754" b="14441"/>
          <a:stretch>
            <a:fillRect/>
          </a:stretch>
        </p:blipFill>
        <p:spPr bwMode="auto">
          <a:xfrm>
            <a:off x="7657577" y="3549192"/>
            <a:ext cx="2947577" cy="2405150"/>
          </a:xfrm>
          <a:prstGeom prst="rect">
            <a:avLst/>
          </a:prstGeom>
          <a:ln w="19050">
            <a:solidFill>
              <a:srgbClr val="C00000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47B0002-BD1B-0311-6988-923EAF56D5D5}"/>
              </a:ext>
            </a:extLst>
          </p:cNvPr>
          <p:cNvSpPr txBox="1"/>
          <p:nvPr/>
        </p:nvSpPr>
        <p:spPr>
          <a:xfrm>
            <a:off x="2076254" y="4751767"/>
            <a:ext cx="3740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Circuit Diagram of the test </a:t>
            </a:r>
            <a:r>
              <a:rPr lang="en-US" sz="1800" b="1" spc="-1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setup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AC3C06-3618-7BA5-D32E-9081F72F1796}"/>
              </a:ext>
            </a:extLst>
          </p:cNvPr>
          <p:cNvSpPr txBox="1"/>
          <p:nvPr/>
        </p:nvSpPr>
        <p:spPr>
          <a:xfrm>
            <a:off x="8033995" y="6010060"/>
            <a:ext cx="22035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Actual Test </a:t>
            </a:r>
            <a:r>
              <a:rPr lang="en-US" sz="1800" b="1" spc="-1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Setup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7DBE65-673C-DDB7-AC0A-14B5D5980210}"/>
              </a:ext>
            </a:extLst>
          </p:cNvPr>
          <p:cNvSpPr txBox="1"/>
          <p:nvPr/>
        </p:nvSpPr>
        <p:spPr>
          <a:xfrm>
            <a:off x="1854396" y="5055953"/>
            <a:ext cx="553419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The circuit was connected as shown in the circuit diagram above. The circuit is designed in such a way that the failure of the switches can be accelerated by either increasing the rate of switching speed (on - off cycle) in rated load conditions or by increasing the load.</a:t>
            </a:r>
            <a:endParaRPr lang="en-IN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933731D-8313-B962-E6A7-781129E284C5}"/>
              </a:ext>
            </a:extLst>
          </p:cNvPr>
          <p:cNvGrpSpPr/>
          <p:nvPr/>
        </p:nvGrpSpPr>
        <p:grpSpPr>
          <a:xfrm>
            <a:off x="296002" y="6534973"/>
            <a:ext cx="11713201" cy="277000"/>
            <a:chOff x="296002" y="6534973"/>
            <a:chExt cx="11713201" cy="27700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9BB9348-2A4D-7AB5-7F8C-B2F8CCE992FE}"/>
                </a:ext>
              </a:extLst>
            </p:cNvPr>
            <p:cNvSpPr txBox="1"/>
            <p:nvPr/>
          </p:nvSpPr>
          <p:spPr>
            <a:xfrm>
              <a:off x="296002" y="6534974"/>
              <a:ext cx="11762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fld id="{62BF8F0A-7FDA-491C-9C11-4D6991171ECB}" type="datetime3">
                <a:rPr lang="en-US" sz="1200" smtClean="0">
                  <a:latin typeface="Cambria Math" panose="02040503050406030204" pitchFamily="18" charset="0"/>
                  <a:ea typeface="Cambria Math" panose="02040503050406030204" pitchFamily="18" charset="0"/>
                </a:rPr>
                <a:t>9 April 2026</a:t>
              </a:fld>
              <a:endParaRPr lang="en-IN" sz="12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BCE7537-E502-F70A-C536-F0D0A1836AA1}"/>
                </a:ext>
              </a:extLst>
            </p:cNvPr>
            <p:cNvSpPr txBox="1"/>
            <p:nvPr/>
          </p:nvSpPr>
          <p:spPr>
            <a:xfrm>
              <a:off x="4841831" y="6534973"/>
              <a:ext cx="29045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Indian Institute of Technology, Kharagpur</a:t>
              </a:r>
              <a:endParaRPr lang="en-IN" sz="12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2949E0D-4457-1BB0-6ED8-F52C4CB966C5}"/>
                </a:ext>
              </a:extLst>
            </p:cNvPr>
            <p:cNvSpPr txBox="1"/>
            <p:nvPr/>
          </p:nvSpPr>
          <p:spPr>
            <a:xfrm>
              <a:off x="11736371" y="6534973"/>
              <a:ext cx="2728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fld id="{3F36BEFA-5323-4F2A-B87A-6235DADB381C}" type="slidenum">
                <a:rPr lang="en-IN" sz="1200" smtClean="0">
                  <a:latin typeface="Cambria Math" panose="02040503050406030204" pitchFamily="18" charset="0"/>
                  <a:ea typeface="Cambria Math" panose="02040503050406030204" pitchFamily="18" charset="0"/>
                </a:rPr>
                <a:t>12</a:t>
              </a:fld>
              <a:endParaRPr lang="en-IN" sz="12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276497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858" y="171209"/>
            <a:ext cx="10515600" cy="1325563"/>
          </a:xfrm>
          <a:noFill/>
        </p:spPr>
        <p:txBody>
          <a:bodyPr anchor="ctr"/>
          <a:lstStyle/>
          <a:p>
            <a:r>
              <a:rPr lang="en-US" u="sng" dirty="0"/>
              <a:t>RESULTS FROM RT LAB - ALT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75F88A6-780B-59D5-CED4-22B56BF9DD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741092"/>
              </p:ext>
            </p:extLst>
          </p:nvPr>
        </p:nvGraphicFramePr>
        <p:xfrm>
          <a:off x="1532379" y="1419356"/>
          <a:ext cx="8127999" cy="14833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90751261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99459088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942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Accelerated stress (A)</a:t>
                      </a:r>
                      <a:endParaRPr lang="en-IN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Shape parameter (</a:t>
                      </a:r>
                      <a:r>
                        <a:rPr lang="el-GR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β</a:t>
                      </a:r>
                      <a:r>
                        <a:rPr lang="en-US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)</a:t>
                      </a:r>
                      <a:endParaRPr lang="en-IN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Scale parameter (</a:t>
                      </a:r>
                      <a:r>
                        <a:rPr lang="el-GR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θ</a:t>
                      </a:r>
                      <a:r>
                        <a:rPr lang="en-US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)</a:t>
                      </a:r>
                      <a:endParaRPr lang="en-IN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9937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2.6063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16974.67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9065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  <a:endParaRPr lang="en-IN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2.6017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8409.926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2589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1.5</a:t>
                      </a:r>
                      <a:endParaRPr lang="en-IN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3.9023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5621.732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1537370"/>
                  </a:ext>
                </a:extLst>
              </a:tr>
            </a:tbl>
          </a:graphicData>
        </a:graphic>
      </p:graphicFrame>
      <p:grpSp>
        <p:nvGrpSpPr>
          <p:cNvPr id="17" name="Group 16">
            <a:extLst>
              <a:ext uri="{FF2B5EF4-FFF2-40B4-BE49-F238E27FC236}">
                <a16:creationId xmlns:a16="http://schemas.microsoft.com/office/drawing/2014/main" id="{490516A8-E1E6-CBA5-4CF0-38B3C27BEECC}"/>
              </a:ext>
            </a:extLst>
          </p:cNvPr>
          <p:cNvGrpSpPr/>
          <p:nvPr/>
        </p:nvGrpSpPr>
        <p:grpSpPr>
          <a:xfrm>
            <a:off x="1415085" y="3083440"/>
            <a:ext cx="3113993" cy="1601041"/>
            <a:chOff x="9078007" y="1134508"/>
            <a:chExt cx="3113993" cy="160104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A553C92D-281C-1EFD-7C03-D3A24E06AC44}"/>
                    </a:ext>
                  </a:extLst>
                </p:cNvPr>
                <p:cNvSpPr txBox="1"/>
                <p:nvPr/>
              </p:nvSpPr>
              <p:spPr>
                <a:xfrm>
                  <a:off x="9078007" y="1134508"/>
                  <a:ext cx="2546210" cy="55996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160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β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avg</m:t>
                            </m:r>
                          </m:sub>
                        </m:sSub>
                        <m:r>
                          <a:rPr lang="en-US" sz="16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16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β</m:t>
                                </m:r>
                              </m:e>
                              <m:sub>
                                <m:r>
                                  <a:rPr lang="en-US" sz="16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0.8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6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</m:sub>
                            </m:sSub>
                            <m:r>
                              <a:rPr lang="en-US" sz="16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16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β</m:t>
                                </m:r>
                              </m:e>
                              <m:sub>
                                <m:r>
                                  <a:rPr lang="en-US" sz="16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6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</m:sub>
                            </m:sSub>
                            <m:r>
                              <a:rPr lang="en-US" sz="16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16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β</m:t>
                                </m:r>
                              </m:e>
                              <m:sub>
                                <m:r>
                                  <a:rPr lang="en-US" sz="16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1.5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6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16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en-US" sz="1600" b="0" dirty="0"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A553C92D-281C-1EFD-7C03-D3A24E06AC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78007" y="1134508"/>
                  <a:ext cx="2546210" cy="55996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2336AEC0-A66C-9121-089A-91592D241EA1}"/>
                    </a:ext>
                  </a:extLst>
                </p:cNvPr>
                <p:cNvSpPr txBox="1"/>
                <p:nvPr/>
              </p:nvSpPr>
              <p:spPr>
                <a:xfrm>
                  <a:off x="9511644" y="1726298"/>
                  <a:ext cx="2680356" cy="716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2.6063+2.6017+5621.732</m:t>
                            </m:r>
                          </m:num>
                          <m:den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en-IN" sz="1400" dirty="0"/>
                </a:p>
                <a:p>
                  <a:endParaRPr lang="en-IN" sz="14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2336AEC0-A66C-9121-089A-91592D241E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11644" y="1726298"/>
                  <a:ext cx="2680356" cy="71686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CABC1BF0-4A8E-69D8-BF4E-BABC12568CEC}"/>
                    </a:ext>
                  </a:extLst>
                </p:cNvPr>
                <p:cNvSpPr txBox="1"/>
                <p:nvPr/>
              </p:nvSpPr>
              <p:spPr>
                <a:xfrm>
                  <a:off x="9363953" y="2150774"/>
                  <a:ext cx="1618269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IN" sz="1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3.036767</m:t>
                        </m:r>
                      </m:oMath>
                    </m:oMathPara>
                  </a14:m>
                  <a:endParaRPr lang="en-IN" sz="16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endParaRPr lang="en-IN" sz="16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CABC1BF0-4A8E-69D8-BF4E-BABC12568C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63953" y="2150774"/>
                  <a:ext cx="1618269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58458A0-6171-D1A3-093F-7EFD6E09FEA0}"/>
                  </a:ext>
                </a:extLst>
              </p:cNvPr>
              <p:cNvSpPr txBox="1"/>
              <p:nvPr/>
            </p:nvSpPr>
            <p:spPr>
              <a:xfrm>
                <a:off x="5930794" y="3083440"/>
                <a:ext cx="2803973" cy="17207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Using Inverse Power Law: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B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B</m:t>
                              </m:r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</m:func>
                            </m:e>
                          </m:func>
                        </m:e>
                      </m:func>
                    </m:oMath>
                  </m:oMathPara>
                </a14:m>
                <a:endParaRPr lang="en-US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58458A0-6171-D1A3-093F-7EFD6E09F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0794" y="3083440"/>
                <a:ext cx="2803973" cy="1720792"/>
              </a:xfrm>
              <a:prstGeom prst="rect">
                <a:avLst/>
              </a:prstGeom>
              <a:blipFill>
                <a:blip r:embed="rId6"/>
                <a:stretch>
                  <a:fillRect l="-1957" t="-24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7BC1A3EC-328A-CE3A-3412-EEAC3F2037B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77243976"/>
                  </p:ext>
                </p:extLst>
              </p:nvPr>
            </p:nvGraphicFramePr>
            <p:xfrm>
              <a:off x="1560658" y="4605737"/>
              <a:ext cx="8128000" cy="1483360"/>
            </p:xfrm>
            <a:graphic>
              <a:graphicData uri="http://schemas.openxmlformats.org/drawingml/2006/table">
                <a:tbl>
                  <a:tblPr firstRow="1" bandRow="1">
                    <a:tableStyleId>{72833802-FEF1-4C79-8D5D-14CF1EAF98D9}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1653829670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384754199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686030615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345427384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6846406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IN" sz="1800" u="none" strike="noStrike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Stress (S)</a:t>
                          </a:r>
                          <a:endParaRPr lang="en-IN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7620" marR="7620" marT="762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IN" sz="1800" u="none" strike="noStrike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Beta </a:t>
                          </a:r>
                          <a:r>
                            <a:rPr lang="en-IN" sz="1800" u="none" strike="noStrike" dirty="0" err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avg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(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180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β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avg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7620" marR="7620" marT="762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IN" sz="1800" u="none" strike="noStrike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Theta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</a:t>
                          </a:r>
                          <a:r>
                            <a:rPr lang="el-GR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θ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  <a:endParaRPr lang="en-IN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7620" marR="7620" marT="762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IN" sz="1800" u="none" strike="noStrike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Ln eta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(ln </a:t>
                          </a:r>
                          <a:r>
                            <a:rPr lang="el-GR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θ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  <a:endParaRPr lang="en-IN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7620" marR="7620" marT="762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IN" sz="1800" u="none" strike="noStrike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Ln S</a:t>
                          </a:r>
                          <a:endParaRPr lang="en-IN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7620" marR="7620" marT="762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516115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IN" sz="1800" u="none" strike="noStrike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0.8</a:t>
                          </a:r>
                          <a:endParaRPr lang="en-IN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7620" marR="7620" marT="762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IN" sz="1800" u="none" strike="noStrike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3.036767</a:t>
                          </a:r>
                          <a:endParaRPr lang="en-IN" sz="1800" b="0" i="0" u="none" strike="noStrike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7620" marR="7620" marT="762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IN" sz="1800" u="none" strike="noStrike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16787.26</a:t>
                          </a:r>
                          <a:endParaRPr lang="en-IN" sz="1800" b="0" i="0" u="none" strike="noStrike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7620" marR="7620" marT="762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IN" sz="1800" u="none" strike="noStrike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9.728376</a:t>
                          </a:r>
                          <a:endParaRPr lang="en-IN" sz="1800" b="0" i="0" u="none" strike="noStrike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7620" marR="7620" marT="762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IN" sz="1800" u="none" strike="noStrike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-0.22314</a:t>
                          </a:r>
                          <a:endParaRPr lang="en-IN" sz="1800" b="0" i="0" u="none" strike="noStrike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7620" marR="7620" marT="762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899184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IN" sz="1800" u="none" strike="noStrike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endParaRPr lang="en-IN" sz="1800" b="0" i="0" u="none" strike="noStrike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7620" marR="7620" marT="762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IN" sz="1800" u="none" strike="noStrike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3.036767</a:t>
                          </a:r>
                          <a:endParaRPr lang="en-IN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7620" marR="7620" marT="762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IN" sz="1800" u="none" strike="noStrike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8505.405</a:t>
                          </a:r>
                          <a:endParaRPr lang="en-IN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7620" marR="7620" marT="762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IN" sz="1800" u="none" strike="noStrike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9.048457</a:t>
                          </a:r>
                          <a:endParaRPr lang="en-IN" sz="1800" b="0" i="0" u="none" strike="noStrike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7620" marR="7620" marT="762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IN" sz="1800" u="none" strike="noStrike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en-IN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7620" marR="7620" marT="762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455033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IN" sz="1800" u="none" strike="noStrike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1.5</a:t>
                          </a:r>
                          <a:endParaRPr lang="en-IN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7620" marR="7620" marT="762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IN" sz="1800" u="none" strike="noStrike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3.036767</a:t>
                          </a:r>
                          <a:endParaRPr lang="en-IN" sz="1800" b="0" i="0" u="none" strike="noStrike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7620" marR="7620" marT="762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IN" sz="1800" u="none" strike="noStrike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5336.599</a:t>
                          </a:r>
                          <a:endParaRPr lang="en-IN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7620" marR="7620" marT="762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IN" sz="1800" u="none" strike="noStrike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8.582344</a:t>
                          </a:r>
                          <a:endParaRPr lang="en-IN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7620" marR="7620" marT="762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IN" sz="1800" u="none" strike="noStrike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0.405465</a:t>
                          </a:r>
                          <a:endParaRPr lang="en-IN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7620" marR="7620" marT="762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050068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7BC1A3EC-328A-CE3A-3412-EEAC3F2037B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77243976"/>
                  </p:ext>
                </p:extLst>
              </p:nvPr>
            </p:nvGraphicFramePr>
            <p:xfrm>
              <a:off x="1560658" y="4605737"/>
              <a:ext cx="8128000" cy="1483360"/>
            </p:xfrm>
            <a:graphic>
              <a:graphicData uri="http://schemas.openxmlformats.org/drawingml/2006/table">
                <a:tbl>
                  <a:tblPr firstRow="1" bandRow="1">
                    <a:tableStyleId>{72833802-FEF1-4C79-8D5D-14CF1EAF98D9}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1653829670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384754199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686030615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345427384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6846406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IN" sz="1800" u="none" strike="noStrike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Stress (S)</a:t>
                          </a:r>
                          <a:endParaRPr lang="en-IN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7620" marR="7620" marT="762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00749" t="-8197" r="-300375" b="-3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IN" sz="1800" u="none" strike="noStrike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Theta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</a:t>
                          </a:r>
                          <a:r>
                            <a:rPr lang="el-GR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θ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  <a:endParaRPr lang="en-IN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7620" marR="7620" marT="762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IN" sz="1800" u="none" strike="noStrike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Ln eta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(ln </a:t>
                          </a:r>
                          <a:r>
                            <a:rPr lang="el-GR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θ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  <a:endParaRPr lang="en-IN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7620" marR="7620" marT="762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IN" sz="1800" u="none" strike="noStrike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Ln S</a:t>
                          </a:r>
                          <a:endParaRPr lang="en-IN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7620" marR="7620" marT="762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516115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IN" sz="1800" u="none" strike="noStrike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0.8</a:t>
                          </a:r>
                          <a:endParaRPr lang="en-IN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7620" marR="7620" marT="762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IN" sz="1800" u="none" strike="noStrike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3.036767</a:t>
                          </a:r>
                          <a:endParaRPr lang="en-IN" sz="1800" b="0" i="0" u="none" strike="noStrike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7620" marR="7620" marT="762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IN" sz="1800" u="none" strike="noStrike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16787.26</a:t>
                          </a:r>
                          <a:endParaRPr lang="en-IN" sz="1800" b="0" i="0" u="none" strike="noStrike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7620" marR="7620" marT="762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IN" sz="1800" u="none" strike="noStrike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9.728376</a:t>
                          </a:r>
                          <a:endParaRPr lang="en-IN" sz="1800" b="0" i="0" u="none" strike="noStrike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7620" marR="7620" marT="762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IN" sz="1800" u="none" strike="noStrike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-0.22314</a:t>
                          </a:r>
                          <a:endParaRPr lang="en-IN" sz="1800" b="0" i="0" u="none" strike="noStrike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7620" marR="7620" marT="762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899184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IN" sz="1800" u="none" strike="noStrike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endParaRPr lang="en-IN" sz="1800" b="0" i="0" u="none" strike="noStrike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7620" marR="7620" marT="762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IN" sz="1800" u="none" strike="noStrike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3.036767</a:t>
                          </a:r>
                          <a:endParaRPr lang="en-IN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7620" marR="7620" marT="762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IN" sz="1800" u="none" strike="noStrike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8505.405</a:t>
                          </a:r>
                          <a:endParaRPr lang="en-IN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7620" marR="7620" marT="762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IN" sz="1800" u="none" strike="noStrike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9.048457</a:t>
                          </a:r>
                          <a:endParaRPr lang="en-IN" sz="1800" b="0" i="0" u="none" strike="noStrike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7620" marR="7620" marT="762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IN" sz="1800" u="none" strike="noStrike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en-IN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7620" marR="7620" marT="762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455033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IN" sz="1800" u="none" strike="noStrike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1.5</a:t>
                          </a:r>
                          <a:endParaRPr lang="en-IN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7620" marR="7620" marT="762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IN" sz="1800" u="none" strike="noStrike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3.036767</a:t>
                          </a:r>
                          <a:endParaRPr lang="en-IN" sz="1800" b="0" i="0" u="none" strike="noStrike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7620" marR="7620" marT="762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IN" sz="1800" u="none" strike="noStrike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5336.599</a:t>
                          </a:r>
                          <a:endParaRPr lang="en-IN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7620" marR="7620" marT="762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IN" sz="1800" u="none" strike="noStrike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8.582344</a:t>
                          </a:r>
                          <a:endParaRPr lang="en-IN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7620" marR="7620" marT="762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IN" sz="1800" u="none" strike="noStrike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0.405465</a:t>
                          </a:r>
                          <a:endParaRPr lang="en-IN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7620" marR="7620" marT="762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0500681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3" name="Picture 22">
            <a:extLst>
              <a:ext uri="{FF2B5EF4-FFF2-40B4-BE49-F238E27FC236}">
                <a16:creationId xmlns:a16="http://schemas.microsoft.com/office/drawing/2014/main" id="{1B1C3BB9-A309-FAB7-5D46-47D92B93695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9128" y="360961"/>
            <a:ext cx="1800075" cy="1800075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9A0917F7-1A18-8B12-B595-E6A4EB7A1B28}"/>
              </a:ext>
            </a:extLst>
          </p:cNvPr>
          <p:cNvGrpSpPr/>
          <p:nvPr/>
        </p:nvGrpSpPr>
        <p:grpSpPr>
          <a:xfrm>
            <a:off x="296002" y="6534973"/>
            <a:ext cx="11713201" cy="277000"/>
            <a:chOff x="296002" y="6534973"/>
            <a:chExt cx="11713201" cy="277000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1EAD4EA-570E-A825-9F4C-8CF10A6AA472}"/>
                </a:ext>
              </a:extLst>
            </p:cNvPr>
            <p:cNvSpPr txBox="1"/>
            <p:nvPr/>
          </p:nvSpPr>
          <p:spPr>
            <a:xfrm>
              <a:off x="296002" y="6534974"/>
              <a:ext cx="11762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fld id="{62BF8F0A-7FDA-491C-9C11-4D6991171ECB}" type="datetime3">
                <a:rPr lang="en-US" sz="1200" smtClean="0">
                  <a:latin typeface="Cambria Math" panose="02040503050406030204" pitchFamily="18" charset="0"/>
                  <a:ea typeface="Cambria Math" panose="02040503050406030204" pitchFamily="18" charset="0"/>
                </a:rPr>
                <a:t>9 April 2026</a:t>
              </a:fld>
              <a:endParaRPr lang="en-IN" sz="12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1AB8C46-F1D7-B3B3-CD17-0CF43FF0E824}"/>
                </a:ext>
              </a:extLst>
            </p:cNvPr>
            <p:cNvSpPr txBox="1"/>
            <p:nvPr/>
          </p:nvSpPr>
          <p:spPr>
            <a:xfrm>
              <a:off x="4841831" y="6534973"/>
              <a:ext cx="29045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Indian Institute of Technology, Kharagpur</a:t>
              </a:r>
              <a:endParaRPr lang="en-IN" sz="12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847E31E-39D9-AF66-4A78-C132DE82CB83}"/>
                </a:ext>
              </a:extLst>
            </p:cNvPr>
            <p:cNvSpPr txBox="1"/>
            <p:nvPr/>
          </p:nvSpPr>
          <p:spPr>
            <a:xfrm>
              <a:off x="11736371" y="6534973"/>
              <a:ext cx="2728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fld id="{3F36BEFA-5323-4F2A-B87A-6235DADB381C}" type="slidenum">
                <a:rPr lang="en-IN" sz="1200" smtClean="0">
                  <a:latin typeface="Cambria Math" panose="02040503050406030204" pitchFamily="18" charset="0"/>
                  <a:ea typeface="Cambria Math" panose="02040503050406030204" pitchFamily="18" charset="0"/>
                </a:rPr>
                <a:t>13</a:t>
              </a:fld>
              <a:endParaRPr lang="en-IN" sz="12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E31F971-E432-83B8-EC15-F01F52EE3987}"/>
                  </a:ext>
                </a:extLst>
              </p:cNvPr>
              <p:cNvSpPr txBox="1"/>
              <p:nvPr/>
            </p:nvSpPr>
            <p:spPr>
              <a:xfrm>
                <a:off x="9265627" y="3101706"/>
                <a:ext cx="1473480" cy="9314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l-GR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]</m:t>
                              </m:r>
                            </m:e>
                          </m:nary>
                        </m:e>
                        <m:sup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E31F971-E432-83B8-EC15-F01F52EE3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5627" y="3101706"/>
                <a:ext cx="1473480" cy="93147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4630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1109A-3237-E848-9FC2-C2859ACCE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A3D64-6103-FD45-5F5F-C6D3C5245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783" y="46027"/>
            <a:ext cx="10515600" cy="1325563"/>
          </a:xfrm>
          <a:noFill/>
        </p:spPr>
        <p:txBody>
          <a:bodyPr anchor="ctr"/>
          <a:lstStyle/>
          <a:p>
            <a:r>
              <a:rPr lang="en-US" u="sng" dirty="0"/>
              <a:t>RESULTS FROM RT LAB - ALT (Contd.)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BDEEE0F3-FED3-DB1C-18EF-ED9B9A6593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4224014"/>
              </p:ext>
            </p:extLst>
          </p:nvPr>
        </p:nvGraphicFramePr>
        <p:xfrm>
          <a:off x="713470" y="1107010"/>
          <a:ext cx="5762744" cy="35404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382F9D8D-4288-9F0F-D45C-6ADF604A294B}"/>
              </a:ext>
            </a:extLst>
          </p:cNvPr>
          <p:cNvSpPr txBox="1"/>
          <p:nvPr/>
        </p:nvSpPr>
        <p:spPr>
          <a:xfrm>
            <a:off x="4402492" y="1799994"/>
            <a:ext cx="17626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From plot:</a:t>
            </a:r>
          </a:p>
          <a:p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Ln A = 9.2256</a:t>
            </a:r>
          </a:p>
          <a:p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A = 10153.76651</a:t>
            </a:r>
          </a:p>
          <a:p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B = 1.7414</a:t>
            </a:r>
            <a:endParaRPr lang="en-IN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FE16692-3A66-7585-2DF6-ACC66954B95A}"/>
              </a:ext>
            </a:extLst>
          </p:cNvPr>
          <p:cNvGrpSpPr/>
          <p:nvPr/>
        </p:nvGrpSpPr>
        <p:grpSpPr>
          <a:xfrm>
            <a:off x="296002" y="6534973"/>
            <a:ext cx="11713201" cy="277000"/>
            <a:chOff x="296002" y="6534973"/>
            <a:chExt cx="11713201" cy="27700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6D64B53-7956-F4FD-936C-686AB1FB4F88}"/>
                </a:ext>
              </a:extLst>
            </p:cNvPr>
            <p:cNvSpPr txBox="1"/>
            <p:nvPr/>
          </p:nvSpPr>
          <p:spPr>
            <a:xfrm>
              <a:off x="296002" y="6534974"/>
              <a:ext cx="11762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fld id="{62BF8F0A-7FDA-491C-9C11-4D6991171ECB}" type="datetime3">
                <a:rPr lang="en-US" sz="1200" smtClean="0">
                  <a:latin typeface="Cambria Math" panose="02040503050406030204" pitchFamily="18" charset="0"/>
                  <a:ea typeface="Cambria Math" panose="02040503050406030204" pitchFamily="18" charset="0"/>
                </a:rPr>
                <a:t>9 April 2026</a:t>
              </a:fld>
              <a:endParaRPr lang="en-IN" sz="12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7C74A84-0D99-1506-5F96-7768EF38FA10}"/>
                </a:ext>
              </a:extLst>
            </p:cNvPr>
            <p:cNvSpPr txBox="1"/>
            <p:nvPr/>
          </p:nvSpPr>
          <p:spPr>
            <a:xfrm>
              <a:off x="4841831" y="6534973"/>
              <a:ext cx="29045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Indian Institute of Technology, Kharagpur</a:t>
              </a:r>
              <a:endParaRPr lang="en-IN" sz="12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30777D8-ADAD-541F-238B-DDD65E4CE865}"/>
                </a:ext>
              </a:extLst>
            </p:cNvPr>
            <p:cNvSpPr txBox="1"/>
            <p:nvPr/>
          </p:nvSpPr>
          <p:spPr>
            <a:xfrm>
              <a:off x="11736371" y="6534973"/>
              <a:ext cx="2728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fld id="{3F36BEFA-5323-4F2A-B87A-6235DADB381C}" type="slidenum">
                <a:rPr lang="en-IN" sz="1200" smtClean="0">
                  <a:latin typeface="Cambria Math" panose="02040503050406030204" pitchFamily="18" charset="0"/>
                  <a:ea typeface="Cambria Math" panose="02040503050406030204" pitchFamily="18" charset="0"/>
                </a:rPr>
                <a:t>14</a:t>
              </a:fld>
              <a:endParaRPr lang="en-IN" sz="12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6FBD64B-4E60-2223-9C6B-395CBF4BA5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2098042"/>
              </p:ext>
            </p:extLst>
          </p:nvPr>
        </p:nvGraphicFramePr>
        <p:xfrm>
          <a:off x="436775" y="4538741"/>
          <a:ext cx="8128002" cy="18542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17234700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3604171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67556693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64412776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23941608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1748486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Conditions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Stress (S)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Life (theta)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AF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MTTF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 (test)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0683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Nominal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0.2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167422.39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149585.8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30000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0362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case 1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0.8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14975.67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11.17962584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13380.21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2683.452955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978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case 2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10153.767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16.48869807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9072.019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1819.428064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5505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case 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1.5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5011.6629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33.40655439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4477.738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898.0273646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637863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2C2322E-0B99-46DB-C038-52057BC5AED9}"/>
                  </a:ext>
                </a:extLst>
              </p:cNvPr>
              <p:cNvSpPr txBox="1"/>
              <p:nvPr/>
            </p:nvSpPr>
            <p:spPr>
              <a:xfrm>
                <a:off x="7102973" y="1324632"/>
                <a:ext cx="4375557" cy="27744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Electrical life = 30000 cycles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Life (L) =</a:t>
                </a:r>
                <a:r>
                  <a:rPr lang="el-GR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θ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B</m:t>
                            </m:r>
                          </m:sup>
                        </m:sSup>
                      </m:den>
                    </m:f>
                  </m:oMath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Acceleration Factor (AF)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nominal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</m:t>
                        </m:r>
                      </m:den>
                    </m:f>
                  </m:oMath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MTTF = </a:t>
                </a:r>
                <a:r>
                  <a:rPr lang="el-GR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θ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(1+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t(test) = required testing time or cycles</a:t>
                </a:r>
              </a:p>
              <a:p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00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Electrical</m:t>
                        </m:r>
                        <m:r>
                          <a:rPr lang="en-US" sz="2000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sz="200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life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00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AF</m:t>
                        </m:r>
                      </m:den>
                    </m:f>
                  </m:oMath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𝑎𝑣𝑔</m:t>
                                </m:r>
                              </m:sub>
                            </m:sSub>
                          </m:sup>
                        </m:sSup>
                      </m:sup>
                    </m:sSup>
                  </m:oMath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2C2322E-0B99-46DB-C038-52057BC5AE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2973" y="1324632"/>
                <a:ext cx="4375557" cy="2774477"/>
              </a:xfrm>
              <a:prstGeom prst="rect">
                <a:avLst/>
              </a:prstGeom>
              <a:blipFill>
                <a:blip r:embed="rId4"/>
                <a:stretch>
                  <a:fillRect l="-836" t="-1319" r="-4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31219A3C-9486-9126-175F-96DE35BAFD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206234"/>
              </p:ext>
            </p:extLst>
          </p:nvPr>
        </p:nvGraphicFramePr>
        <p:xfrm>
          <a:off x="8919338" y="4538741"/>
          <a:ext cx="2953449" cy="185420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709656">
                  <a:extLst>
                    <a:ext uri="{9D8B030D-6E8A-4147-A177-3AD203B41FA5}">
                      <a16:colId xmlns:a16="http://schemas.microsoft.com/office/drawing/2014/main" val="2167941079"/>
                    </a:ext>
                  </a:extLst>
                </a:gridCol>
                <a:gridCol w="1243793">
                  <a:extLst>
                    <a:ext uri="{9D8B030D-6E8A-4147-A177-3AD203B41FA5}">
                      <a16:colId xmlns:a16="http://schemas.microsoft.com/office/drawing/2014/main" val="22594983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Parameters</a:t>
                      </a:r>
                      <a:endParaRPr lang="en-IN" sz="1400" b="1" i="0" u="none" strike="noStrike" dirty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Value</a:t>
                      </a:r>
                      <a:endParaRPr lang="en-IN" sz="1400" b="1" i="0" u="none" strike="noStrike" dirty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1665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Electrical life (cycles)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30000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7569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Nominal stress (A)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0.2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1204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theta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167422.3902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7538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Reliability (Ru)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0.994613614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254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61510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80DBD02E-DFE5-2413-1C89-519FA38C79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926E5EE-570B-80FC-E9A3-B9D145E43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RELIABILITY DEMONSTRATION TESTS</a:t>
            </a:r>
          </a:p>
        </p:txBody>
      </p:sp>
    </p:spTree>
    <p:extLst>
      <p:ext uri="{BB962C8B-B14F-4D97-AF65-F5344CB8AC3E}">
        <p14:creationId xmlns:p14="http://schemas.microsoft.com/office/powerpoint/2010/main" val="31781740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70055-DDDF-F682-C2BC-618B7CD31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B2E96-728C-6C2B-DE95-8E357803A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RELIABILITY DEMONSTRATION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A23C7-E111-8913-9665-118488FEE7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257800" cy="4297680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latin typeface="Aptos" panose="020B0004020202020204" pitchFamily="34" charset="0"/>
              </a:rPr>
              <a:t>Binomial Test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Sample size fixed before hand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Allowed no of failures decided before hand</a:t>
            </a:r>
          </a:p>
          <a:p>
            <a:r>
              <a:rPr lang="en-IN" dirty="0">
                <a:latin typeface="Aptos" panose="020B0004020202020204" pitchFamily="34" charset="0"/>
              </a:rPr>
              <a:t>Example:</a:t>
            </a:r>
            <a:br>
              <a:rPr lang="en-IN" dirty="0">
                <a:latin typeface="Aptos" panose="020B0004020202020204" pitchFamily="34" charset="0"/>
              </a:rPr>
            </a:br>
            <a:r>
              <a:rPr lang="en-IN" dirty="0">
                <a:latin typeface="Aptos" panose="020B0004020202020204" pitchFamily="34" charset="0"/>
              </a:rPr>
              <a:t>Test 50 push buttons</a:t>
            </a:r>
            <a:br>
              <a:rPr lang="en-IN" dirty="0">
                <a:latin typeface="Aptos" panose="020B0004020202020204" pitchFamily="34" charset="0"/>
              </a:rPr>
            </a:br>
            <a:r>
              <a:rPr lang="en-IN" dirty="0">
                <a:latin typeface="Aptos" panose="020B0004020202020204" pitchFamily="34" charset="0"/>
              </a:rPr>
              <a:t>Accept product if failures ≤ 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Decision is made only </a:t>
            </a:r>
            <a:r>
              <a:rPr lang="en-IN" b="1" dirty="0">
                <a:latin typeface="Aptos" panose="020B0004020202020204" pitchFamily="34" charset="0"/>
              </a:rPr>
              <a:t>after all tests are completed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For high reliability components like push buttons, failures are rare, so testing many samples becomes inefficient</a:t>
            </a:r>
          </a:p>
          <a:p>
            <a:endParaRPr lang="en-IN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D71C98-02DE-48B3-A095-A93D421C552A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776546" y="1825625"/>
            <a:ext cx="5212080" cy="4297680"/>
          </a:xfrm>
        </p:spPr>
        <p:txBody>
          <a:bodyPr/>
          <a:lstStyle/>
          <a:p>
            <a:r>
              <a:rPr lang="en-US" b="1" dirty="0">
                <a:latin typeface="Aptos" panose="020B0004020202020204" pitchFamily="34" charset="0"/>
              </a:rPr>
              <a:t>Sequential Test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Testing is done step by step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After each trial, a decision to accept/reject/ continue taken</a:t>
            </a:r>
          </a:p>
          <a:p>
            <a:r>
              <a:rPr lang="en-US" b="1" dirty="0">
                <a:latin typeface="Aptos" panose="020B0004020202020204" pitchFamily="34" charset="0"/>
              </a:rPr>
              <a:t>Advantages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Requires few samples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Reduces cost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Efficient Method</a:t>
            </a:r>
          </a:p>
        </p:txBody>
      </p:sp>
    </p:spTree>
    <p:extLst>
      <p:ext uri="{BB962C8B-B14F-4D97-AF65-F5344CB8AC3E}">
        <p14:creationId xmlns:p14="http://schemas.microsoft.com/office/powerpoint/2010/main" val="31074976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3C26F-04F5-761A-8A01-8C7FA04C1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23FDB-6F07-34FE-5C25-2FBE5EF44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BINOMIAL DEMONSTRATION PLAN (COMPARISON)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988B28-D1F8-A469-0945-DB4887073C07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10363200" cy="4297680"/>
              </a:xfrm>
            </p:spPr>
            <p:txBody>
              <a:bodyPr>
                <a:normAutofit/>
              </a:bodyPr>
              <a:lstStyle/>
              <a:p>
                <a:r>
                  <a:rPr lang="en-IN" dirty="0"/>
                  <a:t>Good product should be accepted with probability ≥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  <m:r>
                      <m:rPr>
                        <m:sty m:val="p"/>
                      </m:rPr>
                      <a:rPr lang="en-US" b="0" i="0" baseline="30000" smtClean="0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US" b="0" i="0" baseline="-2500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IN" dirty="0"/>
                  <a:t> (1-R</a:t>
                </a:r>
                <a:r>
                  <a:rPr lang="en-IN" baseline="-25000" dirty="0"/>
                  <a:t>U</a:t>
                </a:r>
                <a:r>
                  <a:rPr lang="en-IN" dirty="0"/>
                  <a:t>)</a:t>
                </a:r>
                <a:r>
                  <a:rPr lang="en-IN" baseline="30000" dirty="0" err="1"/>
                  <a:t>x</a:t>
                </a:r>
                <a:r>
                  <a:rPr lang="en-IN" dirty="0" err="1"/>
                  <a:t>R</a:t>
                </a:r>
                <a:r>
                  <a:rPr lang="en-IN" baseline="-25000" dirty="0" err="1"/>
                  <a:t>U</a:t>
                </a:r>
                <a:r>
                  <a:rPr lang="en-IN" baseline="30000" dirty="0" err="1"/>
                  <a:t>n</a:t>
                </a:r>
                <a:r>
                  <a:rPr lang="en-IN" baseline="30000" dirty="0"/>
                  <a:t>-x </a:t>
                </a:r>
                <a:r>
                  <a:rPr lang="en-IN" dirty="0"/>
                  <a:t>≥1−</a:t>
                </a:r>
                <a:r>
                  <a:rPr lang="el-GR" dirty="0"/>
                  <a:t>α</a:t>
                </a:r>
                <a:endParaRPr lang="en-US" dirty="0"/>
              </a:p>
              <a:p>
                <a:r>
                  <a:rPr lang="en-IN" dirty="0"/>
                  <a:t>Bad product should be accepted with probability </a:t>
                </a:r>
                <a:r>
                  <a:rPr lang="en-IN" u="sng" dirty="0"/>
                  <a:t>&lt;</a:t>
                </a:r>
                <a:r>
                  <a:rPr lang="en-IN" dirty="0"/>
                  <a:t> </a:t>
                </a:r>
                <a:r>
                  <a:rPr lang="el-GR" dirty="0"/>
                  <a:t>β </a:t>
                </a:r>
                <a:endParaRPr lang="en-US" dirty="0"/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  <m:r>
                      <m:rPr>
                        <m:sty m:val="p"/>
                      </m:rPr>
                      <a:rPr lang="en-US" baseline="30000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US" baseline="-2500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IN" dirty="0"/>
                  <a:t> (1-R</a:t>
                </a:r>
                <a:r>
                  <a:rPr lang="en-IN" baseline="-25000" dirty="0"/>
                  <a:t>L</a:t>
                </a:r>
                <a:r>
                  <a:rPr lang="en-IN" dirty="0"/>
                  <a:t>)</a:t>
                </a:r>
                <a:r>
                  <a:rPr lang="en-IN" baseline="30000" dirty="0" err="1"/>
                  <a:t>x</a:t>
                </a:r>
                <a:r>
                  <a:rPr lang="en-IN" dirty="0" err="1"/>
                  <a:t>R</a:t>
                </a:r>
                <a:r>
                  <a:rPr lang="en-IN" baseline="-25000" dirty="0" err="1"/>
                  <a:t>L</a:t>
                </a:r>
                <a:r>
                  <a:rPr lang="en-IN" baseline="30000" dirty="0" err="1"/>
                  <a:t>n</a:t>
                </a:r>
                <a:r>
                  <a:rPr lang="en-IN" baseline="30000" dirty="0"/>
                  <a:t>-x </a:t>
                </a:r>
                <a:r>
                  <a:rPr lang="en-IN" u="sng" dirty="0"/>
                  <a:t>&lt;</a:t>
                </a:r>
                <a:r>
                  <a:rPr lang="en-IN" dirty="0"/>
                  <a:t> </a:t>
                </a:r>
                <a:r>
                  <a:rPr lang="el-GR" dirty="0"/>
                  <a:t>β</a:t>
                </a:r>
                <a:endParaRPr lang="en-IN" dirty="0">
                  <a:latin typeface="Aptos" panose="020B0004020202020204" pitchFamily="34" charset="0"/>
                </a:endParaRPr>
              </a:p>
              <a:p>
                <a:endParaRPr lang="en-US" dirty="0">
                  <a:latin typeface="Aptos" panose="020B0004020202020204" pitchFamily="34" charset="0"/>
                </a:endParaRPr>
              </a:p>
              <a:p>
                <a:endParaRPr lang="en-US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988B28-D1F8-A469-0945-DB4887073C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10363200" cy="4297680"/>
              </a:xfrm>
              <a:blipFill>
                <a:blip r:embed="rId2"/>
                <a:stretch>
                  <a:fillRect l="-3672" t="-1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AF86079-22A6-E6A8-2692-C131CD9F69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29057"/>
              </p:ext>
            </p:extLst>
          </p:nvPr>
        </p:nvGraphicFramePr>
        <p:xfrm>
          <a:off x="2146300" y="4131627"/>
          <a:ext cx="8769350" cy="185420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802081">
                  <a:extLst>
                    <a:ext uri="{9D8B030D-6E8A-4147-A177-3AD203B41FA5}">
                      <a16:colId xmlns:a16="http://schemas.microsoft.com/office/drawing/2014/main" val="1770218296"/>
                    </a:ext>
                  </a:extLst>
                </a:gridCol>
                <a:gridCol w="1356509">
                  <a:extLst>
                    <a:ext uri="{9D8B030D-6E8A-4147-A177-3AD203B41FA5}">
                      <a16:colId xmlns:a16="http://schemas.microsoft.com/office/drawing/2014/main" val="1118014114"/>
                    </a:ext>
                  </a:extLst>
                </a:gridCol>
                <a:gridCol w="2096160">
                  <a:extLst>
                    <a:ext uri="{9D8B030D-6E8A-4147-A177-3AD203B41FA5}">
                      <a16:colId xmlns:a16="http://schemas.microsoft.com/office/drawing/2014/main" val="2373510166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7248591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Parameters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No. of Failures (x)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Total Sample Size (n)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3234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Desired Reliability, R</a:t>
                      </a:r>
                      <a:r>
                        <a:rPr lang="en-US" baseline="-25000" dirty="0"/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u="none" dirty="0"/>
                        <a:t>n</a:t>
                      </a:r>
                      <a:r>
                        <a:rPr lang="en-IN" u="sng" dirty="0"/>
                        <a:t>&lt;</a:t>
                      </a:r>
                      <a:r>
                        <a:rPr lang="en-IN" dirty="0"/>
                        <a:t> </a:t>
                      </a:r>
                      <a:r>
                        <a:rPr lang="en-US" dirty="0"/>
                        <a:t>22</a:t>
                      </a:r>
                      <a:endParaRPr lang="en-IN" dirty="0"/>
                    </a:p>
                    <a:p>
                      <a:r>
                        <a:rPr lang="en-IN" dirty="0"/>
                        <a:t>n≥31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1314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Min Reliability, R</a:t>
                      </a:r>
                      <a:r>
                        <a:rPr lang="en-US" baseline="-25000" dirty="0"/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8721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Producer’s Risk, </a:t>
                      </a:r>
                      <a:r>
                        <a:rPr lang="el-GR" dirty="0"/>
                        <a:t>α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dirty="0"/>
                        <a:t>n~59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049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Consumer’s Risk, </a:t>
                      </a:r>
                      <a:r>
                        <a:rPr lang="el-GR" dirty="0"/>
                        <a:t>β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48253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51522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401D5-4720-8072-2948-62B513847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ASSUMPTIONS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E2ADDC4-5CF8-67F5-0837-F2782C3239A0}"/>
              </a:ext>
            </a:extLst>
          </p:cNvPr>
          <p:cNvSpPr>
            <a:spLocks noGrp="1" noChangeArrowheads="1"/>
          </p:cNvSpPr>
          <p:nvPr>
            <p:ph sz="half" idx="15"/>
          </p:nvPr>
        </p:nvSpPr>
        <p:spPr bwMode="auto">
          <a:xfrm>
            <a:off x="666750" y="1034845"/>
            <a:ext cx="8456161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All switches are from same manufacturer/lot/batch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Test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Equipments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serviceable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Failure mechanism same at normal and accelerated stress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Samples are identical and independent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Operating conditions remain constant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Pass/fail criteria clearly defined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No external disturbances (vibrations)</a:t>
            </a:r>
          </a:p>
        </p:txBody>
      </p:sp>
    </p:spTree>
    <p:extLst>
      <p:ext uri="{BB962C8B-B14F-4D97-AF65-F5344CB8AC3E}">
        <p14:creationId xmlns:p14="http://schemas.microsoft.com/office/powerpoint/2010/main" val="766398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Pre ASCD preview Part 2 – X-Factor: Turning Potential Into Power">
            <a:extLst>
              <a:ext uri="{FF2B5EF4-FFF2-40B4-BE49-F238E27FC236}">
                <a16:creationId xmlns:a16="http://schemas.microsoft.com/office/drawing/2014/main" id="{9B0644F7-D592-75E6-3AC7-F0E19A7592F2}"/>
              </a:ext>
            </a:extLst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1" r="1681"/>
          <a:stretch>
            <a:fillRect/>
          </a:stretch>
        </p:blipFill>
        <p:spPr bwMode="auto">
          <a:xfrm>
            <a:off x="1111450" y="1078656"/>
            <a:ext cx="4006973" cy="4008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A14E3C-85B5-EB18-2E11-CE9D3947E8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147" y="1021327"/>
            <a:ext cx="3216014" cy="3216014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2045E00D-28A6-5EB6-172D-21B81E9A9A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5215" y="4478216"/>
            <a:ext cx="4477572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Test procedure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Sequential test plan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Test observations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Summary of observations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040C9B2-6AF8-F508-643C-6F7DD7E807C3}"/>
              </a:ext>
            </a:extLst>
          </p:cNvPr>
          <p:cNvGrpSpPr/>
          <p:nvPr/>
        </p:nvGrpSpPr>
        <p:grpSpPr>
          <a:xfrm>
            <a:off x="296002" y="6534973"/>
            <a:ext cx="11713201" cy="277000"/>
            <a:chOff x="296002" y="6534973"/>
            <a:chExt cx="11713201" cy="27700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D7600C7-8A09-E035-EEA6-7A02F2396D1E}"/>
                </a:ext>
              </a:extLst>
            </p:cNvPr>
            <p:cNvSpPr txBox="1"/>
            <p:nvPr/>
          </p:nvSpPr>
          <p:spPr>
            <a:xfrm>
              <a:off x="296002" y="6534974"/>
              <a:ext cx="11762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fld id="{62BF8F0A-7FDA-491C-9C11-4D6991171ECB}" type="datetime3">
                <a:rPr lang="en-US" sz="1200" smtClean="0">
                  <a:latin typeface="Cambria Math" panose="02040503050406030204" pitchFamily="18" charset="0"/>
                  <a:ea typeface="Cambria Math" panose="02040503050406030204" pitchFamily="18" charset="0"/>
                </a:rPr>
                <a:t>9 April 2026</a:t>
              </a:fld>
              <a:endParaRPr lang="en-IN" sz="12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CEFFAAA-E919-D13E-59A8-87F9052E60AB}"/>
                </a:ext>
              </a:extLst>
            </p:cNvPr>
            <p:cNvSpPr txBox="1"/>
            <p:nvPr/>
          </p:nvSpPr>
          <p:spPr>
            <a:xfrm>
              <a:off x="4841831" y="6534973"/>
              <a:ext cx="29045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Indian Institute of Technology, Kharagpur</a:t>
              </a:r>
              <a:endParaRPr lang="en-IN" sz="12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34332FE-4276-F767-DECB-6AB19FFB78E5}"/>
                </a:ext>
              </a:extLst>
            </p:cNvPr>
            <p:cNvSpPr txBox="1"/>
            <p:nvPr/>
          </p:nvSpPr>
          <p:spPr>
            <a:xfrm>
              <a:off x="11736371" y="6534973"/>
              <a:ext cx="2728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fld id="{3F36BEFA-5323-4F2A-B87A-6235DADB381C}" type="slidenum">
                <a:rPr lang="en-IN" sz="1200" smtClean="0">
                  <a:latin typeface="Cambria Math" panose="02040503050406030204" pitchFamily="18" charset="0"/>
                  <a:ea typeface="Cambria Math" panose="02040503050406030204" pitchFamily="18" charset="0"/>
                </a:rPr>
                <a:t>19</a:t>
              </a:fld>
              <a:endParaRPr lang="en-IN" sz="12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EF783C3-7B3C-F387-08CE-9B0E0AD04C42}"/>
              </a:ext>
            </a:extLst>
          </p:cNvPr>
          <p:cNvSpPr/>
          <p:nvPr/>
        </p:nvSpPr>
        <p:spPr>
          <a:xfrm>
            <a:off x="2534134" y="414150"/>
            <a:ext cx="6583680" cy="70104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/>
              <a:t>TEST PROCEDURE</a:t>
            </a:r>
            <a:endParaRPr lang="en-IN" sz="40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BBCA5D-7631-663F-0D1C-0F69CB9D37BF}"/>
              </a:ext>
            </a:extLst>
          </p:cNvPr>
          <p:cNvSpPr txBox="1"/>
          <p:nvPr/>
        </p:nvSpPr>
        <p:spPr>
          <a:xfrm>
            <a:off x="420246" y="1453495"/>
            <a:ext cx="635762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 Sequential Test Plan is selected for this analysis due to its efficiency in evaluating the system's reliability by minimizing the average sample size while maintaining statistical rigor.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The term sequential indicates that this type of test is accomplished by conducting a succession, or a sequence of runs on one or more devices.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One of the following three decisions is made after each test run,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Accept: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The device has demonstrated the reliability requirement.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Continue Testing: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The status of the device’s reliability is undetermined.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Reject: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The device has failed to demonstrate the reliability requirement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9F06970-4CAA-263C-ACCF-E5AA39B45AE5}"/>
              </a:ext>
            </a:extLst>
          </p:cNvPr>
          <p:cNvGrpSpPr/>
          <p:nvPr/>
        </p:nvGrpSpPr>
        <p:grpSpPr>
          <a:xfrm>
            <a:off x="296002" y="6534973"/>
            <a:ext cx="11713201" cy="277000"/>
            <a:chOff x="296002" y="6534973"/>
            <a:chExt cx="11713201" cy="277000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172A3AB-8075-0C53-C49A-74561DFA0295}"/>
                </a:ext>
              </a:extLst>
            </p:cNvPr>
            <p:cNvSpPr txBox="1"/>
            <p:nvPr/>
          </p:nvSpPr>
          <p:spPr>
            <a:xfrm>
              <a:off x="296002" y="6534974"/>
              <a:ext cx="11762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fld id="{62BF8F0A-7FDA-491C-9C11-4D6991171ECB}" type="datetime3">
                <a:rPr lang="en-US" sz="1200" smtClean="0">
                  <a:latin typeface="Cambria Math" panose="02040503050406030204" pitchFamily="18" charset="0"/>
                  <a:ea typeface="Cambria Math" panose="02040503050406030204" pitchFamily="18" charset="0"/>
                </a:rPr>
                <a:t>9 April 2026</a:t>
              </a:fld>
              <a:endParaRPr lang="en-IN" sz="12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4D9B58F-4753-449C-3682-ABCE0781C0B6}"/>
                </a:ext>
              </a:extLst>
            </p:cNvPr>
            <p:cNvSpPr txBox="1"/>
            <p:nvPr/>
          </p:nvSpPr>
          <p:spPr>
            <a:xfrm>
              <a:off x="4841831" y="6534973"/>
              <a:ext cx="29045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Indian Institute of Technology, Kharagpur</a:t>
              </a:r>
              <a:endParaRPr lang="en-IN" sz="12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A0A9ED4-A428-2A26-5DD7-2E9426AA13B3}"/>
                </a:ext>
              </a:extLst>
            </p:cNvPr>
            <p:cNvSpPr txBox="1"/>
            <p:nvPr/>
          </p:nvSpPr>
          <p:spPr>
            <a:xfrm>
              <a:off x="11736371" y="6534973"/>
              <a:ext cx="2728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fld id="{3F36BEFA-5323-4F2A-B87A-6235DADB381C}" type="slidenum">
                <a:rPr lang="en-IN" sz="1200" smtClean="0">
                  <a:latin typeface="Cambria Math" panose="02040503050406030204" pitchFamily="18" charset="0"/>
                  <a:ea typeface="Cambria Math" panose="02040503050406030204" pitchFamily="18" charset="0"/>
                </a:rPr>
                <a:t>20</a:t>
              </a:fld>
              <a:endParaRPr lang="en-IN" sz="12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p:pic>
        <p:nvPicPr>
          <p:cNvPr id="5124" name="Picture 4" descr="6.2.6. What is a Sequential Sampling Plan?">
            <a:extLst>
              <a:ext uri="{FF2B5EF4-FFF2-40B4-BE49-F238E27FC236}">
                <a16:creationId xmlns:a16="http://schemas.microsoft.com/office/drawing/2014/main" id="{5EF41B7E-D2F8-1289-1509-080FC0842A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2656" y="1672353"/>
            <a:ext cx="5076547" cy="3955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6137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5A1A0-7453-254B-1AA9-FC0E4E285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8999F1-D379-9B57-9B09-E88E6433D81F}"/>
              </a:ext>
            </a:extLst>
          </p:cNvPr>
          <p:cNvSpPr/>
          <p:nvPr/>
        </p:nvSpPr>
        <p:spPr>
          <a:xfrm>
            <a:off x="2804160" y="150199"/>
            <a:ext cx="6583680" cy="70104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SEQUENTIAL TEST PLAN</a:t>
            </a:r>
            <a:endParaRPr lang="en-IN" sz="28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60F0C8-93D7-90D4-DD21-417FFC368D79}"/>
              </a:ext>
            </a:extLst>
          </p:cNvPr>
          <p:cNvSpPr txBox="1"/>
          <p:nvPr/>
        </p:nvSpPr>
        <p:spPr>
          <a:xfrm>
            <a:off x="1018413" y="1043506"/>
            <a:ext cx="101551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To use the sequential testing analysis technique, four quantities need to be specified R</a:t>
            </a:r>
            <a:r>
              <a:rPr lang="en-US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, R</a:t>
            </a:r>
            <a:r>
              <a:rPr lang="en-US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L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, 𝛼 and 𝛽.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Two additional terms used here are: Q</a:t>
            </a:r>
            <a:r>
              <a:rPr lang="en-US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L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=1− R</a:t>
            </a:r>
            <a:r>
              <a:rPr lang="en-US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U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and Q</a:t>
            </a:r>
            <a:r>
              <a:rPr lang="en-US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=1− R</a:t>
            </a:r>
            <a:r>
              <a:rPr lang="en-US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L</a:t>
            </a: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544A0DC-845E-85A8-958F-2028205349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3371694"/>
              </p:ext>
            </p:extLst>
          </p:nvPr>
        </p:nvGraphicFramePr>
        <p:xfrm>
          <a:off x="1622196" y="1865198"/>
          <a:ext cx="8709580" cy="37490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422662">
                  <a:extLst>
                    <a:ext uri="{9D8B030D-6E8A-4147-A177-3AD203B41FA5}">
                      <a16:colId xmlns:a16="http://schemas.microsoft.com/office/drawing/2014/main" val="1367816230"/>
                    </a:ext>
                  </a:extLst>
                </a:gridCol>
                <a:gridCol w="7286918">
                  <a:extLst>
                    <a:ext uri="{9D8B030D-6E8A-4147-A177-3AD203B41FA5}">
                      <a16:colId xmlns:a16="http://schemas.microsoft.com/office/drawing/2014/main" val="34159016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Parameters required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282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U</a:t>
                      </a: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Design objective for the reliability level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Reliability obtained from ALT 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2785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L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Minimum acceptable reliability level to the customer.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Reliability we want to demonstrate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6850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𝛼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Producer’s risk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Risk of having equipment that has a true reliability equal to or greater than the contract’s design objective rejected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9313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𝛽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Consumer’s risk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Risk of having equipment that has a true reliability less than the minimum required gets accepted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466952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7F5BA78-5C08-31BA-A50A-553D1F30A508}"/>
                  </a:ext>
                </a:extLst>
              </p:cNvPr>
              <p:cNvSpPr txBox="1"/>
              <p:nvPr/>
            </p:nvSpPr>
            <p:spPr>
              <a:xfrm>
                <a:off x="1622196" y="5750142"/>
                <a:ext cx="838235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The consumer’s risk,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𝛽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is associated with the minimum acceptable reliability,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𝑹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𝑳</m:t>
                        </m:r>
                      </m:sub>
                    </m:sSub>
                  </m:oMath>
                </a14:m>
                <a:endParaRPr lang="en-US" b="1" dirty="0"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The producer’s risk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𝛼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is associated with the design objective reliability,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𝑹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𝑼</m:t>
                        </m:r>
                      </m:sub>
                    </m:sSub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  <a:endParaRPr lang="en-US" b="1" dirty="0"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7F5BA78-5C08-31BA-A50A-553D1F30A5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2196" y="5750142"/>
                <a:ext cx="8382359" cy="923330"/>
              </a:xfrm>
              <a:prstGeom prst="rect">
                <a:avLst/>
              </a:prstGeom>
              <a:blipFill>
                <a:blip r:embed="rId3"/>
                <a:stretch>
                  <a:fillRect l="-454" t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A91112E7-51B1-8647-1C27-60B42712B065}"/>
              </a:ext>
            </a:extLst>
          </p:cNvPr>
          <p:cNvGrpSpPr/>
          <p:nvPr/>
        </p:nvGrpSpPr>
        <p:grpSpPr>
          <a:xfrm>
            <a:off x="296002" y="6534973"/>
            <a:ext cx="11713201" cy="277000"/>
            <a:chOff x="296002" y="6534973"/>
            <a:chExt cx="11713201" cy="277000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4694F06-67A5-FD57-DD35-19EBB80F1FF9}"/>
                </a:ext>
              </a:extLst>
            </p:cNvPr>
            <p:cNvSpPr txBox="1"/>
            <p:nvPr/>
          </p:nvSpPr>
          <p:spPr>
            <a:xfrm>
              <a:off x="296002" y="6534974"/>
              <a:ext cx="11762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fld id="{62BF8F0A-7FDA-491C-9C11-4D6991171ECB}" type="datetime3">
                <a:rPr lang="en-US" sz="1200" smtClean="0">
                  <a:latin typeface="Cambria Math" panose="02040503050406030204" pitchFamily="18" charset="0"/>
                  <a:ea typeface="Cambria Math" panose="02040503050406030204" pitchFamily="18" charset="0"/>
                </a:rPr>
                <a:t>9 April 2026</a:t>
              </a:fld>
              <a:endParaRPr lang="en-IN" sz="12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9367A13-43DA-59E8-531A-15DFFAF97ECD}"/>
                </a:ext>
              </a:extLst>
            </p:cNvPr>
            <p:cNvSpPr txBox="1"/>
            <p:nvPr/>
          </p:nvSpPr>
          <p:spPr>
            <a:xfrm>
              <a:off x="4841831" y="6534973"/>
              <a:ext cx="29045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Indian Institute of Technology, Kharagpur</a:t>
              </a:r>
              <a:endParaRPr lang="en-IN" sz="12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9A83FF2-54F2-4D52-CE27-5B0A6EC422A3}"/>
                </a:ext>
              </a:extLst>
            </p:cNvPr>
            <p:cNvSpPr txBox="1"/>
            <p:nvPr/>
          </p:nvSpPr>
          <p:spPr>
            <a:xfrm>
              <a:off x="11736371" y="6534973"/>
              <a:ext cx="2728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fld id="{3F36BEFA-5323-4F2A-B87A-6235DADB381C}" type="slidenum">
                <a:rPr lang="en-IN" sz="1200" smtClean="0">
                  <a:latin typeface="Cambria Math" panose="02040503050406030204" pitchFamily="18" charset="0"/>
                  <a:ea typeface="Cambria Math" panose="02040503050406030204" pitchFamily="18" charset="0"/>
                </a:rPr>
                <a:t>21</a:t>
              </a:fld>
              <a:endParaRPr lang="en-IN" sz="12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45306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C95EB-AC4F-6EDB-50CA-BDAF7515E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78643A3-4E57-9B6C-C53D-F503BF890D6A}"/>
              </a:ext>
            </a:extLst>
          </p:cNvPr>
          <p:cNvSpPr/>
          <p:nvPr/>
        </p:nvSpPr>
        <p:spPr>
          <a:xfrm>
            <a:off x="2804159" y="150199"/>
            <a:ext cx="7452203" cy="70104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SEQUENTIAL TEST PLAN (Contd.)</a:t>
            </a:r>
            <a:endParaRPr lang="en-IN" sz="2800" b="1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61ECA79-7504-9C67-63E9-AE9411E3CF09}"/>
              </a:ext>
            </a:extLst>
          </p:cNvPr>
          <p:cNvGrpSpPr/>
          <p:nvPr/>
        </p:nvGrpSpPr>
        <p:grpSpPr>
          <a:xfrm>
            <a:off x="296002" y="6534973"/>
            <a:ext cx="11713201" cy="277000"/>
            <a:chOff x="296002" y="6534973"/>
            <a:chExt cx="11713201" cy="27700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E657F20-2583-7EF8-61E2-5B303E8A595E}"/>
                </a:ext>
              </a:extLst>
            </p:cNvPr>
            <p:cNvSpPr txBox="1"/>
            <p:nvPr/>
          </p:nvSpPr>
          <p:spPr>
            <a:xfrm>
              <a:off x="296002" y="6534974"/>
              <a:ext cx="11762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fld id="{62BF8F0A-7FDA-491C-9C11-4D6991171ECB}" type="datetime3">
                <a:rPr lang="en-US" sz="1200" smtClean="0">
                  <a:latin typeface="Cambria Math" panose="02040503050406030204" pitchFamily="18" charset="0"/>
                  <a:ea typeface="Cambria Math" panose="02040503050406030204" pitchFamily="18" charset="0"/>
                </a:rPr>
                <a:t>9 April 2026</a:t>
              </a:fld>
              <a:endParaRPr lang="en-IN" sz="12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25448BE-DCBC-7846-4F1F-F1793E01CDA9}"/>
                </a:ext>
              </a:extLst>
            </p:cNvPr>
            <p:cNvSpPr txBox="1"/>
            <p:nvPr/>
          </p:nvSpPr>
          <p:spPr>
            <a:xfrm>
              <a:off x="4841831" y="6534973"/>
              <a:ext cx="29045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Indian Institute of Technology, Kharagpur</a:t>
              </a:r>
              <a:endParaRPr lang="en-IN" sz="12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A14DAFF-28A0-2547-A7F8-7A0327607EE6}"/>
                </a:ext>
              </a:extLst>
            </p:cNvPr>
            <p:cNvSpPr txBox="1"/>
            <p:nvPr/>
          </p:nvSpPr>
          <p:spPr>
            <a:xfrm>
              <a:off x="11736371" y="6534973"/>
              <a:ext cx="2728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fld id="{3F36BEFA-5323-4F2A-B87A-6235DADB381C}" type="slidenum">
                <a:rPr lang="en-IN" sz="1200" smtClean="0">
                  <a:latin typeface="Cambria Math" panose="02040503050406030204" pitchFamily="18" charset="0"/>
                  <a:ea typeface="Cambria Math" panose="02040503050406030204" pitchFamily="18" charset="0"/>
                </a:rPr>
                <a:t>22</a:t>
              </a:fld>
              <a:endParaRPr lang="en-IN" sz="12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0974C6B4-6A9B-7458-243A-72F495D5B8F5}"/>
              </a:ext>
            </a:extLst>
          </p:cNvPr>
          <p:cNvSpPr txBox="1"/>
          <p:nvPr/>
        </p:nvSpPr>
        <p:spPr>
          <a:xfrm>
            <a:off x="789888" y="1001854"/>
            <a:ext cx="106122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The following step-by-step method may be used to construct a sequential testing plan to demonstrate that a device meets or fails to meet a specified, acceptable minimum reliability, R</a:t>
            </a:r>
            <a:r>
              <a:rPr lang="en-US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L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995500E-C7A9-47B3-86DB-93813C347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628" y="1838570"/>
            <a:ext cx="4755550" cy="41828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AEA6477-BDB9-6A95-A8E9-38E39DCD924A}"/>
                  </a:ext>
                </a:extLst>
              </p:cNvPr>
              <p:cNvSpPr txBox="1"/>
              <p:nvPr/>
            </p:nvSpPr>
            <p:spPr>
              <a:xfrm>
                <a:off x="1286992" y="1697635"/>
                <a:ext cx="6459417" cy="50954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arenR"/>
                </a:pP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Define R</a:t>
                </a:r>
                <a:r>
                  <a:rPr lang="en-US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U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R</a:t>
                </a:r>
                <a:r>
                  <a:rPr lang="en-US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</a:t>
                </a:r>
              </a:p>
              <a:p>
                <a:pPr marL="342900" indent="-342900">
                  <a:buFont typeface="+mj-lt"/>
                  <a:buAutoNum type="arabicParenR"/>
                </a:pPr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Define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𝛼 and 𝛽</a:t>
                </a:r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42900" indent="-342900">
                  <a:buFont typeface="+mj-lt"/>
                  <a:buAutoNum type="arabicParenR"/>
                </a:pP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Determine the value of the accept intercept. </a:t>
                </a:r>
              </a:p>
              <a:p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I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𝐥𝐧</m:t>
                        </m:r>
                        <m:d>
                          <m:dPr>
                            <m:ctrlPr>
                              <a:rPr lang="en-IN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1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𝛃</m:t>
                                </m:r>
                              </m:num>
                              <m:den>
                                <m:r>
                                  <a:rPr lang="en-US" b="1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− </m:t>
                                </m:r>
                                <m:r>
                                  <a:rPr lang="en-US" b="1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𝛂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US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𝐥𝐧</m:t>
                        </m:r>
                        <m:d>
                          <m:dPr>
                            <m:ctrlPr>
                              <a:rPr lang="en-IN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IN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𝐐</m:t>
                                    </m:r>
                                  </m:e>
                                  <m:sub>
                                    <m:r>
                                      <a:rPr lang="en-US" b="1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𝐔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IN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𝐐</m:t>
                                    </m:r>
                                  </m:e>
                                  <m:sub>
                                    <m:r>
                                      <a:rPr lang="en-US" b="1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𝐋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r>
                          <a:rPr lang="en-US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− </m:t>
                        </m:r>
                        <m:r>
                          <a:rPr lang="en-US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𝐥𝐧</m:t>
                        </m:r>
                        <m:d>
                          <m:dPr>
                            <m:ctrlPr>
                              <a:rPr lang="en-IN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IN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𝐑</m:t>
                                    </m:r>
                                  </m:e>
                                  <m:sub>
                                    <m:r>
                                      <a:rPr lang="en-US" b="1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𝐋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IN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𝐑</m:t>
                                    </m:r>
                                  </m:e>
                                  <m:sub>
                                    <m:r>
                                      <a:rPr lang="en-US" b="1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𝐔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den>
                    </m:f>
                  </m:oMath>
                </a14:m>
                <a:r>
                  <a:rPr lang="en-US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endParaRPr lang="en-IN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4)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Determine the value of the reject intercept.</a:t>
                </a:r>
              </a:p>
              <a:p>
                <a:r>
                  <a:rPr lang="en-IN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I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𝐥𝐧</m:t>
                        </m:r>
                        <m:d>
                          <m:dPr>
                            <m:ctrlPr>
                              <a:rPr lang="en-IN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1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− </m:t>
                                </m:r>
                                <m:r>
                                  <a:rPr lang="en-US" b="1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𝛃</m:t>
                                </m:r>
                              </m:num>
                              <m:den>
                                <m:r>
                                  <a:rPr lang="en-US" b="1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𝛂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US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𝐥𝐧</m:t>
                        </m:r>
                        <m:d>
                          <m:dPr>
                            <m:ctrlPr>
                              <a:rPr lang="en-IN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IN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𝐐</m:t>
                                    </m:r>
                                  </m:e>
                                  <m:sub>
                                    <m:r>
                                      <a:rPr lang="en-US" b="1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𝐔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IN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𝐐</m:t>
                                    </m:r>
                                  </m:e>
                                  <m:sub>
                                    <m:r>
                                      <a:rPr lang="en-US" b="1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𝐋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r>
                          <a:rPr lang="en-US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− </m:t>
                        </m:r>
                        <m:r>
                          <a:rPr lang="en-US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𝐥𝐧</m:t>
                        </m:r>
                        <m:d>
                          <m:dPr>
                            <m:ctrlPr>
                              <a:rPr lang="en-IN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IN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𝐑</m:t>
                                    </m:r>
                                  </m:e>
                                  <m:sub>
                                    <m:r>
                                      <a:rPr lang="en-US" b="1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𝐋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IN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𝐑</m:t>
                                    </m:r>
                                  </m:e>
                                  <m:sub>
                                    <m:r>
                                      <a:rPr lang="en-US" b="1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𝐔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den>
                    </m:f>
                  </m:oMath>
                </a14:m>
                <a:endParaRPr lang="en-IN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0"/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5) Determine the value of the slope of the test plan lines.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0"/>
                <a:r>
                  <a:rPr lang="en-US" dirty="0"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I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𝒍𝒏</m:t>
                        </m:r>
                        <m:d>
                          <m:dPr>
                            <m:ctrlPr>
                              <a:rPr lang="en-IN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IN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𝑼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IN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𝑳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𝒍𝒏</m:t>
                        </m:r>
                        <m:d>
                          <m:dPr>
                            <m:ctrlPr>
                              <a:rPr lang="en-IN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IN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𝑼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IN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𝑳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− 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𝒍𝒏</m:t>
                        </m:r>
                        <m:d>
                          <m:dPr>
                            <m:ctrlPr>
                              <a:rPr lang="en-IN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IN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𝑳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IN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𝑼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den>
                    </m:f>
                  </m:oMath>
                </a14:m>
                <a:r>
                  <a:rPr lang="en-US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endParaRPr lang="en-IN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0"/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6) Determine the equations for the accept line, </a:t>
                </a:r>
                <a:endParaRPr lang="en-US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0" algn="ctr"/>
                <a14:m>
                  <m:oMath xmlns:m="http://schemas.openxmlformats.org/officeDocument/2006/math">
                    <m:sSub>
                      <m:sSubPr>
                        <m:ctrlPr>
                          <a:rPr lang="en-I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𝑨𝑳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𝒇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+ 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𝑺𝑵</m:t>
                    </m:r>
                  </m:oMath>
                </a14:m>
                <a:r>
                  <a:rPr lang="en-US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0"/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7) Determine the equations for the reject line, </a:t>
                </a:r>
                <a:endParaRPr lang="en-US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𝑹𝑳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IN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+ 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𝑺𝑵</m:t>
                      </m:r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AEA6477-BDB9-6A95-A8E9-38E39DCD92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6992" y="1697635"/>
                <a:ext cx="6459417" cy="5095497"/>
              </a:xfrm>
              <a:prstGeom prst="rect">
                <a:avLst/>
              </a:prstGeom>
              <a:blipFill>
                <a:blip r:embed="rId4"/>
                <a:stretch>
                  <a:fillRect l="-755" t="-7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91149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5E35B-6651-DC67-6EAD-45655573B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BFEA24E-3F67-743B-064A-25A986824711}"/>
              </a:ext>
            </a:extLst>
          </p:cNvPr>
          <p:cNvSpPr/>
          <p:nvPr/>
        </p:nvSpPr>
        <p:spPr>
          <a:xfrm>
            <a:off x="2804159" y="150199"/>
            <a:ext cx="7452203" cy="70104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TEST OBSERVATIONS</a:t>
            </a:r>
            <a:endParaRPr lang="en-IN" sz="2800" b="1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DA869C4-5C8D-3281-B7FB-A5B407BD8DCD}"/>
              </a:ext>
            </a:extLst>
          </p:cNvPr>
          <p:cNvGrpSpPr/>
          <p:nvPr/>
        </p:nvGrpSpPr>
        <p:grpSpPr>
          <a:xfrm>
            <a:off x="296002" y="6534973"/>
            <a:ext cx="11713201" cy="277000"/>
            <a:chOff x="296002" y="6534973"/>
            <a:chExt cx="11713201" cy="27700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13D2A47-664B-434D-D641-50B859400CEE}"/>
                </a:ext>
              </a:extLst>
            </p:cNvPr>
            <p:cNvSpPr txBox="1"/>
            <p:nvPr/>
          </p:nvSpPr>
          <p:spPr>
            <a:xfrm>
              <a:off x="296002" y="6534974"/>
              <a:ext cx="11762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fld id="{62BF8F0A-7FDA-491C-9C11-4D6991171ECB}" type="datetime3">
                <a:rPr lang="en-US" sz="1200" smtClean="0">
                  <a:latin typeface="Cambria Math" panose="02040503050406030204" pitchFamily="18" charset="0"/>
                  <a:ea typeface="Cambria Math" panose="02040503050406030204" pitchFamily="18" charset="0"/>
                </a:rPr>
                <a:t>9 April 2026</a:t>
              </a:fld>
              <a:endParaRPr lang="en-IN" sz="12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0FEBC6D-62B7-033A-FFD2-EF32DC94C16D}"/>
                </a:ext>
              </a:extLst>
            </p:cNvPr>
            <p:cNvSpPr txBox="1"/>
            <p:nvPr/>
          </p:nvSpPr>
          <p:spPr>
            <a:xfrm>
              <a:off x="4841831" y="6534973"/>
              <a:ext cx="29045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Indian Institute of Technology, Kharagpur</a:t>
              </a:r>
              <a:endParaRPr lang="en-IN" sz="12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519DBF1-731A-1CDC-E2F2-C0DF34F327F9}"/>
                </a:ext>
              </a:extLst>
            </p:cNvPr>
            <p:cNvSpPr txBox="1"/>
            <p:nvPr/>
          </p:nvSpPr>
          <p:spPr>
            <a:xfrm>
              <a:off x="11736371" y="6534973"/>
              <a:ext cx="2728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fld id="{3F36BEFA-5323-4F2A-B87A-6235DADB381C}" type="slidenum">
                <a:rPr lang="en-IN" sz="1200" smtClean="0">
                  <a:latin typeface="Cambria Math" panose="02040503050406030204" pitchFamily="18" charset="0"/>
                  <a:ea typeface="Cambria Math" panose="02040503050406030204" pitchFamily="18" charset="0"/>
                </a:rPr>
                <a:t>23</a:t>
              </a:fld>
              <a:endParaRPr lang="en-IN" sz="12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D24CFCF-A74C-938E-F930-5D362BD29B71}"/>
                  </a:ext>
                </a:extLst>
              </p:cNvPr>
              <p:cNvSpPr txBox="1"/>
              <p:nvPr/>
            </p:nvSpPr>
            <p:spPr>
              <a:xfrm>
                <a:off x="1032349" y="1061027"/>
                <a:ext cx="6459417" cy="58309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R</a:t>
                </a:r>
                <a:r>
                  <a:rPr lang="en-US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U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0.99 and R</a:t>
                </a:r>
                <a:r>
                  <a:rPr lang="en-US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0.95 (consumer grade &amp; industrial grade)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Q</a:t>
                </a:r>
                <a:r>
                  <a:rPr lang="en-US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=1− 0.99 = 0.01 </a:t>
                </a:r>
                <a:r>
                  <a:rPr lang="en-US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and Q</a:t>
                </a:r>
                <a:r>
                  <a:rPr lang="en-US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U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=1− R</a:t>
                </a:r>
                <a:r>
                  <a:rPr lang="en-US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=1− 0.95 = 0.05 </a:t>
                </a:r>
                <a:endParaRPr lang="en-US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𝛼 = 0.2 and 𝛽 = 0.2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𝐥𝐧</m:t>
                        </m:r>
                        <m:d>
                          <m:dPr>
                            <m:ctrlPr>
                              <a:rPr lang="en-IN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1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𝛃</m:t>
                                </m:r>
                              </m:num>
                              <m:den>
                                <m:r>
                                  <a:rPr lang="en-US" b="1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− </m:t>
                                </m:r>
                                <m:r>
                                  <a:rPr lang="en-US" b="1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𝛂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US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𝐥𝐧</m:t>
                        </m:r>
                        <m:d>
                          <m:dPr>
                            <m:ctrlPr>
                              <a:rPr lang="en-IN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IN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𝐐</m:t>
                                    </m:r>
                                  </m:e>
                                  <m:sub>
                                    <m:r>
                                      <a:rPr lang="en-US" b="1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𝐔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IN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𝐐</m:t>
                                    </m:r>
                                  </m:e>
                                  <m:sub>
                                    <m:r>
                                      <a:rPr lang="en-US" b="1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𝐋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r>
                          <a:rPr lang="en-US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− </m:t>
                        </m:r>
                        <m:r>
                          <a:rPr lang="en-US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𝐥𝐧</m:t>
                        </m:r>
                        <m:d>
                          <m:dPr>
                            <m:ctrlPr>
                              <a:rPr lang="en-IN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IN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𝐑</m:t>
                                    </m:r>
                                  </m:e>
                                  <m:sub>
                                    <m:r>
                                      <a:rPr lang="en-US" b="1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𝐋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IN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𝐑</m:t>
                                    </m:r>
                                  </m:e>
                                  <m:sub>
                                    <m:r>
                                      <a:rPr lang="en-US" b="1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𝐔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den>
                    </m:f>
                  </m:oMath>
                </a14:m>
                <a:r>
                  <a:rPr lang="en-US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0.2</m:t>
                                </m:r>
                              </m:num>
                              <m:den>
                                <m:r>
                                  <a:rPr lang="en-US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−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0.2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0.05</m:t>
                                </m:r>
                              </m:num>
                              <m:den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0.01</m:t>
                                </m:r>
                              </m:den>
                            </m:f>
                          </m:e>
                        </m:d>
                        <m:r>
                          <a:rPr lang="en-US" b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− </m:t>
                        </m:r>
                        <m:r>
                          <m:rPr>
                            <m:sty m:val="p"/>
                          </m:rP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0.95</m:t>
                                </m:r>
                              </m:num>
                              <m:den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0.99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0.83983</a:t>
                </a:r>
                <a:r>
                  <a:rPr lang="en-IN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I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𝐥𝐧</m:t>
                        </m:r>
                        <m:d>
                          <m:dPr>
                            <m:ctrlPr>
                              <a:rPr lang="en-IN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1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− </m:t>
                                </m:r>
                                <m:r>
                                  <a:rPr lang="en-US" b="1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𝛃</m:t>
                                </m:r>
                              </m:num>
                              <m:den>
                                <m:r>
                                  <a:rPr lang="en-US" b="1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𝛂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US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𝐥𝐧</m:t>
                        </m:r>
                        <m:d>
                          <m:dPr>
                            <m:ctrlPr>
                              <a:rPr lang="en-IN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IN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𝐐</m:t>
                                    </m:r>
                                  </m:e>
                                  <m:sub>
                                    <m:r>
                                      <a:rPr lang="en-US" b="1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𝐔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IN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𝐐</m:t>
                                    </m:r>
                                  </m:e>
                                  <m:sub>
                                    <m:r>
                                      <a:rPr lang="en-US" b="1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𝐋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r>
                          <a:rPr lang="en-US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− </m:t>
                        </m:r>
                        <m:r>
                          <a:rPr lang="en-US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𝐥𝐧</m:t>
                        </m:r>
                        <m:d>
                          <m:dPr>
                            <m:ctrlPr>
                              <a:rPr lang="en-IN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IN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𝐑</m:t>
                                    </m:r>
                                  </m:e>
                                  <m:sub>
                                    <m:r>
                                      <a:rPr lang="en-US" b="1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𝐋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IN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𝐑</m:t>
                                    </m:r>
                                  </m:e>
                                  <m:sub>
                                    <m:r>
                                      <a:rPr lang="en-US" b="1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𝐔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den>
                    </m:f>
                  </m:oMath>
                </a14:m>
                <a:r>
                  <a:rPr lang="en-IN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1−0.2</m:t>
                                </m:r>
                              </m:num>
                              <m:den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0.2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0.05</m:t>
                                </m:r>
                              </m:num>
                              <m:den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0.01</m:t>
                                </m:r>
                              </m:den>
                            </m:f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− </m:t>
                        </m:r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0.95</m:t>
                                </m:r>
                              </m:num>
                              <m:den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0.99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0.83983</a:t>
                </a:r>
                <a:endParaRPr lang="en-IN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I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𝒍𝒏</m:t>
                        </m:r>
                        <m:d>
                          <m:dPr>
                            <m:ctrlPr>
                              <a:rPr lang="en-IN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IN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𝑼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IN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𝑳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𝒍𝒏</m:t>
                        </m:r>
                        <m:d>
                          <m:dPr>
                            <m:ctrlPr>
                              <a:rPr lang="en-IN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IN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𝑼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IN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𝑳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− 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𝒍𝒏</m:t>
                        </m:r>
                        <m:d>
                          <m:dPr>
                            <m:ctrlPr>
                              <a:rPr lang="en-IN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IN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𝑳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IN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𝑼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den>
                    </m:f>
                  </m:oMath>
                </a14:m>
                <a:r>
                  <a:rPr lang="en-US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0.99</m:t>
                                </m:r>
                              </m:num>
                              <m:den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95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0.05</m:t>
                                </m:r>
                              </m:num>
                              <m:den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0.01</m:t>
                                </m:r>
                              </m:den>
                            </m:f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− </m:t>
                        </m:r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0.95</m:t>
                                </m:r>
                              </m:num>
                              <m:den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0.99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0.025</a:t>
                </a:r>
                <a:endParaRPr lang="en-IN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Accept line </a:t>
                </a:r>
                <a:r>
                  <a:rPr lang="en-US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f</m:t>
                        </m:r>
                      </m:sub>
                    </m:sSub>
                    <m:r>
                      <a:rPr lang="en-US" b="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+ </m:t>
                    </m:r>
                    <m:r>
                      <m:rPr>
                        <m:sty m:val="p"/>
                      </m:rPr>
                      <a:rPr lang="en-US" b="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SN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0.83983 + 0.025 N</a:t>
                </a:r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Reject line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f</m:t>
                        </m:r>
                      </m:sub>
                    </m:sSub>
                    <m:r>
                      <a:rPr lang="en-US" b="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+ </m:t>
                    </m:r>
                    <m:r>
                      <m:rPr>
                        <m:sty m:val="p"/>
                      </m:rPr>
                      <a:rPr lang="en-US" b="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SN</m:t>
                    </m:r>
                  </m:oMath>
                </a14:m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0.83983 + 0.025 N</a:t>
                </a:r>
              </a:p>
              <a:p>
                <a:pPr>
                  <a:lnSpc>
                    <a:spcPct val="150000"/>
                  </a:lnSpc>
                </a:pPr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D24CFCF-A74C-938E-F930-5D362BD29B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349" y="1061027"/>
                <a:ext cx="6459417" cy="5830955"/>
              </a:xfrm>
              <a:prstGeom prst="rect">
                <a:avLst/>
              </a:prstGeom>
              <a:blipFill>
                <a:blip r:embed="rId3"/>
                <a:stretch>
                  <a:fillRect l="-589" r="-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217779A-F737-6CA0-2DD7-21DC3BB470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9460640"/>
              </p:ext>
            </p:extLst>
          </p:nvPr>
        </p:nvGraphicFramePr>
        <p:xfrm>
          <a:off x="7938977" y="1242006"/>
          <a:ext cx="3350182" cy="490220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473419">
                  <a:extLst>
                    <a:ext uri="{9D8B030D-6E8A-4147-A177-3AD203B41FA5}">
                      <a16:colId xmlns:a16="http://schemas.microsoft.com/office/drawing/2014/main" val="3478334907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973788545"/>
                    </a:ext>
                  </a:extLst>
                </a:gridCol>
                <a:gridCol w="1454363">
                  <a:extLst>
                    <a:ext uri="{9D8B030D-6E8A-4147-A177-3AD203B41FA5}">
                      <a16:colId xmlns:a16="http://schemas.microsoft.com/office/drawing/2014/main" val="23684979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reject line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accept line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1063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0.864817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-0.814846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7741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0.889803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-0.789861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6726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0.914788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-0.764876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3345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0.939774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-0.73989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2959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0.964759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-0.714905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217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6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0.989744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-0.689919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2895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7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1.01473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-0.664934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882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8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1.039715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-0.639948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4830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9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1.064701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-0.614963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8448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1.089686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-0.589978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906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.</a:t>
                      </a:r>
                    </a:p>
                    <a:p>
                      <a:pPr algn="ctr"/>
                      <a:r>
                        <a:rPr lang="en-IN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.</a:t>
                      </a:r>
                    </a:p>
                    <a:p>
                      <a:pPr algn="ctr"/>
                      <a:r>
                        <a:rPr lang="en-IN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.</a:t>
                      </a:r>
                    </a:p>
                    <a:p>
                      <a:pPr algn="ctr"/>
                      <a:r>
                        <a:rPr lang="en-IN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.</a:t>
                      </a:r>
                    </a:p>
                    <a:p>
                      <a:pPr algn="ctr"/>
                      <a:r>
                        <a:rPr lang="en-IN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.</a:t>
                      </a:r>
                    </a:p>
                    <a:p>
                      <a:pPr algn="ctr"/>
                      <a:r>
                        <a:rPr lang="en-IN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.</a:t>
                      </a:r>
                    </a:p>
                    <a:p>
                      <a:pPr algn="ctr"/>
                      <a:r>
                        <a:rPr lang="en-IN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897491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CD178F7F-47C4-95B0-3BB8-B2D6C017FB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560" y="83676"/>
            <a:ext cx="834085" cy="834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6250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A0F25-C867-563E-39AF-DCFCEEF7F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246FEB2-9463-D2B7-3F34-519C7B3AA04B}"/>
              </a:ext>
            </a:extLst>
          </p:cNvPr>
          <p:cNvSpPr/>
          <p:nvPr/>
        </p:nvSpPr>
        <p:spPr>
          <a:xfrm>
            <a:off x="2804159" y="150199"/>
            <a:ext cx="7452203" cy="70104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TEST OBSERVATIONS (Contd.)</a:t>
            </a:r>
            <a:endParaRPr lang="en-IN" sz="2800" b="1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B6CFFEF-EB03-2A79-FFD8-BB8E7027A2C8}"/>
              </a:ext>
            </a:extLst>
          </p:cNvPr>
          <p:cNvGrpSpPr/>
          <p:nvPr/>
        </p:nvGrpSpPr>
        <p:grpSpPr>
          <a:xfrm>
            <a:off x="296002" y="6534973"/>
            <a:ext cx="11713201" cy="277000"/>
            <a:chOff x="296002" y="6534973"/>
            <a:chExt cx="11713201" cy="27700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174CBDE-6D12-510D-AF51-458939B216B2}"/>
                </a:ext>
              </a:extLst>
            </p:cNvPr>
            <p:cNvSpPr txBox="1"/>
            <p:nvPr/>
          </p:nvSpPr>
          <p:spPr>
            <a:xfrm>
              <a:off x="296002" y="6534974"/>
              <a:ext cx="11762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fld id="{62BF8F0A-7FDA-491C-9C11-4D6991171ECB}" type="datetime3">
                <a:rPr lang="en-US" sz="1200" smtClean="0">
                  <a:latin typeface="Cambria Math" panose="02040503050406030204" pitchFamily="18" charset="0"/>
                  <a:ea typeface="Cambria Math" panose="02040503050406030204" pitchFamily="18" charset="0"/>
                </a:rPr>
                <a:t>9 April 2026</a:t>
              </a:fld>
              <a:endParaRPr lang="en-IN" sz="12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DE1D3DF-92C4-8741-3603-283516945BC9}"/>
                </a:ext>
              </a:extLst>
            </p:cNvPr>
            <p:cNvSpPr txBox="1"/>
            <p:nvPr/>
          </p:nvSpPr>
          <p:spPr>
            <a:xfrm>
              <a:off x="4841831" y="6534973"/>
              <a:ext cx="29045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Indian Institute of Technology, Kharagpur</a:t>
              </a:r>
              <a:endParaRPr lang="en-IN" sz="12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29E3989-22D1-34BB-D9C2-ABB260D8101B}"/>
                </a:ext>
              </a:extLst>
            </p:cNvPr>
            <p:cNvSpPr txBox="1"/>
            <p:nvPr/>
          </p:nvSpPr>
          <p:spPr>
            <a:xfrm>
              <a:off x="11736371" y="6534973"/>
              <a:ext cx="2728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fld id="{3F36BEFA-5323-4F2A-B87A-6235DADB381C}" type="slidenum">
                <a:rPr lang="en-IN" sz="1200" smtClean="0">
                  <a:latin typeface="Cambria Math" panose="02040503050406030204" pitchFamily="18" charset="0"/>
                  <a:ea typeface="Cambria Math" panose="02040503050406030204" pitchFamily="18" charset="0"/>
                </a:rPr>
                <a:t>24</a:t>
              </a:fld>
              <a:endParaRPr lang="en-IN" sz="12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A588398-F28C-B274-5A76-BB13208E11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642" y="46027"/>
            <a:ext cx="931873" cy="931873"/>
          </a:xfrm>
          <a:prstGeom prst="rect">
            <a:avLst/>
          </a:prstGeom>
        </p:spPr>
      </p:pic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DDC7AEF5-2E14-483D-AF40-66D23DF503B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8100116"/>
              </p:ext>
            </p:extLst>
          </p:nvPr>
        </p:nvGraphicFramePr>
        <p:xfrm>
          <a:off x="4156802" y="1029304"/>
          <a:ext cx="8057365" cy="51174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EC54BBE-B6A3-2049-3825-07658348AC12}"/>
                  </a:ext>
                </a:extLst>
              </p:cNvPr>
              <p:cNvSpPr txBox="1"/>
              <p:nvPr/>
            </p:nvSpPr>
            <p:spPr>
              <a:xfrm>
                <a:off x="500989" y="1911331"/>
                <a:ext cx="3873531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 number of trials for an  accept decision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f</m:t>
                        </m:r>
                      </m:sub>
                    </m:sSub>
                    <m: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=0)</m:t>
                    </m:r>
                  </m:oMath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f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+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SN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0 =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0.83983 + 0.025 N</a:t>
                </a:r>
              </a:p>
              <a:p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US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N = 34 samples</a:t>
                </a:r>
              </a:p>
              <a:p>
                <a:r>
                  <a:rPr lang="en-US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  = (6, 6, 6, 6, 6, 4)</a:t>
                </a:r>
                <a:endParaRPr lang="en-IN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Testing cycles for reliability demonstration (T) </a:t>
                </a:r>
              </a:p>
              <a:p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=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Electrical life / AF </a:t>
                </a:r>
              </a:p>
              <a:p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= 30,000 / 11.18 </a:t>
                </a:r>
              </a:p>
              <a:p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= 2683 cycles</a:t>
                </a:r>
              </a:p>
              <a:p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≈ 2700 cycles</a:t>
                </a:r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EC54BBE-B6A3-2049-3825-07658348AC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989" y="1911331"/>
                <a:ext cx="3873531" cy="3970318"/>
              </a:xfrm>
              <a:prstGeom prst="rect">
                <a:avLst/>
              </a:prstGeom>
              <a:blipFill>
                <a:blip r:embed="rId5"/>
                <a:stretch>
                  <a:fillRect l="-980" t="-6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81669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26805-D5B5-2C85-7C5A-7576656CF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3E0E8B2-C682-DFD2-D5EF-3E9A2BF149DD}"/>
              </a:ext>
            </a:extLst>
          </p:cNvPr>
          <p:cNvSpPr/>
          <p:nvPr/>
        </p:nvSpPr>
        <p:spPr>
          <a:xfrm>
            <a:off x="2824479" y="249338"/>
            <a:ext cx="7452203" cy="70104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TEST OBSERVATIONS (Contd.)</a:t>
            </a:r>
            <a:endParaRPr lang="en-IN" sz="2800" b="1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6975667-A6FC-FEE7-4ACA-4A9982DEA738}"/>
              </a:ext>
            </a:extLst>
          </p:cNvPr>
          <p:cNvGrpSpPr/>
          <p:nvPr/>
        </p:nvGrpSpPr>
        <p:grpSpPr>
          <a:xfrm>
            <a:off x="296002" y="6534973"/>
            <a:ext cx="11713201" cy="277000"/>
            <a:chOff x="296002" y="6534973"/>
            <a:chExt cx="11713201" cy="27700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FE053AD-9887-98A9-32CE-AF50A76DD287}"/>
                </a:ext>
              </a:extLst>
            </p:cNvPr>
            <p:cNvSpPr txBox="1"/>
            <p:nvPr/>
          </p:nvSpPr>
          <p:spPr>
            <a:xfrm>
              <a:off x="296002" y="6534974"/>
              <a:ext cx="11762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fld id="{62BF8F0A-7FDA-491C-9C11-4D6991171ECB}" type="datetime3">
                <a:rPr lang="en-US" sz="1200" smtClean="0">
                  <a:latin typeface="Cambria Math" panose="02040503050406030204" pitchFamily="18" charset="0"/>
                  <a:ea typeface="Cambria Math" panose="02040503050406030204" pitchFamily="18" charset="0"/>
                </a:rPr>
                <a:t>9 April 2026</a:t>
              </a:fld>
              <a:endParaRPr lang="en-IN" sz="12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C86429-2FD0-CA69-B637-11FD0E8C08F1}"/>
                </a:ext>
              </a:extLst>
            </p:cNvPr>
            <p:cNvSpPr txBox="1"/>
            <p:nvPr/>
          </p:nvSpPr>
          <p:spPr>
            <a:xfrm>
              <a:off x="4841831" y="6534973"/>
              <a:ext cx="29045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Indian Institute of Technology, Kharagpur</a:t>
              </a:r>
              <a:endParaRPr lang="en-IN" sz="12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8BA8186-B3D1-0936-391C-A18D6908CBD6}"/>
                </a:ext>
              </a:extLst>
            </p:cNvPr>
            <p:cNvSpPr txBox="1"/>
            <p:nvPr/>
          </p:nvSpPr>
          <p:spPr>
            <a:xfrm>
              <a:off x="11736371" y="6534973"/>
              <a:ext cx="2728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fld id="{3F36BEFA-5323-4F2A-B87A-6235DADB381C}" type="slidenum">
                <a:rPr lang="en-IN" sz="1200" smtClean="0">
                  <a:latin typeface="Cambria Math" panose="02040503050406030204" pitchFamily="18" charset="0"/>
                  <a:ea typeface="Cambria Math" panose="02040503050406030204" pitchFamily="18" charset="0"/>
                </a:rPr>
                <a:t>25</a:t>
              </a:fld>
              <a:endParaRPr lang="en-IN" sz="12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A1535C8-8D50-7F87-B89C-D89CBBB834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200" y="150199"/>
            <a:ext cx="899318" cy="89931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FBB5094-7B37-1161-0F30-41FB5981B2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1416522"/>
              </p:ext>
            </p:extLst>
          </p:nvPr>
        </p:nvGraphicFramePr>
        <p:xfrm>
          <a:off x="1472286" y="1197595"/>
          <a:ext cx="9835794" cy="482092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528822">
                  <a:extLst>
                    <a:ext uri="{9D8B030D-6E8A-4147-A177-3AD203B41FA5}">
                      <a16:colId xmlns:a16="http://schemas.microsoft.com/office/drawing/2014/main" val="3110599265"/>
                    </a:ext>
                  </a:extLst>
                </a:gridCol>
                <a:gridCol w="1749776">
                  <a:extLst>
                    <a:ext uri="{9D8B030D-6E8A-4147-A177-3AD203B41FA5}">
                      <a16:colId xmlns:a16="http://schemas.microsoft.com/office/drawing/2014/main" val="1446937948"/>
                    </a:ext>
                  </a:extLst>
                </a:gridCol>
                <a:gridCol w="1639299">
                  <a:extLst>
                    <a:ext uri="{9D8B030D-6E8A-4147-A177-3AD203B41FA5}">
                      <a16:colId xmlns:a16="http://schemas.microsoft.com/office/drawing/2014/main" val="405632117"/>
                    </a:ext>
                  </a:extLst>
                </a:gridCol>
                <a:gridCol w="1639299">
                  <a:extLst>
                    <a:ext uri="{9D8B030D-6E8A-4147-A177-3AD203B41FA5}">
                      <a16:colId xmlns:a16="http://schemas.microsoft.com/office/drawing/2014/main" val="2952231534"/>
                    </a:ext>
                  </a:extLst>
                </a:gridCol>
                <a:gridCol w="1639299">
                  <a:extLst>
                    <a:ext uri="{9D8B030D-6E8A-4147-A177-3AD203B41FA5}">
                      <a16:colId xmlns:a16="http://schemas.microsoft.com/office/drawing/2014/main" val="858275057"/>
                    </a:ext>
                  </a:extLst>
                </a:gridCol>
                <a:gridCol w="1639299">
                  <a:extLst>
                    <a:ext uri="{9D8B030D-6E8A-4147-A177-3AD203B41FA5}">
                      <a16:colId xmlns:a16="http://schemas.microsoft.com/office/drawing/2014/main" val="22491635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Sample No.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TTF (Cycles)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Sample No.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TTF (Cycles)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Sample No.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TTF (Cycles)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1766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All push buttons operated satisfactorily </a:t>
                      </a:r>
                      <a:r>
                        <a:rPr lang="en-IN" dirty="0" err="1"/>
                        <a:t>upto</a:t>
                      </a:r>
                      <a:r>
                        <a:rPr lang="en-IN" dirty="0"/>
                        <a:t> 2700 cycles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All push buttons operated satisfactorily </a:t>
                      </a:r>
                      <a:r>
                        <a:rPr lang="en-IN" dirty="0" err="1"/>
                        <a:t>upto</a:t>
                      </a:r>
                      <a:r>
                        <a:rPr lang="en-IN" dirty="0"/>
                        <a:t> 2700 cycles</a:t>
                      </a:r>
                    </a:p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All push buttons operated satisfactorily </a:t>
                      </a:r>
                      <a:r>
                        <a:rPr lang="en-IN" dirty="0" err="1"/>
                        <a:t>upto</a:t>
                      </a:r>
                      <a:r>
                        <a:rPr lang="en-IN" dirty="0"/>
                        <a:t> 2700 cycles</a:t>
                      </a:r>
                    </a:p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6452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1944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6950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5606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398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830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1284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095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506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8675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3146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5321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97894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C363A-2D53-84C1-E523-7D6911B1F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2E53B-9F22-C0FC-CC99-777036EB0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144" y="298451"/>
            <a:ext cx="10515600" cy="1325563"/>
          </a:xfrm>
          <a:noFill/>
        </p:spPr>
        <p:txBody>
          <a:bodyPr anchor="ctr"/>
          <a:lstStyle/>
          <a:p>
            <a:pPr algn="ctr"/>
            <a:r>
              <a:rPr lang="en-US" u="sng" dirty="0"/>
              <a:t>CONCLUSION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7E68630-6089-7637-0913-CC31653F9711}"/>
              </a:ext>
            </a:extLst>
          </p:cNvPr>
          <p:cNvGrpSpPr/>
          <p:nvPr/>
        </p:nvGrpSpPr>
        <p:grpSpPr>
          <a:xfrm>
            <a:off x="296002" y="6534973"/>
            <a:ext cx="11713201" cy="277000"/>
            <a:chOff x="296002" y="6534973"/>
            <a:chExt cx="11713201" cy="27700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CBF8BBE-12DC-5EA8-9D9D-7A3E4BF3AB71}"/>
                </a:ext>
              </a:extLst>
            </p:cNvPr>
            <p:cNvSpPr txBox="1"/>
            <p:nvPr/>
          </p:nvSpPr>
          <p:spPr>
            <a:xfrm>
              <a:off x="296002" y="6534974"/>
              <a:ext cx="11762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fld id="{62BF8F0A-7FDA-491C-9C11-4D6991171ECB}" type="datetime3">
                <a:rPr lang="en-US" sz="1200" smtClean="0">
                  <a:latin typeface="Cambria Math" panose="02040503050406030204" pitchFamily="18" charset="0"/>
                  <a:ea typeface="Cambria Math" panose="02040503050406030204" pitchFamily="18" charset="0"/>
                </a:rPr>
                <a:t>9 April 2026</a:t>
              </a:fld>
              <a:endParaRPr lang="en-IN" sz="12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257ED81-41A8-210B-B633-A2FA19C3B9CD}"/>
                </a:ext>
              </a:extLst>
            </p:cNvPr>
            <p:cNvSpPr txBox="1"/>
            <p:nvPr/>
          </p:nvSpPr>
          <p:spPr>
            <a:xfrm>
              <a:off x="4841831" y="6534973"/>
              <a:ext cx="29045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Indian Institute of Technology, Kharagpur</a:t>
              </a:r>
              <a:endParaRPr lang="en-IN" sz="12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5440736-F525-F46D-6852-A59B7B11DD9D}"/>
                </a:ext>
              </a:extLst>
            </p:cNvPr>
            <p:cNvSpPr txBox="1"/>
            <p:nvPr/>
          </p:nvSpPr>
          <p:spPr>
            <a:xfrm>
              <a:off x="11736371" y="6534973"/>
              <a:ext cx="2728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fld id="{3F36BEFA-5323-4F2A-B87A-6235DADB381C}" type="slidenum">
                <a:rPr lang="en-IN" sz="1200" smtClean="0">
                  <a:latin typeface="Cambria Math" panose="02040503050406030204" pitchFamily="18" charset="0"/>
                  <a:ea typeface="Cambria Math" panose="02040503050406030204" pitchFamily="18" charset="0"/>
                </a:rPr>
                <a:t>26</a:t>
              </a:fld>
              <a:endParaRPr lang="en-IN" sz="12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BD911E7-8D2F-3663-5EE2-E122428DDB19}"/>
              </a:ext>
            </a:extLst>
          </p:cNvPr>
          <p:cNvSpPr txBox="1"/>
          <p:nvPr/>
        </p:nvSpPr>
        <p:spPr>
          <a:xfrm>
            <a:off x="685800" y="1406185"/>
            <a:ext cx="6938682" cy="4340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From the sequential testing plot, it is observed that the acceptance line intersects the trial axis at 34, </a:t>
            </a:r>
            <a:r>
              <a:rPr lang="en-US" b="1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indicating that acceptance is achieved with 0 failures up to 34 samples</a:t>
            </a:r>
            <a:r>
              <a:rPr lang="en-US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effectLst/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The absence of failures during the test till 2700 cycles indicates that the push buttons exhibit high reliability under the given operating conditions.</a:t>
            </a:r>
            <a:endParaRPr lang="en-IN" dirty="0">
              <a:effectLst/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The product satisfies the required reliability limits (RL = 0.95) within the specified producer’s and consumer’s risk levels.</a:t>
            </a:r>
            <a:endParaRPr lang="en-IN" dirty="0">
              <a:effectLst/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The sequential testing method efficiently validates reliability using a minimum number of samples, thereby reducing testing time.</a:t>
            </a:r>
            <a:endParaRPr lang="en-IN" dirty="0">
              <a:effectLst/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Hence, the push buttons are considered reliable and suitable for practical applications within the specified limits.</a:t>
            </a:r>
            <a:endParaRPr lang="en-IN" dirty="0">
              <a:effectLst/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52C431-E0CD-778D-BE88-565EDE0379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6958" y="1661155"/>
            <a:ext cx="3307085" cy="3307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8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33D22-FD8A-F27F-DB74-FD9F5CF63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49C48-CD9F-8155-9957-AD766BF2C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144" y="298451"/>
            <a:ext cx="10515600" cy="1325563"/>
          </a:xfrm>
          <a:noFill/>
        </p:spPr>
        <p:txBody>
          <a:bodyPr anchor="ctr"/>
          <a:lstStyle/>
          <a:p>
            <a:pPr algn="ctr"/>
            <a:r>
              <a:rPr lang="en-US" u="sng" dirty="0"/>
              <a:t>FINAL RELIABILITY STATEMENT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7E9F503-C962-3959-73CB-E4EE3FE72D6A}"/>
              </a:ext>
            </a:extLst>
          </p:cNvPr>
          <p:cNvGrpSpPr/>
          <p:nvPr/>
        </p:nvGrpSpPr>
        <p:grpSpPr>
          <a:xfrm>
            <a:off x="296002" y="6534973"/>
            <a:ext cx="11713201" cy="277000"/>
            <a:chOff x="296002" y="6534973"/>
            <a:chExt cx="11713201" cy="27700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248267D-C6C3-0225-4A0D-817A312AAB01}"/>
                </a:ext>
              </a:extLst>
            </p:cNvPr>
            <p:cNvSpPr txBox="1"/>
            <p:nvPr/>
          </p:nvSpPr>
          <p:spPr>
            <a:xfrm>
              <a:off x="296002" y="6534974"/>
              <a:ext cx="11762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fld id="{62BF8F0A-7FDA-491C-9C11-4D6991171ECB}" type="datetime3">
                <a:rPr lang="en-US" sz="1200" smtClean="0">
                  <a:latin typeface="Cambria Math" panose="02040503050406030204" pitchFamily="18" charset="0"/>
                  <a:ea typeface="Cambria Math" panose="02040503050406030204" pitchFamily="18" charset="0"/>
                </a:rPr>
                <a:t>9 April 2026</a:t>
              </a:fld>
              <a:endParaRPr lang="en-IN" sz="12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720D283-73DD-A922-B1BA-2E8348182BC6}"/>
                </a:ext>
              </a:extLst>
            </p:cNvPr>
            <p:cNvSpPr txBox="1"/>
            <p:nvPr/>
          </p:nvSpPr>
          <p:spPr>
            <a:xfrm>
              <a:off x="4841831" y="6534973"/>
              <a:ext cx="29045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Indian Institute of Technology, Kharagpur</a:t>
              </a:r>
              <a:endParaRPr lang="en-IN" sz="12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2209C13-C8AD-3051-EC10-06F0F9A023E2}"/>
                </a:ext>
              </a:extLst>
            </p:cNvPr>
            <p:cNvSpPr txBox="1"/>
            <p:nvPr/>
          </p:nvSpPr>
          <p:spPr>
            <a:xfrm>
              <a:off x="11736371" y="6534973"/>
              <a:ext cx="2728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fld id="{3F36BEFA-5323-4F2A-B87A-6235DADB381C}" type="slidenum">
                <a:rPr lang="en-IN" sz="1200" smtClean="0">
                  <a:latin typeface="Cambria Math" panose="02040503050406030204" pitchFamily="18" charset="0"/>
                  <a:ea typeface="Cambria Math" panose="02040503050406030204" pitchFamily="18" charset="0"/>
                </a:rPr>
                <a:t>27</a:t>
              </a:fld>
              <a:endParaRPr lang="en-IN" sz="12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0535A28-06F9-CAA0-DBAF-5A200D1C076B}"/>
              </a:ext>
            </a:extLst>
          </p:cNvPr>
          <p:cNvSpPr txBox="1"/>
          <p:nvPr/>
        </p:nvSpPr>
        <p:spPr>
          <a:xfrm>
            <a:off x="702219" y="2826846"/>
            <a:ext cx="6938682" cy="1656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24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The push button switches exhibited a min Reliability of 0.95 for 2700 cycles with Producer’s and Consumer’s Risk at 20% under stress current of 0.8A</a:t>
            </a:r>
            <a:endParaRPr lang="en-IN" sz="2400" dirty="0">
              <a:effectLst/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5D4BA9-A892-00B8-0D26-1542878469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6958" y="1661155"/>
            <a:ext cx="3307085" cy="3307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9993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B7E6F-F4A9-C143-A49C-0AFF18508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F62F1BF1-4754-32FE-83E8-E8C8CE2700A0}"/>
              </a:ext>
            </a:extLst>
          </p:cNvPr>
          <p:cNvSpPr/>
          <p:nvPr/>
        </p:nvSpPr>
        <p:spPr>
          <a:xfrm>
            <a:off x="1547827" y="499621"/>
            <a:ext cx="2449138" cy="234727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BE0AB3-6E11-811D-FC7C-555330DCAA44}"/>
              </a:ext>
            </a:extLst>
          </p:cNvPr>
          <p:cNvSpPr txBox="1"/>
          <p:nvPr/>
        </p:nvSpPr>
        <p:spPr>
          <a:xfrm>
            <a:off x="5759115" y="2588099"/>
            <a:ext cx="6144126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500" b="1" dirty="0">
                <a:solidFill>
                  <a:schemeClr val="tx2"/>
                </a:solidFill>
                <a:latin typeface="Arial Black" panose="020B0A04020102020204" pitchFamily="34" charset="0"/>
              </a:rPr>
              <a:t>THANK YOU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8C3265-E4CA-2A8C-6F73-DDCF61FE1E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6720" y="814568"/>
            <a:ext cx="1717380" cy="171738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66A8A5F2-B555-7229-59B7-6A2BD6F1661A}"/>
              </a:ext>
            </a:extLst>
          </p:cNvPr>
          <p:cNvGrpSpPr/>
          <p:nvPr/>
        </p:nvGrpSpPr>
        <p:grpSpPr>
          <a:xfrm>
            <a:off x="296002" y="6534973"/>
            <a:ext cx="11713201" cy="277000"/>
            <a:chOff x="296002" y="6534973"/>
            <a:chExt cx="11713201" cy="27700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15BCDA1-E108-1F3E-EAC3-36B8624D20B6}"/>
                </a:ext>
              </a:extLst>
            </p:cNvPr>
            <p:cNvSpPr txBox="1"/>
            <p:nvPr/>
          </p:nvSpPr>
          <p:spPr>
            <a:xfrm>
              <a:off x="296002" y="6534974"/>
              <a:ext cx="11762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fld id="{62BF8F0A-7FDA-491C-9C11-4D6991171ECB}" type="datetime3">
                <a:rPr lang="en-US" sz="1200" smtClean="0">
                  <a:latin typeface="Cambria Math" panose="02040503050406030204" pitchFamily="18" charset="0"/>
                  <a:ea typeface="Cambria Math" panose="02040503050406030204" pitchFamily="18" charset="0"/>
                </a:rPr>
                <a:t>9 April 2026</a:t>
              </a:fld>
              <a:endParaRPr lang="en-IN" sz="12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890F513-9D0A-644B-199E-1F18737215E8}"/>
                </a:ext>
              </a:extLst>
            </p:cNvPr>
            <p:cNvSpPr txBox="1"/>
            <p:nvPr/>
          </p:nvSpPr>
          <p:spPr>
            <a:xfrm>
              <a:off x="4841831" y="6534973"/>
              <a:ext cx="29045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Indian Institute of Technology, Kharagpur</a:t>
              </a:r>
              <a:endParaRPr lang="en-IN" sz="12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4E665D3-10EA-63C4-25E0-C2B8686F5879}"/>
                </a:ext>
              </a:extLst>
            </p:cNvPr>
            <p:cNvSpPr txBox="1"/>
            <p:nvPr/>
          </p:nvSpPr>
          <p:spPr>
            <a:xfrm>
              <a:off x="11736371" y="6534973"/>
              <a:ext cx="2728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fld id="{3F36BEFA-5323-4F2A-B87A-6235DADB381C}" type="slidenum">
                <a:rPr lang="en-IN" sz="1200" smtClean="0">
                  <a:latin typeface="Cambria Math" panose="02040503050406030204" pitchFamily="18" charset="0"/>
                  <a:ea typeface="Cambria Math" panose="02040503050406030204" pitchFamily="18" charset="0"/>
                </a:rPr>
                <a:t>28</a:t>
              </a:fld>
              <a:endParaRPr lang="en-IN" sz="12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361673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78504181">
      <a:dk1>
        <a:srgbClr val="000000"/>
      </a:dk1>
      <a:lt1>
        <a:srgbClr val="FFFFFF"/>
      </a:lt1>
      <a:dk2>
        <a:srgbClr val="FFF8F4"/>
      </a:dk2>
      <a:lt2>
        <a:srgbClr val="E8E8E8"/>
      </a:lt2>
      <a:accent1>
        <a:srgbClr val="EE7660"/>
      </a:accent1>
      <a:accent2>
        <a:srgbClr val="4D90EF"/>
      </a:accent2>
      <a:accent3>
        <a:srgbClr val="5B5160"/>
      </a:accent3>
      <a:accent4>
        <a:srgbClr val="2BC2B4"/>
      </a:accent4>
      <a:accent5>
        <a:srgbClr val="C097F8"/>
      </a:accent5>
      <a:accent6>
        <a:srgbClr val="FF9413"/>
      </a:accent6>
      <a:hlink>
        <a:srgbClr val="467886"/>
      </a:hlink>
      <a:folHlink>
        <a:srgbClr val="96607D"/>
      </a:folHlink>
    </a:clrScheme>
    <a:fontScheme name="Custom 49">
      <a:majorFont>
        <a:latin typeface="Tw Cen MT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04181_Win32_SL_V11" id="{D9600F65-346D-4C25-A611-673E5C44A142}" vid="{299F2556-E258-444F-A1E6-FA759CE228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E60708A-6461-4D7F-883F-7E25D731D32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130005B-6102-4F3C-A26F-485DF1BF971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2BC90B52-91C7-4BE9-8AE0-180FFFE110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Shapes presentation</Template>
  <TotalTime>986</TotalTime>
  <Words>1892</Words>
  <Application>Microsoft Macintosh PowerPoint</Application>
  <PresentationFormat>Widescreen</PresentationFormat>
  <Paragraphs>494</Paragraphs>
  <Slides>28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Aptos</vt:lpstr>
      <vt:lpstr>Arial</vt:lpstr>
      <vt:lpstr>Arial Black</vt:lpstr>
      <vt:lpstr>Avenir Next LT Pro</vt:lpstr>
      <vt:lpstr>Avenir Next LT Pro Light</vt:lpstr>
      <vt:lpstr>Calibri</vt:lpstr>
      <vt:lpstr>Cambria Math</vt:lpstr>
      <vt:lpstr>Tw Cen MT</vt:lpstr>
      <vt:lpstr>Wingdings</vt:lpstr>
      <vt:lpstr>Custom</vt:lpstr>
      <vt:lpstr>PowerPoint Presentation</vt:lpstr>
      <vt:lpstr>SCOPE</vt:lpstr>
      <vt:lpstr>PowerPoint Presentation</vt:lpstr>
      <vt:lpstr>Why Push Button Reliability is Important?</vt:lpstr>
      <vt:lpstr>OBJECTIVE</vt:lpstr>
      <vt:lpstr>KEY FACTORS IN RELIABILITY DEMONSTRATION</vt:lpstr>
      <vt:lpstr>TYPES OF PUSH BUTTONS</vt:lpstr>
      <vt:lpstr>PUSH BUTTON SPECIFICATIONS AND OPERATING CONDITIONS</vt:lpstr>
      <vt:lpstr>PowerPoint Presentation</vt:lpstr>
      <vt:lpstr>A QUICK RECAP TO RELIABILITY ENGINEERING LAB OUTPUTS</vt:lpstr>
      <vt:lpstr>FAULT TREE DIAGRAM FOR A PUSH BUTTON FAILURE</vt:lpstr>
      <vt:lpstr>TEST SETUP</vt:lpstr>
      <vt:lpstr>RESULTS FROM RT LAB - ALT</vt:lpstr>
      <vt:lpstr>RESULTS FROM RT LAB - ALT (Contd.)</vt:lpstr>
      <vt:lpstr>RELIABILITY DEMONSTRATION TESTS</vt:lpstr>
      <vt:lpstr>RELIABILITY DEMONSTRATION TESTS</vt:lpstr>
      <vt:lpstr>BINOMIAL DEMONSTRATION PLAN (COMPARISON)</vt:lpstr>
      <vt:lpstr>ASSUMPTIONS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FINAL RELIABILITY STATEMENT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Tarun Kadimi</dc:creator>
  <cp:lastModifiedBy>Aravind Manikandan</cp:lastModifiedBy>
  <cp:revision>40</cp:revision>
  <dcterms:created xsi:type="dcterms:W3CDTF">2026-03-29T12:29:46Z</dcterms:created>
  <dcterms:modified xsi:type="dcterms:W3CDTF">2026-04-09T09:29:25Z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